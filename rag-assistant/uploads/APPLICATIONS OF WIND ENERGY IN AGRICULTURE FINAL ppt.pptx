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media/image4.jpg" ContentType="image/jpg"/>
  <Override PartName="/ppt/notesSlides/notesSlide8.xml" ContentType="application/vnd.openxmlformats-officedocument.presentationml.notesSlide+xml"/>
  <Override PartName="/ppt/notesSlides/notesSlide9.xml" ContentType="application/vnd.openxmlformats-officedocument.presentationml.notesSlide+xml"/>
  <Override PartName="/ppt/media/image6.jpg" ContentType="image/jpg"/>
  <Override PartName="/ppt/notesSlides/notesSlide10.xml" ContentType="application/vnd.openxmlformats-officedocument.presentationml.notesSlide+xml"/>
  <Override PartName="/ppt/notesSlides/notesSlide1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66" r:id="rId1"/>
  </p:sldMasterIdLst>
  <p:notesMasterIdLst>
    <p:notesMasterId r:id="rId22"/>
  </p:notesMasterIdLst>
  <p:sldIdLst>
    <p:sldId id="300" r:id="rId2"/>
    <p:sldId id="301" r:id="rId3"/>
    <p:sldId id="302" r:id="rId4"/>
    <p:sldId id="303" r:id="rId5"/>
    <p:sldId id="304" r:id="rId6"/>
    <p:sldId id="305" r:id="rId7"/>
    <p:sldId id="306" r:id="rId8"/>
    <p:sldId id="307" r:id="rId9"/>
    <p:sldId id="308" r:id="rId10"/>
    <p:sldId id="309" r:id="rId11"/>
    <p:sldId id="310" r:id="rId12"/>
    <p:sldId id="311" r:id="rId13"/>
    <p:sldId id="312" r:id="rId14"/>
    <p:sldId id="313" r:id="rId15"/>
    <p:sldId id="314" r:id="rId16"/>
    <p:sldId id="315" r:id="rId17"/>
    <p:sldId id="316" r:id="rId18"/>
    <p:sldId id="317" r:id="rId19"/>
    <p:sldId id="318" r:id="rId20"/>
    <p:sldId id="319" r:id="rId21"/>
  </p:sldIdLst>
  <p:sldSz cx="9144000" cy="5143500" type="screen16x9"/>
  <p:notesSz cx="51435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7FAFECB-24AA-4931-9C67-AB430B34E5A2}" v="33" dt="2026-05-26T07:04:24.40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997" autoAdjust="0"/>
    <p:restoredTop sz="94610"/>
  </p:normalViewPr>
  <p:slideViewPr>
    <p:cSldViewPr snapToGrid="0" snapToObjects="1">
      <p:cViewPr varScale="1">
        <p:scale>
          <a:sx n="124" d="100"/>
          <a:sy n="124" d="100"/>
        </p:scale>
        <p:origin x="120" y="269"/>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556785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9993C9-BD9A-A7FE-0D66-11227F1C4DAF}"/>
              </a:ext>
            </a:extLst>
          </p:cNvPr>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endParaRPr lang="en-IN"/>
          </a:p>
        </p:txBody>
      </p:sp>
      <p:sp>
        <p:nvSpPr>
          <p:cNvPr id="3" name="Subtitle 2">
            <a:extLst>
              <a:ext uri="{FF2B5EF4-FFF2-40B4-BE49-F238E27FC236}">
                <a16:creationId xmlns:a16="http://schemas.microsoft.com/office/drawing/2014/main" id="{2B1D094A-8552-0F9E-A6D7-94483EB9D982}"/>
              </a:ext>
            </a:extLst>
          </p:cNvPr>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C51A1902-F9DA-5DE8-9E22-1CD7EF8C4F4B}"/>
              </a:ext>
            </a:extLst>
          </p:cNvPr>
          <p:cNvSpPr>
            <a:spLocks noGrp="1"/>
          </p:cNvSpPr>
          <p:nvPr>
            <p:ph type="dt" sz="half" idx="10"/>
          </p:nvPr>
        </p:nvSpPr>
        <p:spPr/>
        <p:txBody>
          <a:bodyPr/>
          <a:lstStyle/>
          <a:p>
            <a:fld id="{B61BEF0D-F0BB-DE4B-95CE-6DB70DBA9567}" type="datetimeFigureOut">
              <a:rPr lang="en-US" smtClean="0"/>
              <a:pPr/>
              <a:t>5/26/2026</a:t>
            </a:fld>
            <a:endParaRPr lang="en-US" dirty="0"/>
          </a:p>
        </p:txBody>
      </p:sp>
      <p:sp>
        <p:nvSpPr>
          <p:cNvPr id="5" name="Footer Placeholder 4">
            <a:extLst>
              <a:ext uri="{FF2B5EF4-FFF2-40B4-BE49-F238E27FC236}">
                <a16:creationId xmlns:a16="http://schemas.microsoft.com/office/drawing/2014/main" id="{653D0D85-FBA5-80FA-7F4A-1D95D37ACB10}"/>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22ACDB32-9AAB-88BB-AF5A-7C0BC39B07AE}"/>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818006381"/>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81E551-CB87-9340-E0F0-B961DCD72A7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D57E56B-390B-7713-4B88-DB3116480AA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93CC51C-75FC-69FD-8FB0-DB9290441129}"/>
              </a:ext>
            </a:extLst>
          </p:cNvPr>
          <p:cNvSpPr>
            <a:spLocks noGrp="1"/>
          </p:cNvSpPr>
          <p:nvPr>
            <p:ph type="dt" sz="half" idx="10"/>
          </p:nvPr>
        </p:nvSpPr>
        <p:spPr/>
        <p:txBody>
          <a:bodyPr/>
          <a:lstStyle/>
          <a:p>
            <a:fld id="{B61BEF0D-F0BB-DE4B-95CE-6DB70DBA9567}" type="datetimeFigureOut">
              <a:rPr lang="en-US" smtClean="0"/>
              <a:pPr/>
              <a:t>5/26/2026</a:t>
            </a:fld>
            <a:endParaRPr lang="en-US" dirty="0"/>
          </a:p>
        </p:txBody>
      </p:sp>
      <p:sp>
        <p:nvSpPr>
          <p:cNvPr id="5" name="Footer Placeholder 4">
            <a:extLst>
              <a:ext uri="{FF2B5EF4-FFF2-40B4-BE49-F238E27FC236}">
                <a16:creationId xmlns:a16="http://schemas.microsoft.com/office/drawing/2014/main" id="{0498D4F3-CA9B-5C8F-1B31-3855BD441680}"/>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A0C5C71-6B53-DE53-9B66-7BC1C949E29C}"/>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721271741"/>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C86011-7650-3F2F-F29A-1B915C0BB72A}"/>
              </a:ext>
            </a:extLst>
          </p:cNvPr>
          <p:cNvSpPr>
            <a:spLocks noGrp="1"/>
          </p:cNvSpPr>
          <p:nvPr>
            <p:ph type="title"/>
          </p:nvPr>
        </p:nvSpPr>
        <p:spPr>
          <a:xfrm>
            <a:off x="623888" y="1282304"/>
            <a:ext cx="7886700" cy="2139553"/>
          </a:xfrm>
        </p:spPr>
        <p:txBody>
          <a:bodyPr anchor="b"/>
          <a:lstStyle>
            <a:lvl1pPr>
              <a:defRPr sz="45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E20B3CEF-BA47-46F3-28BE-F2858B34D846}"/>
              </a:ext>
            </a:extLst>
          </p:cNvPr>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E52EA6F-8A6C-9364-6D26-CC8C70482C95}"/>
              </a:ext>
            </a:extLst>
          </p:cNvPr>
          <p:cNvSpPr>
            <a:spLocks noGrp="1"/>
          </p:cNvSpPr>
          <p:nvPr>
            <p:ph type="dt" sz="half" idx="10"/>
          </p:nvPr>
        </p:nvSpPr>
        <p:spPr/>
        <p:txBody>
          <a:bodyPr/>
          <a:lstStyle/>
          <a:p>
            <a:fld id="{B61BEF0D-F0BB-DE4B-95CE-6DB70DBA9567}" type="datetimeFigureOut">
              <a:rPr lang="en-US" smtClean="0"/>
              <a:pPr/>
              <a:t>5/26/2026</a:t>
            </a:fld>
            <a:endParaRPr lang="en-US" dirty="0"/>
          </a:p>
        </p:txBody>
      </p:sp>
      <p:sp>
        <p:nvSpPr>
          <p:cNvPr id="5" name="Footer Placeholder 4">
            <a:extLst>
              <a:ext uri="{FF2B5EF4-FFF2-40B4-BE49-F238E27FC236}">
                <a16:creationId xmlns:a16="http://schemas.microsoft.com/office/drawing/2014/main" id="{2E939803-DE59-760A-DE2D-BD8111F6C45D}"/>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911B4C30-BF29-CFA0-A0B3-FCFD447A3BEA}"/>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744787463"/>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F05219-A030-7603-268C-F927175C175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FA82C90-CC63-F093-A0A3-093FFD960951}"/>
              </a:ext>
            </a:extLst>
          </p:cNvPr>
          <p:cNvSpPr>
            <a:spLocks noGrp="1"/>
          </p:cNvSpPr>
          <p:nvPr>
            <p:ph sz="half" idx="1"/>
          </p:nvPr>
        </p:nvSpPr>
        <p:spPr>
          <a:xfrm>
            <a:off x="6286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D563C701-00D9-6076-2057-5A2020B79867}"/>
              </a:ext>
            </a:extLst>
          </p:cNvPr>
          <p:cNvSpPr>
            <a:spLocks noGrp="1"/>
          </p:cNvSpPr>
          <p:nvPr>
            <p:ph sz="half" idx="2"/>
          </p:nvPr>
        </p:nvSpPr>
        <p:spPr>
          <a:xfrm>
            <a:off x="46291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75CA8B5F-9D6D-8A2C-8267-1A5E814A40A8}"/>
              </a:ext>
            </a:extLst>
          </p:cNvPr>
          <p:cNvSpPr>
            <a:spLocks noGrp="1"/>
          </p:cNvSpPr>
          <p:nvPr>
            <p:ph type="dt" sz="half" idx="10"/>
          </p:nvPr>
        </p:nvSpPr>
        <p:spPr/>
        <p:txBody>
          <a:bodyPr/>
          <a:lstStyle/>
          <a:p>
            <a:fld id="{EB712588-04B1-427B-82EE-E8DB90309F08}" type="datetimeFigureOut">
              <a:rPr lang="en-US" smtClean="0"/>
              <a:t>5/26/2026</a:t>
            </a:fld>
            <a:endParaRPr lang="en-US" dirty="0"/>
          </a:p>
        </p:txBody>
      </p:sp>
      <p:sp>
        <p:nvSpPr>
          <p:cNvPr id="6" name="Footer Placeholder 5">
            <a:extLst>
              <a:ext uri="{FF2B5EF4-FFF2-40B4-BE49-F238E27FC236}">
                <a16:creationId xmlns:a16="http://schemas.microsoft.com/office/drawing/2014/main" id="{F70BD8F3-CD00-5D37-2AD9-A4800ED6A3C4}"/>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8FBB46E9-6799-E1D5-2E1F-6F33A3B0C168}"/>
              </a:ext>
            </a:extLst>
          </p:cNvPr>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1065447976"/>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09E4CC-CB5B-35F7-93DF-C92F7267796A}"/>
              </a:ext>
            </a:extLst>
          </p:cNvPr>
          <p:cNvSpPr>
            <a:spLocks noGrp="1"/>
          </p:cNvSpPr>
          <p:nvPr>
            <p:ph type="title"/>
          </p:nvPr>
        </p:nvSpPr>
        <p:spPr>
          <a:xfrm>
            <a:off x="629841" y="273844"/>
            <a:ext cx="7886700" cy="994172"/>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A2B2FF5-AB80-0FD5-C0F6-A28829E31724}"/>
              </a:ext>
            </a:extLst>
          </p:cNvPr>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3E4789C1-7CB4-CF5C-D81E-3E7D9CC0B663}"/>
              </a:ext>
            </a:extLst>
          </p:cNvPr>
          <p:cNvSpPr>
            <a:spLocks noGrp="1"/>
          </p:cNvSpPr>
          <p:nvPr>
            <p:ph sz="half" idx="2"/>
          </p:nvPr>
        </p:nvSpPr>
        <p:spPr>
          <a:xfrm>
            <a:off x="629842" y="1878806"/>
            <a:ext cx="3868340"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CE2F3CE3-BAEF-AC3C-26CC-408BD9DC3592}"/>
              </a:ext>
            </a:extLst>
          </p:cNvPr>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71D95EC3-42B2-5F3A-5035-F10AF3132281}"/>
              </a:ext>
            </a:extLst>
          </p:cNvPr>
          <p:cNvSpPr>
            <a:spLocks noGrp="1"/>
          </p:cNvSpPr>
          <p:nvPr>
            <p:ph sz="quarter" idx="4"/>
          </p:nvPr>
        </p:nvSpPr>
        <p:spPr>
          <a:xfrm>
            <a:off x="4629150" y="1878806"/>
            <a:ext cx="3887391"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E87E5F09-DD80-4DA6-4E5F-D964FD8B0D60}"/>
              </a:ext>
            </a:extLst>
          </p:cNvPr>
          <p:cNvSpPr>
            <a:spLocks noGrp="1"/>
          </p:cNvSpPr>
          <p:nvPr>
            <p:ph type="dt" sz="half" idx="10"/>
          </p:nvPr>
        </p:nvSpPr>
        <p:spPr/>
        <p:txBody>
          <a:bodyPr/>
          <a:lstStyle/>
          <a:p>
            <a:fld id="{B61BEF0D-F0BB-DE4B-95CE-6DB70DBA9567}" type="datetimeFigureOut">
              <a:rPr lang="en-US" smtClean="0"/>
              <a:pPr/>
              <a:t>5/26/2026</a:t>
            </a:fld>
            <a:endParaRPr lang="en-US" dirty="0"/>
          </a:p>
        </p:txBody>
      </p:sp>
      <p:sp>
        <p:nvSpPr>
          <p:cNvPr id="8" name="Footer Placeholder 7">
            <a:extLst>
              <a:ext uri="{FF2B5EF4-FFF2-40B4-BE49-F238E27FC236}">
                <a16:creationId xmlns:a16="http://schemas.microsoft.com/office/drawing/2014/main" id="{9BDB530E-776E-77F6-015E-4DD409B2A1DB}"/>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2AA86A99-BB9D-A50B-A0B6-C3368940C416}"/>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6461827"/>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8B341A-E67D-72FD-21FF-64BEC4B36DA5}"/>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919A9152-4F3A-A956-553C-2BF698AF35C2}"/>
              </a:ext>
            </a:extLst>
          </p:cNvPr>
          <p:cNvSpPr>
            <a:spLocks noGrp="1"/>
          </p:cNvSpPr>
          <p:nvPr>
            <p:ph type="dt" sz="half" idx="10"/>
          </p:nvPr>
        </p:nvSpPr>
        <p:spPr/>
        <p:txBody>
          <a:bodyPr/>
          <a:lstStyle/>
          <a:p>
            <a:fld id="{B61BEF0D-F0BB-DE4B-95CE-6DB70DBA9567}" type="datetimeFigureOut">
              <a:rPr lang="en-US" smtClean="0"/>
              <a:pPr/>
              <a:t>5/26/2026</a:t>
            </a:fld>
            <a:endParaRPr lang="en-US" dirty="0"/>
          </a:p>
        </p:txBody>
      </p:sp>
      <p:sp>
        <p:nvSpPr>
          <p:cNvPr id="4" name="Footer Placeholder 3">
            <a:extLst>
              <a:ext uri="{FF2B5EF4-FFF2-40B4-BE49-F238E27FC236}">
                <a16:creationId xmlns:a16="http://schemas.microsoft.com/office/drawing/2014/main" id="{F15D8D75-5F36-FC2D-BA8E-54DE0479DD68}"/>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66036205-6AC4-CA47-267F-236E8BCB0BF0}"/>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46376810"/>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8D0B74D-31EE-2E3A-7C51-789483981047}"/>
              </a:ext>
            </a:extLst>
          </p:cNvPr>
          <p:cNvSpPr>
            <a:spLocks noGrp="1"/>
          </p:cNvSpPr>
          <p:nvPr>
            <p:ph type="dt" sz="half" idx="10"/>
          </p:nvPr>
        </p:nvSpPr>
        <p:spPr/>
        <p:txBody>
          <a:bodyPr/>
          <a:lstStyle/>
          <a:p>
            <a:fld id="{B61BEF0D-F0BB-DE4B-95CE-6DB70DBA9567}" type="datetimeFigureOut">
              <a:rPr lang="en-US" smtClean="0"/>
              <a:pPr/>
              <a:t>5/26/2026</a:t>
            </a:fld>
            <a:endParaRPr lang="en-US" dirty="0"/>
          </a:p>
        </p:txBody>
      </p:sp>
      <p:sp>
        <p:nvSpPr>
          <p:cNvPr id="3" name="Footer Placeholder 2">
            <a:extLst>
              <a:ext uri="{FF2B5EF4-FFF2-40B4-BE49-F238E27FC236}">
                <a16:creationId xmlns:a16="http://schemas.microsoft.com/office/drawing/2014/main" id="{066C8D56-0DB2-0BDF-084C-11B31EB60A97}"/>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EF3F5C1A-8231-A617-BBD0-ECCE64047C24}"/>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599865997"/>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A015EE-51FF-6AD9-1CC3-691E21E67421}"/>
              </a:ext>
            </a:extLst>
          </p:cNvPr>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67530CBC-C9C3-55FB-249C-C1B0D95DED06}"/>
              </a:ext>
            </a:extLst>
          </p:cNvPr>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2157FDE6-1FEB-D263-A136-0AA9DBCBB10D}"/>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38FB9678-83E3-0020-373D-1E1AAA793714}"/>
              </a:ext>
            </a:extLst>
          </p:cNvPr>
          <p:cNvSpPr>
            <a:spLocks noGrp="1"/>
          </p:cNvSpPr>
          <p:nvPr>
            <p:ph type="dt" sz="half" idx="10"/>
          </p:nvPr>
        </p:nvSpPr>
        <p:spPr/>
        <p:txBody>
          <a:bodyPr/>
          <a:lstStyle/>
          <a:p>
            <a:fld id="{42A54C80-263E-416B-A8E0-580EDEADCBDC}" type="datetimeFigureOut">
              <a:rPr lang="en-US" smtClean="0"/>
              <a:t>5/26/2026</a:t>
            </a:fld>
            <a:endParaRPr lang="en-US" dirty="0"/>
          </a:p>
        </p:txBody>
      </p:sp>
      <p:sp>
        <p:nvSpPr>
          <p:cNvPr id="6" name="Footer Placeholder 5">
            <a:extLst>
              <a:ext uri="{FF2B5EF4-FFF2-40B4-BE49-F238E27FC236}">
                <a16:creationId xmlns:a16="http://schemas.microsoft.com/office/drawing/2014/main" id="{45FC5B98-B7DA-1F96-7C5B-93FCBC27B99D}"/>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8F398567-3EC7-EEF1-1B38-FC9FAC6FB9CB}"/>
              </a:ext>
            </a:extLst>
          </p:cNvPr>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3513440849"/>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67684A-C7F8-6826-0E42-F4BC9222A653}"/>
              </a:ext>
            </a:extLst>
          </p:cNvPr>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2B374EA6-F0C3-C054-634C-76B81031EF6D}"/>
              </a:ext>
            </a:extLst>
          </p:cNvPr>
          <p:cNvSpPr>
            <a:spLocks noGrp="1"/>
          </p:cNvSpPr>
          <p:nvPr>
            <p:ph type="pic" idx="1"/>
          </p:nvPr>
        </p:nvSpPr>
        <p:spPr>
          <a:xfrm>
            <a:off x="3887391" y="740569"/>
            <a:ext cx="4629150" cy="3655219"/>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IN"/>
          </a:p>
        </p:txBody>
      </p:sp>
      <p:sp>
        <p:nvSpPr>
          <p:cNvPr id="4" name="Text Placeholder 3">
            <a:extLst>
              <a:ext uri="{FF2B5EF4-FFF2-40B4-BE49-F238E27FC236}">
                <a16:creationId xmlns:a16="http://schemas.microsoft.com/office/drawing/2014/main" id="{C67027E2-F75C-E350-3E49-C59FAAD602B3}"/>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0FA57236-A2A3-8D33-0521-86123990BFA2}"/>
              </a:ext>
            </a:extLst>
          </p:cNvPr>
          <p:cNvSpPr>
            <a:spLocks noGrp="1"/>
          </p:cNvSpPr>
          <p:nvPr>
            <p:ph type="dt" sz="half" idx="10"/>
          </p:nvPr>
        </p:nvSpPr>
        <p:spPr/>
        <p:txBody>
          <a:bodyPr/>
          <a:lstStyle/>
          <a:p>
            <a:fld id="{B61BEF0D-F0BB-DE4B-95CE-6DB70DBA9567}" type="datetimeFigureOut">
              <a:rPr lang="en-US" smtClean="0"/>
              <a:pPr/>
              <a:t>5/26/2026</a:t>
            </a:fld>
            <a:endParaRPr lang="en-US" dirty="0"/>
          </a:p>
        </p:txBody>
      </p:sp>
      <p:sp>
        <p:nvSpPr>
          <p:cNvPr id="6" name="Footer Placeholder 5">
            <a:extLst>
              <a:ext uri="{FF2B5EF4-FFF2-40B4-BE49-F238E27FC236}">
                <a16:creationId xmlns:a16="http://schemas.microsoft.com/office/drawing/2014/main" id="{4730CB8B-DD69-6754-A87B-B73810780BCD}"/>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84B0E3C0-A024-6D5F-7C65-C35EB5C94713}"/>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366178696"/>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0BFFED-8EA5-09B3-FDD8-027EB133A315}"/>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29BF48B-0BF3-45E8-843F-79C346F5D99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320983B-4FEA-9554-A28D-AFEDE81E9C75}"/>
              </a:ext>
            </a:extLst>
          </p:cNvPr>
          <p:cNvSpPr>
            <a:spLocks noGrp="1"/>
          </p:cNvSpPr>
          <p:nvPr>
            <p:ph type="dt" sz="half" idx="10"/>
          </p:nvPr>
        </p:nvSpPr>
        <p:spPr/>
        <p:txBody>
          <a:bodyPr/>
          <a:lstStyle/>
          <a:p>
            <a:fld id="{55C6B4A9-1611-4792-9094-5F34BCA07E0B}" type="datetimeFigureOut">
              <a:rPr lang="en-US" smtClean="0"/>
              <a:t>5/26/2026</a:t>
            </a:fld>
            <a:endParaRPr lang="en-US" dirty="0"/>
          </a:p>
        </p:txBody>
      </p:sp>
      <p:sp>
        <p:nvSpPr>
          <p:cNvPr id="5" name="Footer Placeholder 4">
            <a:extLst>
              <a:ext uri="{FF2B5EF4-FFF2-40B4-BE49-F238E27FC236}">
                <a16:creationId xmlns:a16="http://schemas.microsoft.com/office/drawing/2014/main" id="{F79E83E2-8390-C376-BC69-5949BECAAF6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3AEBDDD8-E6DD-DF08-CC1F-58413652E3BD}"/>
              </a:ext>
            </a:extLst>
          </p:cNvPr>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3460859683"/>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7D574E7-DF48-1D86-3BAC-35257DEA3453}"/>
              </a:ext>
            </a:extLst>
          </p:cNvPr>
          <p:cNvSpPr>
            <a:spLocks noGrp="1"/>
          </p:cNvSpPr>
          <p:nvPr>
            <p:ph type="title" orient="vert"/>
          </p:nvPr>
        </p:nvSpPr>
        <p:spPr>
          <a:xfrm>
            <a:off x="6543675" y="273844"/>
            <a:ext cx="1971675" cy="4358879"/>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67354F2-AB68-C309-C708-3FF73E8EDD44}"/>
              </a:ext>
            </a:extLst>
          </p:cNvPr>
          <p:cNvSpPr>
            <a:spLocks noGrp="1"/>
          </p:cNvSpPr>
          <p:nvPr>
            <p:ph type="body" orient="vert" idx="1"/>
          </p:nvPr>
        </p:nvSpPr>
        <p:spPr>
          <a:xfrm>
            <a:off x="628650" y="273844"/>
            <a:ext cx="5800725" cy="435887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A352A96-41F9-BE41-3721-F0F41E67DA5F}"/>
              </a:ext>
            </a:extLst>
          </p:cNvPr>
          <p:cNvSpPr>
            <a:spLocks noGrp="1"/>
          </p:cNvSpPr>
          <p:nvPr>
            <p:ph type="dt" sz="half" idx="10"/>
          </p:nvPr>
        </p:nvSpPr>
        <p:spPr/>
        <p:txBody>
          <a:bodyPr/>
          <a:lstStyle/>
          <a:p>
            <a:fld id="{B61BEF0D-F0BB-DE4B-95CE-6DB70DBA9567}" type="datetimeFigureOut">
              <a:rPr lang="en-US" smtClean="0"/>
              <a:pPr/>
              <a:t>5/26/2026</a:t>
            </a:fld>
            <a:endParaRPr lang="en-US" dirty="0"/>
          </a:p>
        </p:txBody>
      </p:sp>
      <p:sp>
        <p:nvSpPr>
          <p:cNvPr id="5" name="Footer Placeholder 4">
            <a:extLst>
              <a:ext uri="{FF2B5EF4-FFF2-40B4-BE49-F238E27FC236}">
                <a16:creationId xmlns:a16="http://schemas.microsoft.com/office/drawing/2014/main" id="{C4DFB48A-5547-DF25-BFC6-D863A22F73FF}"/>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D7D39353-4A85-7846-CF7B-C78C90328160}"/>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43466304"/>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spTree>
      <p:nvGrpSpPr>
        <p:cNvPr id="1" name=""/>
        <p:cNvGrpSpPr/>
        <p:nvPr/>
      </p:nvGrpSpPr>
      <p:grpSpPr>
        <a:xfrm>
          <a:off x="0" y="0"/>
          <a:ext cx="0" cy="0"/>
          <a:chOff x="0" y="0"/>
          <a:chExt cx="0" cy="0"/>
        </a:xfrm>
      </p:grpSpPr>
    </p:spTree>
    <p:extLst>
      <p:ext uri="{BB962C8B-B14F-4D97-AF65-F5344CB8AC3E}">
        <p14:creationId xmlns:p14="http://schemas.microsoft.com/office/powerpoint/2010/main" val="942556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ABD7B08-F91A-AFB9-7C77-4EE22F35EE26}"/>
              </a:ext>
            </a:extLst>
          </p:cNvPr>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1D8A182-FF6C-7DDC-834B-D536F41FAF08}"/>
              </a:ext>
            </a:extLst>
          </p:cNvPr>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F4D619F-F701-A99B-6676-0D77F1B76B26}"/>
              </a:ext>
            </a:extLst>
          </p:cNvPr>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B61BEF0D-F0BB-DE4B-95CE-6DB70DBA9567}" type="datetimeFigureOut">
              <a:rPr lang="en-US" smtClean="0"/>
              <a:pPr/>
              <a:t>5/26/2026</a:t>
            </a:fld>
            <a:endParaRPr lang="en-US" dirty="0"/>
          </a:p>
        </p:txBody>
      </p:sp>
      <p:sp>
        <p:nvSpPr>
          <p:cNvPr id="5" name="Footer Placeholder 4">
            <a:extLst>
              <a:ext uri="{FF2B5EF4-FFF2-40B4-BE49-F238E27FC236}">
                <a16:creationId xmlns:a16="http://schemas.microsoft.com/office/drawing/2014/main" id="{D48A960D-8A35-1B3D-0D80-63E9DDF5292D}"/>
              </a:ext>
            </a:extLst>
          </p:cNvPr>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F3FD567C-2B9E-F069-4880-2C6421723F81}"/>
              </a:ext>
            </a:extLst>
          </p:cNvPr>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989489524"/>
      </p:ext>
    </p:extLst>
  </p:cSld>
  <p:clrMap bg1="lt1" tx1="dk1" bg2="lt2" tx2="dk2" accent1="accent1" accent2="accent2" accent3="accent3" accent4="accent4" accent5="accent5" accent6="accent6" hlink="hlink" folHlink="folHlink"/>
  <p:sldLayoutIdLst>
    <p:sldLayoutId id="2147483867" r:id="rId1"/>
    <p:sldLayoutId id="2147483868" r:id="rId2"/>
    <p:sldLayoutId id="2147483869" r:id="rId3"/>
    <p:sldLayoutId id="2147483870" r:id="rId4"/>
    <p:sldLayoutId id="2147483871" r:id="rId5"/>
    <p:sldLayoutId id="2147483872" r:id="rId6"/>
    <p:sldLayoutId id="2147483873" r:id="rId7"/>
    <p:sldLayoutId id="2147483874" r:id="rId8"/>
    <p:sldLayoutId id="2147483875" r:id="rId9"/>
    <p:sldLayoutId id="2147483876" r:id="rId10"/>
    <p:sldLayoutId id="2147483877" r:id="rId11"/>
    <p:sldLayoutId id="2147483878" r:id="rId12"/>
  </p:sldLayoutIdLst>
  <p:hf sldNum="0"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home/claude/bg_slide1.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0" y="0"/>
            <a:ext cx="5029200" cy="5143500"/>
          </a:xfrm>
          <a:prstGeom prst="rect">
            <a:avLst/>
          </a:prstGeom>
          <a:solidFill>
            <a:srgbClr val="0A1628">
              <a:alpha val="75000"/>
            </a:srgbClr>
          </a:solidFill>
          <a:ln/>
        </p:spPr>
      </p:sp>
      <p:sp>
        <p:nvSpPr>
          <p:cNvPr id="4" name="Shape 1"/>
          <p:cNvSpPr/>
          <p:nvPr/>
        </p:nvSpPr>
        <p:spPr>
          <a:xfrm>
            <a:off x="0" y="0"/>
            <a:ext cx="5029200" cy="457200"/>
          </a:xfrm>
          <a:prstGeom prst="rect">
            <a:avLst/>
          </a:prstGeom>
          <a:solidFill>
            <a:srgbClr val="FFC000"/>
          </a:solidFill>
          <a:ln/>
        </p:spPr>
      </p:sp>
      <p:sp>
        <p:nvSpPr>
          <p:cNvPr id="5" name="Text 2"/>
          <p:cNvSpPr/>
          <p:nvPr/>
        </p:nvSpPr>
        <p:spPr>
          <a:xfrm>
            <a:off x="91440" y="0"/>
            <a:ext cx="4846320" cy="457200"/>
          </a:xfrm>
          <a:prstGeom prst="rect">
            <a:avLst/>
          </a:prstGeom>
          <a:noFill/>
          <a:ln/>
        </p:spPr>
        <p:txBody>
          <a:bodyPr wrap="square" lIns="0" tIns="0" rIns="0" bIns="0" rtlCol="0" anchor="ctr"/>
          <a:lstStyle/>
          <a:p>
            <a:pPr marL="0" indent="0">
              <a:buNone/>
            </a:pPr>
            <a:r>
              <a:rPr lang="en-US" sz="1000" b="1" dirty="0">
                <a:solidFill>
                  <a:srgbClr val="0A1628"/>
                </a:solidFill>
                <a:latin typeface="Times New Roman" pitchFamily="34" charset="0"/>
                <a:ea typeface="Times New Roman" pitchFamily="34" charset="-122"/>
                <a:cs typeface="Times New Roman" pitchFamily="34" charset="-120"/>
              </a:rPr>
              <a:t>APPLICATIONS OF WIND ENERGY IN AGRICULTURE</a:t>
            </a:r>
            <a:endParaRPr lang="en-US" sz="1000" dirty="0"/>
          </a:p>
        </p:txBody>
      </p:sp>
      <p:sp>
        <p:nvSpPr>
          <p:cNvPr id="6" name="Text 3"/>
          <p:cNvSpPr/>
          <p:nvPr/>
        </p:nvSpPr>
        <p:spPr>
          <a:xfrm>
            <a:off x="274320" y="594360"/>
            <a:ext cx="4572000" cy="1554480"/>
          </a:xfrm>
          <a:prstGeom prst="rect">
            <a:avLst/>
          </a:prstGeom>
          <a:noFill/>
          <a:ln/>
        </p:spPr>
        <p:txBody>
          <a:bodyPr wrap="square" lIns="0" tIns="0" rIns="0" bIns="0" rtlCol="0" anchor="t"/>
          <a:lstStyle/>
          <a:p>
            <a:pPr marL="0" indent="0" algn="l">
              <a:buNone/>
            </a:pPr>
            <a:r>
              <a:rPr lang="en-US" sz="3600" b="1" dirty="0">
                <a:solidFill>
                  <a:srgbClr val="FFC000"/>
                </a:solidFill>
                <a:latin typeface="Times New Roman" pitchFamily="34" charset="0"/>
                <a:ea typeface="Times New Roman" pitchFamily="34" charset="-122"/>
                <a:cs typeface="Times New Roman" pitchFamily="34" charset="-120"/>
              </a:rPr>
              <a:t>Applications of Wind Energy</a:t>
            </a:r>
            <a:endParaRPr lang="en-US" sz="3600" dirty="0"/>
          </a:p>
          <a:p>
            <a:pPr marL="0" indent="0" algn="l">
              <a:buNone/>
            </a:pPr>
            <a:r>
              <a:rPr lang="en-US" sz="3600" b="1" dirty="0">
                <a:solidFill>
                  <a:srgbClr val="FFC000"/>
                </a:solidFill>
                <a:latin typeface="Times New Roman" pitchFamily="34" charset="0"/>
                <a:ea typeface="Times New Roman" pitchFamily="34" charset="-122"/>
                <a:cs typeface="Times New Roman" pitchFamily="34" charset="-120"/>
              </a:rPr>
              <a:t>in Agriculture</a:t>
            </a:r>
            <a:endParaRPr lang="en-US" sz="3600" dirty="0"/>
          </a:p>
        </p:txBody>
      </p:sp>
      <p:sp>
        <p:nvSpPr>
          <p:cNvPr id="7" name="Text 4"/>
          <p:cNvSpPr/>
          <p:nvPr/>
        </p:nvSpPr>
        <p:spPr>
          <a:xfrm>
            <a:off x="274320" y="2194560"/>
            <a:ext cx="4572000" cy="777240"/>
          </a:xfrm>
          <a:prstGeom prst="rect">
            <a:avLst/>
          </a:prstGeom>
          <a:noFill/>
          <a:ln/>
        </p:spPr>
        <p:txBody>
          <a:bodyPr wrap="square" lIns="0" tIns="0" rIns="0" bIns="0" rtlCol="0" anchor="ctr"/>
          <a:lstStyle/>
          <a:p>
            <a:pPr marL="0" indent="0" algn="l">
              <a:buNone/>
            </a:pPr>
            <a:r>
              <a:rPr lang="en-US" sz="1300" i="1" dirty="0">
                <a:solidFill>
                  <a:srgbClr val="FFFFFF"/>
                </a:solidFill>
                <a:latin typeface="Times New Roman" pitchFamily="34" charset="0"/>
                <a:ea typeface="Times New Roman" pitchFamily="34" charset="-122"/>
                <a:cs typeface="Times New Roman" pitchFamily="34" charset="-120"/>
              </a:rPr>
              <a:t>Sustainable farming using renewable wind energy</a:t>
            </a:r>
            <a:endParaRPr lang="en-US" sz="1300" dirty="0"/>
          </a:p>
          <a:p>
            <a:pPr marL="0" indent="0" algn="l">
              <a:buNone/>
            </a:pPr>
            <a:r>
              <a:rPr lang="en-US" sz="1300" i="1" dirty="0">
                <a:solidFill>
                  <a:srgbClr val="FFFFFF"/>
                </a:solidFill>
                <a:latin typeface="Times New Roman" pitchFamily="34" charset="0"/>
                <a:ea typeface="Times New Roman" pitchFamily="34" charset="-122"/>
                <a:cs typeface="Times New Roman" pitchFamily="34" charset="-120"/>
              </a:rPr>
              <a:t>for irrigation, crop monitoring and smart agriculture</a:t>
            </a:r>
            <a:endParaRPr lang="en-US" sz="1300" dirty="0"/>
          </a:p>
        </p:txBody>
      </p:sp>
      <p:sp>
        <p:nvSpPr>
          <p:cNvPr id="8" name="Shape 5"/>
          <p:cNvSpPr/>
          <p:nvPr/>
        </p:nvSpPr>
        <p:spPr>
          <a:xfrm>
            <a:off x="274320" y="3063240"/>
            <a:ext cx="4297680" cy="36576"/>
          </a:xfrm>
          <a:prstGeom prst="rect">
            <a:avLst/>
          </a:prstGeom>
          <a:solidFill>
            <a:srgbClr val="FFC000"/>
          </a:solidFill>
          <a:ln/>
        </p:spPr>
      </p:sp>
      <p:sp>
        <p:nvSpPr>
          <p:cNvPr id="9" name="Text 6"/>
          <p:cNvSpPr/>
          <p:nvPr/>
        </p:nvSpPr>
        <p:spPr>
          <a:xfrm>
            <a:off x="274320" y="3182112"/>
            <a:ext cx="2011680" cy="256032"/>
          </a:xfrm>
          <a:prstGeom prst="rect">
            <a:avLst/>
          </a:prstGeom>
          <a:noFill/>
          <a:ln/>
        </p:spPr>
        <p:txBody>
          <a:bodyPr wrap="square" lIns="0" tIns="0" rIns="0" bIns="0" rtlCol="0" anchor="ctr"/>
          <a:lstStyle/>
          <a:p>
            <a:pPr marL="0" indent="0">
              <a:buNone/>
            </a:pPr>
            <a:r>
              <a:rPr lang="en-US" sz="1000" b="1" dirty="0">
                <a:solidFill>
                  <a:srgbClr val="FFC000"/>
                </a:solidFill>
                <a:latin typeface="Times New Roman" pitchFamily="34" charset="0"/>
                <a:ea typeface="Times New Roman" pitchFamily="34" charset="-122"/>
                <a:cs typeface="Times New Roman" pitchFamily="34" charset="-120"/>
              </a:rPr>
              <a:t>NAME</a:t>
            </a:r>
            <a:endParaRPr lang="en-US" sz="1000" dirty="0"/>
          </a:p>
        </p:txBody>
      </p:sp>
      <p:sp>
        <p:nvSpPr>
          <p:cNvPr id="10" name="Text 7"/>
          <p:cNvSpPr/>
          <p:nvPr/>
        </p:nvSpPr>
        <p:spPr>
          <a:xfrm>
            <a:off x="2286000" y="3182112"/>
            <a:ext cx="1280160" cy="256032"/>
          </a:xfrm>
          <a:prstGeom prst="rect">
            <a:avLst/>
          </a:prstGeom>
          <a:noFill/>
          <a:ln/>
        </p:spPr>
        <p:txBody>
          <a:bodyPr wrap="square" lIns="0" tIns="0" rIns="0" bIns="0" rtlCol="0" anchor="ctr"/>
          <a:lstStyle/>
          <a:p>
            <a:pPr marL="0" indent="0">
              <a:buNone/>
            </a:pPr>
            <a:r>
              <a:rPr lang="en-US" sz="1000" b="1" dirty="0">
                <a:solidFill>
                  <a:srgbClr val="FFC000"/>
                </a:solidFill>
                <a:latin typeface="Times New Roman" pitchFamily="34" charset="0"/>
                <a:ea typeface="Times New Roman" pitchFamily="34" charset="-122"/>
                <a:cs typeface="Times New Roman" pitchFamily="34" charset="-120"/>
              </a:rPr>
              <a:t>REG. NO.</a:t>
            </a:r>
            <a:endParaRPr lang="en-US" sz="1000" dirty="0"/>
          </a:p>
        </p:txBody>
      </p:sp>
      <p:sp>
        <p:nvSpPr>
          <p:cNvPr id="11" name="Text 8"/>
          <p:cNvSpPr/>
          <p:nvPr/>
        </p:nvSpPr>
        <p:spPr>
          <a:xfrm>
            <a:off x="3566160" y="3182112"/>
            <a:ext cx="1097280" cy="256032"/>
          </a:xfrm>
          <a:prstGeom prst="rect">
            <a:avLst/>
          </a:prstGeom>
          <a:noFill/>
          <a:ln/>
        </p:spPr>
        <p:txBody>
          <a:bodyPr wrap="square" lIns="0" tIns="0" rIns="0" bIns="0" rtlCol="0" anchor="ctr"/>
          <a:lstStyle/>
          <a:p>
            <a:pPr marL="0" indent="0">
              <a:buNone/>
            </a:pPr>
            <a:r>
              <a:rPr lang="en-US" sz="1000" b="1" dirty="0">
                <a:solidFill>
                  <a:srgbClr val="FFC000"/>
                </a:solidFill>
                <a:latin typeface="Times New Roman" pitchFamily="34" charset="0"/>
                <a:ea typeface="Times New Roman" pitchFamily="34" charset="-122"/>
                <a:cs typeface="Times New Roman" pitchFamily="34" charset="-120"/>
              </a:rPr>
              <a:t>DEPT</a:t>
            </a:r>
            <a:endParaRPr lang="en-US" sz="1000" dirty="0"/>
          </a:p>
        </p:txBody>
      </p:sp>
      <p:sp>
        <p:nvSpPr>
          <p:cNvPr id="12" name="Text 9"/>
          <p:cNvSpPr/>
          <p:nvPr/>
        </p:nvSpPr>
        <p:spPr>
          <a:xfrm>
            <a:off x="274320" y="3474720"/>
            <a:ext cx="2011680" cy="219456"/>
          </a:xfrm>
          <a:prstGeom prst="rect">
            <a:avLst/>
          </a:prstGeom>
          <a:noFill/>
          <a:ln/>
        </p:spPr>
        <p:txBody>
          <a:bodyPr wrap="square" lIns="0" tIns="0" rIns="0" bIns="0" rtlCol="0" anchor="ctr"/>
          <a:lstStyle/>
          <a:p>
            <a:pPr marL="0" indent="0">
              <a:buNone/>
            </a:pPr>
            <a:r>
              <a:rPr lang="en-US" sz="1100" dirty="0">
                <a:solidFill>
                  <a:srgbClr val="FFFFFF"/>
                </a:solidFill>
                <a:latin typeface="Times New Roman" pitchFamily="34" charset="0"/>
                <a:ea typeface="Times New Roman" pitchFamily="34" charset="-122"/>
                <a:cs typeface="Times New Roman" pitchFamily="34" charset="-120"/>
              </a:rPr>
              <a:t>E. Raja Simman</a:t>
            </a:r>
            <a:endParaRPr lang="en-US" sz="1100" dirty="0"/>
          </a:p>
        </p:txBody>
      </p:sp>
      <p:sp>
        <p:nvSpPr>
          <p:cNvPr id="13" name="Text 10"/>
          <p:cNvSpPr/>
          <p:nvPr/>
        </p:nvSpPr>
        <p:spPr>
          <a:xfrm>
            <a:off x="2286000" y="3474720"/>
            <a:ext cx="1280160" cy="219456"/>
          </a:xfrm>
          <a:prstGeom prst="rect">
            <a:avLst/>
          </a:prstGeom>
          <a:noFill/>
          <a:ln/>
        </p:spPr>
        <p:txBody>
          <a:bodyPr wrap="square" lIns="0" tIns="0" rIns="0" bIns="0" rtlCol="0" anchor="ctr"/>
          <a:lstStyle/>
          <a:p>
            <a:pPr marL="0" indent="0">
              <a:buNone/>
            </a:pPr>
            <a:r>
              <a:rPr lang="en-US" sz="1100" dirty="0">
                <a:solidFill>
                  <a:srgbClr val="FFFFFF"/>
                </a:solidFill>
                <a:latin typeface="Times New Roman" pitchFamily="34" charset="0"/>
                <a:ea typeface="Times New Roman" pitchFamily="34" charset="-122"/>
                <a:cs typeface="Times New Roman" pitchFamily="34" charset="-120"/>
              </a:rPr>
              <a:t>9923001027</a:t>
            </a:r>
            <a:endParaRPr lang="en-US" sz="1100" dirty="0"/>
          </a:p>
        </p:txBody>
      </p:sp>
      <p:sp>
        <p:nvSpPr>
          <p:cNvPr id="14" name="Text 11"/>
          <p:cNvSpPr/>
          <p:nvPr/>
        </p:nvSpPr>
        <p:spPr>
          <a:xfrm>
            <a:off x="3566160" y="3474720"/>
            <a:ext cx="1097280" cy="219456"/>
          </a:xfrm>
          <a:prstGeom prst="rect">
            <a:avLst/>
          </a:prstGeom>
          <a:noFill/>
          <a:ln/>
        </p:spPr>
        <p:txBody>
          <a:bodyPr wrap="square" lIns="0" tIns="0" rIns="0" bIns="0" rtlCol="0" anchor="ctr"/>
          <a:lstStyle/>
          <a:p>
            <a:pPr marL="0" indent="0">
              <a:buNone/>
            </a:pPr>
            <a:r>
              <a:rPr lang="en-US" sz="1100" dirty="0">
                <a:solidFill>
                  <a:srgbClr val="FFFFFF"/>
                </a:solidFill>
                <a:latin typeface="Times New Roman" pitchFamily="34" charset="0"/>
                <a:ea typeface="Times New Roman" pitchFamily="34" charset="-122"/>
                <a:cs typeface="Times New Roman" pitchFamily="34" charset="-120"/>
              </a:rPr>
              <a:t>BIO</a:t>
            </a:r>
            <a:endParaRPr lang="en-US" sz="1100" dirty="0"/>
          </a:p>
        </p:txBody>
      </p:sp>
      <p:sp>
        <p:nvSpPr>
          <p:cNvPr id="15" name="Text 12"/>
          <p:cNvSpPr/>
          <p:nvPr/>
        </p:nvSpPr>
        <p:spPr>
          <a:xfrm>
            <a:off x="274320" y="3712464"/>
            <a:ext cx="2011680" cy="219456"/>
          </a:xfrm>
          <a:prstGeom prst="rect">
            <a:avLst/>
          </a:prstGeom>
          <a:noFill/>
          <a:ln/>
        </p:spPr>
        <p:txBody>
          <a:bodyPr wrap="square" lIns="0" tIns="0" rIns="0" bIns="0" rtlCol="0" anchor="ctr"/>
          <a:lstStyle/>
          <a:p>
            <a:pPr marL="0" indent="0">
              <a:buNone/>
            </a:pPr>
            <a:r>
              <a:rPr lang="en-US" sz="1100" dirty="0">
                <a:solidFill>
                  <a:srgbClr val="FFFFFF"/>
                </a:solidFill>
                <a:latin typeface="Times New Roman" pitchFamily="34" charset="0"/>
                <a:ea typeface="Times New Roman" pitchFamily="34" charset="-122"/>
                <a:cs typeface="Times New Roman" pitchFamily="34" charset="-120"/>
              </a:rPr>
              <a:t>G. Yaswanth</a:t>
            </a:r>
            <a:endParaRPr lang="en-US" sz="1100" dirty="0"/>
          </a:p>
        </p:txBody>
      </p:sp>
      <p:sp>
        <p:nvSpPr>
          <p:cNvPr id="16" name="Text 13"/>
          <p:cNvSpPr/>
          <p:nvPr/>
        </p:nvSpPr>
        <p:spPr>
          <a:xfrm>
            <a:off x="2286000" y="3712464"/>
            <a:ext cx="1280160" cy="219456"/>
          </a:xfrm>
          <a:prstGeom prst="rect">
            <a:avLst/>
          </a:prstGeom>
          <a:noFill/>
          <a:ln/>
        </p:spPr>
        <p:txBody>
          <a:bodyPr wrap="square" lIns="0" tIns="0" rIns="0" bIns="0" rtlCol="0" anchor="ctr"/>
          <a:lstStyle/>
          <a:p>
            <a:pPr marL="0" indent="0">
              <a:buNone/>
            </a:pPr>
            <a:r>
              <a:rPr lang="en-US" sz="1100" dirty="0">
                <a:solidFill>
                  <a:srgbClr val="FFFFFF"/>
                </a:solidFill>
                <a:latin typeface="Times New Roman" pitchFamily="34" charset="0"/>
                <a:ea typeface="Times New Roman" pitchFamily="34" charset="-122"/>
                <a:cs typeface="Times New Roman" pitchFamily="34" charset="-120"/>
              </a:rPr>
              <a:t>99230040309</a:t>
            </a:r>
            <a:endParaRPr lang="en-US" sz="1100" dirty="0"/>
          </a:p>
        </p:txBody>
      </p:sp>
      <p:sp>
        <p:nvSpPr>
          <p:cNvPr id="17" name="Text 14"/>
          <p:cNvSpPr/>
          <p:nvPr/>
        </p:nvSpPr>
        <p:spPr>
          <a:xfrm>
            <a:off x="3566160" y="3712464"/>
            <a:ext cx="1097280" cy="219456"/>
          </a:xfrm>
          <a:prstGeom prst="rect">
            <a:avLst/>
          </a:prstGeom>
          <a:noFill/>
          <a:ln/>
        </p:spPr>
        <p:txBody>
          <a:bodyPr wrap="square" lIns="0" tIns="0" rIns="0" bIns="0" rtlCol="0" anchor="ctr"/>
          <a:lstStyle/>
          <a:p>
            <a:pPr marL="0" indent="0">
              <a:buNone/>
            </a:pPr>
            <a:r>
              <a:rPr lang="en-US" sz="1100" dirty="0">
                <a:solidFill>
                  <a:srgbClr val="FFFFFF"/>
                </a:solidFill>
                <a:latin typeface="Times New Roman" pitchFamily="34" charset="0"/>
                <a:ea typeface="Times New Roman" pitchFamily="34" charset="-122"/>
                <a:cs typeface="Times New Roman" pitchFamily="34" charset="-120"/>
              </a:rPr>
              <a:t>CSE</a:t>
            </a:r>
            <a:endParaRPr lang="en-US" sz="1100" dirty="0"/>
          </a:p>
        </p:txBody>
      </p:sp>
      <p:sp>
        <p:nvSpPr>
          <p:cNvPr id="18" name="Text 15"/>
          <p:cNvSpPr/>
          <p:nvPr/>
        </p:nvSpPr>
        <p:spPr>
          <a:xfrm>
            <a:off x="274320" y="3950208"/>
            <a:ext cx="2011680" cy="219456"/>
          </a:xfrm>
          <a:prstGeom prst="rect">
            <a:avLst/>
          </a:prstGeom>
          <a:noFill/>
          <a:ln/>
        </p:spPr>
        <p:txBody>
          <a:bodyPr wrap="square" lIns="0" tIns="0" rIns="0" bIns="0" rtlCol="0" anchor="ctr"/>
          <a:lstStyle/>
          <a:p>
            <a:pPr marL="0" indent="0">
              <a:buNone/>
            </a:pPr>
            <a:r>
              <a:rPr lang="en-US" sz="1100" dirty="0">
                <a:solidFill>
                  <a:srgbClr val="FFFFFF"/>
                </a:solidFill>
                <a:latin typeface="Times New Roman" pitchFamily="34" charset="0"/>
                <a:ea typeface="Times New Roman" pitchFamily="34" charset="-122"/>
                <a:cs typeface="Times New Roman" pitchFamily="34" charset="-120"/>
              </a:rPr>
              <a:t>A. Arthi Reddy</a:t>
            </a:r>
            <a:endParaRPr lang="en-US" sz="1100" dirty="0"/>
          </a:p>
        </p:txBody>
      </p:sp>
      <p:sp>
        <p:nvSpPr>
          <p:cNvPr id="19" name="Text 16"/>
          <p:cNvSpPr/>
          <p:nvPr/>
        </p:nvSpPr>
        <p:spPr>
          <a:xfrm>
            <a:off x="2286000" y="3950208"/>
            <a:ext cx="1280160" cy="219456"/>
          </a:xfrm>
          <a:prstGeom prst="rect">
            <a:avLst/>
          </a:prstGeom>
          <a:noFill/>
          <a:ln/>
        </p:spPr>
        <p:txBody>
          <a:bodyPr wrap="square" lIns="0" tIns="0" rIns="0" bIns="0" rtlCol="0" anchor="ctr"/>
          <a:lstStyle/>
          <a:p>
            <a:pPr marL="0" indent="0">
              <a:buNone/>
            </a:pPr>
            <a:r>
              <a:rPr lang="en-US" sz="1100" dirty="0">
                <a:solidFill>
                  <a:srgbClr val="FFFFFF"/>
                </a:solidFill>
                <a:latin typeface="Times New Roman" pitchFamily="34" charset="0"/>
                <a:ea typeface="Times New Roman" pitchFamily="34" charset="-122"/>
                <a:cs typeface="Times New Roman" pitchFamily="34" charset="-120"/>
              </a:rPr>
              <a:t>9923008001</a:t>
            </a:r>
            <a:endParaRPr lang="en-US" sz="1100" dirty="0"/>
          </a:p>
        </p:txBody>
      </p:sp>
      <p:sp>
        <p:nvSpPr>
          <p:cNvPr id="20" name="Text 17"/>
          <p:cNvSpPr/>
          <p:nvPr/>
        </p:nvSpPr>
        <p:spPr>
          <a:xfrm>
            <a:off x="3566160" y="3950208"/>
            <a:ext cx="1097280" cy="219456"/>
          </a:xfrm>
          <a:prstGeom prst="rect">
            <a:avLst/>
          </a:prstGeom>
          <a:noFill/>
          <a:ln/>
        </p:spPr>
        <p:txBody>
          <a:bodyPr wrap="square" lIns="0" tIns="0" rIns="0" bIns="0" rtlCol="0" anchor="ctr"/>
          <a:lstStyle/>
          <a:p>
            <a:pPr marL="0" indent="0">
              <a:buNone/>
            </a:pPr>
            <a:r>
              <a:rPr lang="en-US" sz="1100" dirty="0">
                <a:solidFill>
                  <a:srgbClr val="FFFFFF"/>
                </a:solidFill>
                <a:latin typeface="Times New Roman" pitchFamily="34" charset="0"/>
                <a:ea typeface="Times New Roman" pitchFamily="34" charset="-122"/>
                <a:cs typeface="Times New Roman" pitchFamily="34" charset="-120"/>
              </a:rPr>
              <a:t>IT</a:t>
            </a:r>
            <a:endParaRPr lang="en-US" sz="1100" dirty="0"/>
          </a:p>
        </p:txBody>
      </p:sp>
      <p:sp>
        <p:nvSpPr>
          <p:cNvPr id="21" name="Text 18"/>
          <p:cNvSpPr/>
          <p:nvPr/>
        </p:nvSpPr>
        <p:spPr>
          <a:xfrm>
            <a:off x="274320" y="4187952"/>
            <a:ext cx="2011680" cy="219456"/>
          </a:xfrm>
          <a:prstGeom prst="rect">
            <a:avLst/>
          </a:prstGeom>
          <a:noFill/>
          <a:ln/>
        </p:spPr>
        <p:txBody>
          <a:bodyPr wrap="square" lIns="0" tIns="0" rIns="0" bIns="0" rtlCol="0" anchor="ctr"/>
          <a:lstStyle/>
          <a:p>
            <a:pPr marL="0" indent="0">
              <a:buNone/>
            </a:pPr>
            <a:r>
              <a:rPr lang="en-US" sz="1100" dirty="0">
                <a:solidFill>
                  <a:srgbClr val="FFFFFF"/>
                </a:solidFill>
                <a:latin typeface="Times New Roman" pitchFamily="34" charset="0"/>
                <a:ea typeface="Times New Roman" pitchFamily="34" charset="-122"/>
                <a:cs typeface="Times New Roman" pitchFamily="34" charset="-120"/>
              </a:rPr>
              <a:t>D.V. Charan Kumar Reddy</a:t>
            </a:r>
            <a:endParaRPr lang="en-US" sz="1100" dirty="0"/>
          </a:p>
        </p:txBody>
      </p:sp>
      <p:sp>
        <p:nvSpPr>
          <p:cNvPr id="22" name="Text 19"/>
          <p:cNvSpPr/>
          <p:nvPr/>
        </p:nvSpPr>
        <p:spPr>
          <a:xfrm>
            <a:off x="2286000" y="4187952"/>
            <a:ext cx="1280160" cy="219456"/>
          </a:xfrm>
          <a:prstGeom prst="rect">
            <a:avLst/>
          </a:prstGeom>
          <a:noFill/>
          <a:ln/>
        </p:spPr>
        <p:txBody>
          <a:bodyPr wrap="square" lIns="0" tIns="0" rIns="0" bIns="0" rtlCol="0" anchor="ctr"/>
          <a:lstStyle/>
          <a:p>
            <a:pPr marL="0" indent="0">
              <a:buNone/>
            </a:pPr>
            <a:r>
              <a:rPr lang="en-US" sz="1100" dirty="0">
                <a:solidFill>
                  <a:srgbClr val="FFFFFF"/>
                </a:solidFill>
                <a:latin typeface="Times New Roman" pitchFamily="34" charset="0"/>
                <a:ea typeface="Times New Roman" pitchFamily="34" charset="-122"/>
                <a:cs typeface="Times New Roman" pitchFamily="34" charset="-120"/>
              </a:rPr>
              <a:t>99230040296</a:t>
            </a:r>
            <a:endParaRPr lang="en-US" sz="1100" dirty="0"/>
          </a:p>
        </p:txBody>
      </p:sp>
      <p:sp>
        <p:nvSpPr>
          <p:cNvPr id="23" name="Text 20"/>
          <p:cNvSpPr/>
          <p:nvPr/>
        </p:nvSpPr>
        <p:spPr>
          <a:xfrm>
            <a:off x="3566160" y="4187952"/>
            <a:ext cx="1097280" cy="219456"/>
          </a:xfrm>
          <a:prstGeom prst="rect">
            <a:avLst/>
          </a:prstGeom>
          <a:noFill/>
          <a:ln/>
        </p:spPr>
        <p:txBody>
          <a:bodyPr wrap="square" lIns="0" tIns="0" rIns="0" bIns="0" rtlCol="0" anchor="ctr"/>
          <a:lstStyle/>
          <a:p>
            <a:pPr marL="0" indent="0">
              <a:buNone/>
            </a:pPr>
            <a:r>
              <a:rPr lang="en-US" sz="1100" dirty="0">
                <a:solidFill>
                  <a:srgbClr val="FFFFFF"/>
                </a:solidFill>
                <a:latin typeface="Times New Roman" pitchFamily="34" charset="0"/>
                <a:ea typeface="Times New Roman" pitchFamily="34" charset="-122"/>
                <a:cs typeface="Times New Roman" pitchFamily="34" charset="-120"/>
              </a:rPr>
              <a:t>CSE</a:t>
            </a:r>
            <a:endParaRPr lang="en-US" sz="1100" dirty="0"/>
          </a:p>
        </p:txBody>
      </p:sp>
      <p:sp>
        <p:nvSpPr>
          <p:cNvPr id="24" name="Text 21"/>
          <p:cNvSpPr/>
          <p:nvPr/>
        </p:nvSpPr>
        <p:spPr>
          <a:xfrm>
            <a:off x="274320" y="4425696"/>
            <a:ext cx="2011680" cy="219456"/>
          </a:xfrm>
          <a:prstGeom prst="rect">
            <a:avLst/>
          </a:prstGeom>
          <a:noFill/>
          <a:ln/>
        </p:spPr>
        <p:txBody>
          <a:bodyPr wrap="square" lIns="0" tIns="0" rIns="0" bIns="0" rtlCol="0" anchor="ctr"/>
          <a:lstStyle/>
          <a:p>
            <a:pPr marL="0" indent="0">
              <a:buNone/>
            </a:pPr>
            <a:r>
              <a:rPr lang="en-US" sz="1100" dirty="0">
                <a:solidFill>
                  <a:srgbClr val="FFFFFF"/>
                </a:solidFill>
                <a:latin typeface="Times New Roman" pitchFamily="34" charset="0"/>
                <a:ea typeface="Times New Roman" pitchFamily="34" charset="-122"/>
                <a:cs typeface="Times New Roman" pitchFamily="34" charset="-120"/>
              </a:rPr>
              <a:t>G. Sai Adarsh</a:t>
            </a:r>
            <a:endParaRPr lang="en-US" sz="1100" dirty="0"/>
          </a:p>
        </p:txBody>
      </p:sp>
      <p:sp>
        <p:nvSpPr>
          <p:cNvPr id="25" name="Text 22"/>
          <p:cNvSpPr/>
          <p:nvPr/>
        </p:nvSpPr>
        <p:spPr>
          <a:xfrm>
            <a:off x="2286000" y="4425696"/>
            <a:ext cx="1280160" cy="219456"/>
          </a:xfrm>
          <a:prstGeom prst="rect">
            <a:avLst/>
          </a:prstGeom>
          <a:noFill/>
          <a:ln/>
        </p:spPr>
        <p:txBody>
          <a:bodyPr wrap="square" lIns="0" tIns="0" rIns="0" bIns="0" rtlCol="0" anchor="ctr"/>
          <a:lstStyle/>
          <a:p>
            <a:pPr marL="0" indent="0">
              <a:buNone/>
            </a:pPr>
            <a:r>
              <a:rPr lang="en-US" sz="1100" dirty="0">
                <a:solidFill>
                  <a:srgbClr val="FFFFFF"/>
                </a:solidFill>
                <a:latin typeface="Times New Roman" pitchFamily="34" charset="0"/>
                <a:ea typeface="Times New Roman" pitchFamily="34" charset="-122"/>
                <a:cs typeface="Times New Roman" pitchFamily="34" charset="-120"/>
              </a:rPr>
              <a:t>99230040307</a:t>
            </a:r>
            <a:endParaRPr lang="en-US" sz="1100" dirty="0"/>
          </a:p>
        </p:txBody>
      </p:sp>
      <p:sp>
        <p:nvSpPr>
          <p:cNvPr id="26" name="Text 23"/>
          <p:cNvSpPr/>
          <p:nvPr/>
        </p:nvSpPr>
        <p:spPr>
          <a:xfrm>
            <a:off x="3566160" y="4425696"/>
            <a:ext cx="1097280" cy="219456"/>
          </a:xfrm>
          <a:prstGeom prst="rect">
            <a:avLst/>
          </a:prstGeom>
          <a:noFill/>
          <a:ln/>
        </p:spPr>
        <p:txBody>
          <a:bodyPr wrap="square" lIns="0" tIns="0" rIns="0" bIns="0" rtlCol="0" anchor="ctr"/>
          <a:lstStyle/>
          <a:p>
            <a:pPr marL="0" indent="0">
              <a:buNone/>
            </a:pPr>
            <a:r>
              <a:rPr lang="en-US" sz="1100" dirty="0">
                <a:solidFill>
                  <a:srgbClr val="FFFFFF"/>
                </a:solidFill>
                <a:latin typeface="Times New Roman" pitchFamily="34" charset="0"/>
                <a:ea typeface="Times New Roman" pitchFamily="34" charset="-122"/>
                <a:cs typeface="Times New Roman" pitchFamily="34" charset="-120"/>
              </a:rPr>
              <a:t>CSE</a:t>
            </a:r>
            <a:endParaRPr lang="en-US" sz="1100" dirty="0"/>
          </a:p>
        </p:txBody>
      </p:sp>
      <p:sp>
        <p:nvSpPr>
          <p:cNvPr id="27" name="Text 24"/>
          <p:cNvSpPr/>
          <p:nvPr/>
        </p:nvSpPr>
        <p:spPr>
          <a:xfrm>
            <a:off x="274320" y="4709160"/>
            <a:ext cx="3200400" cy="365760"/>
          </a:xfrm>
          <a:prstGeom prst="rect">
            <a:avLst/>
          </a:prstGeom>
          <a:noFill/>
          <a:ln/>
        </p:spPr>
        <p:txBody>
          <a:bodyPr wrap="square" lIns="0" tIns="0" rIns="0" bIns="0" rtlCol="0" anchor="ctr"/>
          <a:lstStyle/>
          <a:p>
            <a:pPr marL="0" indent="0">
              <a:buNone/>
            </a:pPr>
            <a:r>
              <a:rPr lang="en-US" sz="1200" b="1" dirty="0">
                <a:solidFill>
                  <a:srgbClr val="FFC000"/>
                </a:solidFill>
                <a:latin typeface="Times New Roman" pitchFamily="34" charset="0"/>
                <a:ea typeface="Times New Roman" pitchFamily="34" charset="-122"/>
                <a:cs typeface="Times New Roman" pitchFamily="34" charset="-120"/>
              </a:rPr>
              <a:t>Guided by</a:t>
            </a:r>
            <a:endParaRPr lang="en-US" sz="1200" dirty="0"/>
          </a:p>
          <a:p>
            <a:pPr marL="0" indent="0">
              <a:buNone/>
            </a:pPr>
            <a:r>
              <a:rPr lang="en-US" sz="1200" b="1" dirty="0">
                <a:solidFill>
                  <a:srgbClr val="FFC000"/>
                </a:solidFill>
                <a:latin typeface="Times New Roman" pitchFamily="34" charset="0"/>
                <a:ea typeface="Times New Roman" pitchFamily="34" charset="-122"/>
                <a:cs typeface="Times New Roman" pitchFamily="34" charset="-120"/>
              </a:rPr>
              <a:t>Dr. A. Ramkumar</a:t>
            </a:r>
            <a:endParaRPr lang="en-US" sz="1200" dirty="0"/>
          </a:p>
        </p:txBody>
      </p:sp>
      <p:sp>
        <p:nvSpPr>
          <p:cNvPr id="28" name="SlideNum"/>
          <p:cNvSpPr/>
          <p:nvPr/>
        </p:nvSpPr>
        <p:spPr>
          <a:xfrm>
            <a:off x="8500000" y="4840000"/>
            <a:ext cx="600000" cy="250000"/>
          </a:xfrm>
          <a:prstGeom prst="rect">
            <a:avLst/>
          </a:prstGeom>
          <a:noFill/>
          <a:ln/>
        </p:spPr>
        <p:txBody>
          <a:bodyPr wrap="square" lIns="0" tIns="0" rIns="0" bIns="0" rtlCol="0" anchor="ctr"/>
          <a:lstStyle/>
          <a:p>
            <a:pPr marL="0" indent="0" algn="r">
              <a:buNone/>
            </a:pPr>
            <a:r>
              <a:rPr lang="en-US" sz="1100" b="0" dirty="0">
                <a:solidFill>
                  <a:srgbClr val="FFC000"/>
                </a:solidFill>
                <a:latin typeface="Times New Roman" pitchFamily="34" charset="0"/>
              </a:rPr>
              <a:t>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home/claude/bg_slide2.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0A1628">
              <a:alpha val="65000"/>
            </a:srgbClr>
          </a:solidFill>
          <a:ln/>
        </p:spPr>
      </p:sp>
      <p:sp>
        <p:nvSpPr>
          <p:cNvPr id="4" name="Shape 1"/>
          <p:cNvSpPr/>
          <p:nvPr/>
        </p:nvSpPr>
        <p:spPr>
          <a:xfrm>
            <a:off x="0" y="0"/>
            <a:ext cx="9144000" cy="658368"/>
          </a:xfrm>
          <a:prstGeom prst="rect">
            <a:avLst/>
          </a:prstGeom>
          <a:solidFill>
            <a:srgbClr val="0A1628"/>
          </a:solidFill>
          <a:ln/>
        </p:spPr>
      </p:sp>
      <p:sp>
        <p:nvSpPr>
          <p:cNvPr id="5" name="Shape 2"/>
          <p:cNvSpPr/>
          <p:nvPr/>
        </p:nvSpPr>
        <p:spPr>
          <a:xfrm>
            <a:off x="0" y="0"/>
            <a:ext cx="109728" cy="658368"/>
          </a:xfrm>
          <a:prstGeom prst="rect">
            <a:avLst/>
          </a:prstGeom>
          <a:solidFill>
            <a:srgbClr val="FFC000"/>
          </a:solidFill>
          <a:ln/>
        </p:spPr>
      </p:sp>
      <p:sp>
        <p:nvSpPr>
          <p:cNvPr id="6" name="Text 3"/>
          <p:cNvSpPr/>
          <p:nvPr/>
        </p:nvSpPr>
        <p:spPr>
          <a:xfrm>
            <a:off x="201168" y="0"/>
            <a:ext cx="8778240" cy="658368"/>
          </a:xfrm>
          <a:prstGeom prst="rect">
            <a:avLst/>
          </a:prstGeom>
          <a:noFill/>
          <a:ln/>
        </p:spPr>
        <p:txBody>
          <a:bodyPr wrap="square" lIns="0" tIns="0" rIns="0" bIns="0" rtlCol="0" anchor="ctr"/>
          <a:lstStyle/>
          <a:p>
            <a:pPr marL="0" indent="0">
              <a:buNone/>
            </a:pPr>
            <a:r>
              <a:rPr lang="en-US" sz="3600" b="1" dirty="0">
                <a:solidFill>
                  <a:srgbClr val="FFFFFF"/>
                </a:solidFill>
                <a:latin typeface="Times New Roman" pitchFamily="34" charset="0"/>
                <a:ea typeface="Times New Roman" pitchFamily="34" charset="-122"/>
                <a:cs typeface="Times New Roman" pitchFamily="34" charset="-120"/>
              </a:rPr>
              <a:t>Introduction</a:t>
            </a:r>
            <a:endParaRPr lang="en-US" sz="3600" dirty="0"/>
          </a:p>
        </p:txBody>
      </p:sp>
      <p:sp>
        <p:nvSpPr>
          <p:cNvPr id="7" name="Shape 4"/>
          <p:cNvSpPr/>
          <p:nvPr/>
        </p:nvSpPr>
        <p:spPr>
          <a:xfrm>
            <a:off x="274320" y="777240"/>
            <a:ext cx="3840480" cy="914400"/>
          </a:xfrm>
          <a:prstGeom prst="rect">
            <a:avLst/>
          </a:prstGeom>
          <a:solidFill>
            <a:srgbClr val="0D1B3E"/>
          </a:solidFill>
          <a:ln w="19050">
            <a:solidFill>
              <a:srgbClr val="FFC000"/>
            </a:solidFill>
            <a:prstDash val="solid"/>
          </a:ln>
        </p:spPr>
      </p:sp>
      <p:sp>
        <p:nvSpPr>
          <p:cNvPr id="8" name="Text 5"/>
          <p:cNvSpPr/>
          <p:nvPr/>
        </p:nvSpPr>
        <p:spPr>
          <a:xfrm>
            <a:off x="274320" y="804672"/>
            <a:ext cx="3840480" cy="411480"/>
          </a:xfrm>
          <a:prstGeom prst="rect">
            <a:avLst/>
          </a:prstGeom>
          <a:noFill/>
          <a:ln/>
        </p:spPr>
        <p:txBody>
          <a:bodyPr wrap="square" lIns="0" tIns="0" rIns="0" bIns="0" rtlCol="0" anchor="ctr"/>
          <a:lstStyle/>
          <a:p>
            <a:pPr marL="0" indent="0" algn="ctr">
              <a:buNone/>
            </a:pPr>
            <a:r>
              <a:rPr lang="en-US" sz="2800" dirty="0">
                <a:solidFill>
                  <a:srgbClr val="FFFFFF"/>
                </a:solidFill>
                <a:latin typeface="Times New Roman" pitchFamily="34" charset="0"/>
                <a:ea typeface="Times New Roman" pitchFamily="34" charset="-122"/>
                <a:cs typeface="Times New Roman" pitchFamily="34" charset="-120"/>
              </a:rPr>
              <a:t>70%</a:t>
            </a:r>
            <a:endParaRPr lang="en-US" sz="2800" dirty="0"/>
          </a:p>
        </p:txBody>
      </p:sp>
      <p:sp>
        <p:nvSpPr>
          <p:cNvPr id="9" name="Text 6"/>
          <p:cNvSpPr/>
          <p:nvPr/>
        </p:nvSpPr>
        <p:spPr>
          <a:xfrm>
            <a:off x="274320" y="1207008"/>
            <a:ext cx="3840480" cy="438912"/>
          </a:xfrm>
          <a:prstGeom prst="rect">
            <a:avLst/>
          </a:prstGeom>
          <a:noFill/>
          <a:ln/>
        </p:spPr>
        <p:txBody>
          <a:bodyPr wrap="square" lIns="50800" tIns="50800" rIns="50800" bIns="50800" rtlCol="0" anchor="ctr"/>
          <a:lstStyle/>
          <a:p>
            <a:pPr marL="0" indent="0" algn="ctr">
              <a:buNone/>
            </a:pPr>
            <a:r>
              <a:rPr lang="en-US" sz="1300" dirty="0">
                <a:solidFill>
                  <a:srgbClr val="FFFFFF"/>
                </a:solidFill>
                <a:latin typeface="Times New Roman" pitchFamily="34" charset="0"/>
                <a:ea typeface="Times New Roman" pitchFamily="34" charset="-122"/>
                <a:cs typeface="Times New Roman" pitchFamily="34" charset="-120"/>
              </a:rPr>
              <a:t>of rural farmlands lack reliable electricity supply</a:t>
            </a:r>
            <a:endParaRPr lang="en-US" sz="1300" dirty="0"/>
          </a:p>
        </p:txBody>
      </p:sp>
      <p:sp>
        <p:nvSpPr>
          <p:cNvPr id="10" name="Shape 7"/>
          <p:cNvSpPr/>
          <p:nvPr/>
        </p:nvSpPr>
        <p:spPr>
          <a:xfrm>
            <a:off x="4572000" y="777240"/>
            <a:ext cx="3840480" cy="914400"/>
          </a:xfrm>
          <a:prstGeom prst="rect">
            <a:avLst/>
          </a:prstGeom>
          <a:solidFill>
            <a:srgbClr val="0D1B3E"/>
          </a:solidFill>
          <a:ln w="19050">
            <a:solidFill>
              <a:srgbClr val="FFC000"/>
            </a:solidFill>
            <a:prstDash val="solid"/>
          </a:ln>
        </p:spPr>
      </p:sp>
      <p:sp>
        <p:nvSpPr>
          <p:cNvPr id="11" name="Text 8"/>
          <p:cNvSpPr/>
          <p:nvPr/>
        </p:nvSpPr>
        <p:spPr>
          <a:xfrm>
            <a:off x="4572000" y="804672"/>
            <a:ext cx="3840480" cy="411480"/>
          </a:xfrm>
          <a:prstGeom prst="rect">
            <a:avLst/>
          </a:prstGeom>
          <a:noFill/>
          <a:ln/>
        </p:spPr>
        <p:txBody>
          <a:bodyPr wrap="square" lIns="0" tIns="0" rIns="0" bIns="0" rtlCol="0" anchor="ctr"/>
          <a:lstStyle/>
          <a:p>
            <a:pPr marL="0" indent="0" algn="ctr">
              <a:buNone/>
            </a:pPr>
            <a:r>
              <a:rPr lang="en-US" sz="2800" dirty="0">
                <a:solidFill>
                  <a:srgbClr val="FFFFFF"/>
                </a:solidFill>
                <a:latin typeface="Times New Roman" pitchFamily="34" charset="0"/>
                <a:ea typeface="Times New Roman" pitchFamily="34" charset="-122"/>
                <a:cs typeface="Times New Roman" pitchFamily="34" charset="-120"/>
              </a:rPr>
              <a:t>80%</a:t>
            </a:r>
            <a:endParaRPr lang="en-US" sz="2800" dirty="0"/>
          </a:p>
        </p:txBody>
      </p:sp>
      <p:sp>
        <p:nvSpPr>
          <p:cNvPr id="12" name="Text 9"/>
          <p:cNvSpPr/>
          <p:nvPr/>
        </p:nvSpPr>
        <p:spPr>
          <a:xfrm>
            <a:off x="4572000" y="1207008"/>
            <a:ext cx="3840480" cy="438912"/>
          </a:xfrm>
          <a:prstGeom prst="rect">
            <a:avLst/>
          </a:prstGeom>
          <a:noFill/>
          <a:ln/>
        </p:spPr>
        <p:txBody>
          <a:bodyPr wrap="square" lIns="50800" tIns="50800" rIns="50800" bIns="50800" rtlCol="0" anchor="ctr"/>
          <a:lstStyle/>
          <a:p>
            <a:pPr marL="0" indent="0" algn="ctr">
              <a:buNone/>
            </a:pPr>
            <a:r>
              <a:rPr lang="en-US" sz="1300" dirty="0">
                <a:solidFill>
                  <a:srgbClr val="FFFFFF"/>
                </a:solidFill>
                <a:latin typeface="Times New Roman" pitchFamily="34" charset="0"/>
                <a:ea typeface="Times New Roman" pitchFamily="34" charset="-122"/>
                <a:cs typeface="Times New Roman" pitchFamily="34" charset="-120"/>
              </a:rPr>
              <a:t>reduction in fuel cost achievable with wind systems</a:t>
            </a:r>
            <a:endParaRPr lang="en-US" sz="1300" dirty="0"/>
          </a:p>
        </p:txBody>
      </p:sp>
      <p:sp>
        <p:nvSpPr>
          <p:cNvPr id="13" name="Text 10"/>
          <p:cNvSpPr/>
          <p:nvPr/>
        </p:nvSpPr>
        <p:spPr>
          <a:xfrm>
            <a:off x="274320" y="1874520"/>
            <a:ext cx="8595360" cy="347472"/>
          </a:xfrm>
          <a:prstGeom prst="rect">
            <a:avLst/>
          </a:prstGeom>
          <a:noFill/>
          <a:ln/>
        </p:spPr>
        <p:txBody>
          <a:bodyPr wrap="square" lIns="0" tIns="0" rIns="0" bIns="0" rtlCol="0" anchor="ctr"/>
          <a:lstStyle/>
          <a:p>
            <a:pPr marL="0" indent="0">
              <a:buNone/>
            </a:pPr>
            <a:r>
              <a:rPr lang="en-US" sz="2000" b="1" dirty="0">
                <a:solidFill>
                  <a:srgbClr val="FFC000"/>
                </a:solidFill>
                <a:latin typeface="Times New Roman" pitchFamily="34" charset="0"/>
                <a:ea typeface="Times New Roman" pitchFamily="34" charset="-122"/>
                <a:cs typeface="Times New Roman" pitchFamily="34" charset="-120"/>
              </a:rPr>
              <a:t>Overview</a:t>
            </a:r>
            <a:endParaRPr lang="en-US" sz="2000" dirty="0"/>
          </a:p>
        </p:txBody>
      </p:sp>
      <p:sp>
        <p:nvSpPr>
          <p:cNvPr id="14" name="Text 11"/>
          <p:cNvSpPr/>
          <p:nvPr/>
        </p:nvSpPr>
        <p:spPr>
          <a:xfrm>
            <a:off x="274320" y="2240280"/>
            <a:ext cx="8595360" cy="914400"/>
          </a:xfrm>
          <a:prstGeom prst="rect">
            <a:avLst/>
          </a:prstGeom>
          <a:noFill/>
          <a:ln/>
        </p:spPr>
        <p:txBody>
          <a:bodyPr wrap="square" lIns="50800" tIns="50800" rIns="50800" bIns="50800" rtlCol="0" anchor="ctr"/>
          <a:lstStyle/>
          <a:p>
            <a:pPr marL="0" indent="0" algn="just">
              <a:buNone/>
            </a:pPr>
            <a:r>
              <a:rPr lang="en-US" sz="1400" dirty="0">
                <a:solidFill>
                  <a:srgbClr val="FFFFFF"/>
                </a:solidFill>
                <a:latin typeface="Times New Roman" pitchFamily="34" charset="0"/>
                <a:ea typeface="Times New Roman" pitchFamily="34" charset="-122"/>
                <a:cs typeface="Times New Roman" pitchFamily="34" charset="-120"/>
              </a:rPr>
              <a:t>Agriculture is one of the most energy-dependent sectors, relying heavily on diesel generators and grid electricity for irrigation, lighting, and crop processing. In rural and remote areas, these are expensive and unreliable. Wind energy offers a clean, low-cost alternative — harnessing naturally available wind to power farm operations sustainably.</a:t>
            </a:r>
            <a:endParaRPr lang="en-US" sz="1400" dirty="0"/>
          </a:p>
        </p:txBody>
      </p:sp>
      <p:sp>
        <p:nvSpPr>
          <p:cNvPr id="15" name="Text 12"/>
          <p:cNvSpPr/>
          <p:nvPr/>
        </p:nvSpPr>
        <p:spPr>
          <a:xfrm>
            <a:off x="274320" y="3218688"/>
            <a:ext cx="8595360" cy="320040"/>
          </a:xfrm>
          <a:prstGeom prst="rect">
            <a:avLst/>
          </a:prstGeom>
          <a:noFill/>
          <a:ln/>
        </p:spPr>
        <p:txBody>
          <a:bodyPr wrap="square" lIns="0" tIns="0" rIns="0" bIns="0" rtlCol="0" anchor="ctr"/>
          <a:lstStyle/>
          <a:p>
            <a:pPr marL="0" indent="0">
              <a:buNone/>
            </a:pPr>
            <a:r>
              <a:rPr lang="en-US" sz="2000" b="1" dirty="0">
                <a:solidFill>
                  <a:srgbClr val="FFC000"/>
                </a:solidFill>
                <a:latin typeface="Times New Roman" pitchFamily="34" charset="0"/>
                <a:ea typeface="Times New Roman" pitchFamily="34" charset="-122"/>
                <a:cs typeface="Times New Roman" pitchFamily="34" charset="-120"/>
              </a:rPr>
              <a:t>How It Works</a:t>
            </a:r>
            <a:endParaRPr lang="en-US" sz="2000" dirty="0"/>
          </a:p>
        </p:txBody>
      </p:sp>
      <p:sp>
        <p:nvSpPr>
          <p:cNvPr id="16" name="Text 13"/>
          <p:cNvSpPr/>
          <p:nvPr/>
        </p:nvSpPr>
        <p:spPr>
          <a:xfrm>
            <a:off x="274320" y="3566160"/>
            <a:ext cx="8595360" cy="1143000"/>
          </a:xfrm>
          <a:prstGeom prst="rect">
            <a:avLst/>
          </a:prstGeom>
          <a:noFill/>
          <a:ln/>
        </p:spPr>
        <p:txBody>
          <a:bodyPr wrap="square" lIns="50800" tIns="50800" rIns="50800" bIns="50800" rtlCol="0" anchor="ctr"/>
          <a:lstStyle/>
          <a:p>
            <a:pPr marL="342900" indent="-342900">
              <a:buSzPct val="100000"/>
              <a:buChar char="•"/>
            </a:pPr>
            <a:r>
              <a:rPr lang="en-US" sz="1400" dirty="0">
                <a:solidFill>
                  <a:srgbClr val="FFFFFF"/>
                </a:solidFill>
                <a:latin typeface="Times New Roman" pitchFamily="34" charset="0"/>
                <a:ea typeface="Times New Roman" pitchFamily="34" charset="-122"/>
                <a:cs typeface="Times New Roman" pitchFamily="34" charset="-120"/>
              </a:rPr>
              <a:t>Artificial windmill captures wind energy and converts it into electrical energy via DC generator</a:t>
            </a:r>
            <a:endParaRPr lang="en-US" sz="1400" dirty="0"/>
          </a:p>
          <a:p>
            <a:pPr marL="342900" indent="-342900">
              <a:buSzPct val="100000"/>
              <a:buChar char="•"/>
            </a:pPr>
            <a:r>
              <a:rPr lang="en-US" sz="1400" dirty="0">
                <a:solidFill>
                  <a:srgbClr val="FFFFFF"/>
                </a:solidFill>
                <a:latin typeface="Times New Roman" pitchFamily="34" charset="0"/>
                <a:ea typeface="Times New Roman" pitchFamily="34" charset="-122"/>
                <a:cs typeface="Times New Roman" pitchFamily="34" charset="-120"/>
              </a:rPr>
              <a:t>Electricity is stored in lithium batteries managed by a Battery Management System (BMS)</a:t>
            </a:r>
            <a:endParaRPr lang="en-US" sz="1400" dirty="0"/>
          </a:p>
          <a:p>
            <a:pPr marL="342900" indent="-342900">
              <a:buSzPct val="100000"/>
              <a:buChar char="•"/>
            </a:pPr>
            <a:r>
              <a:rPr lang="en-US" sz="1400" dirty="0">
                <a:solidFill>
                  <a:srgbClr val="FFFFFF"/>
                </a:solidFill>
                <a:latin typeface="Times New Roman" pitchFamily="34" charset="0"/>
                <a:ea typeface="Times New Roman" pitchFamily="34" charset="-122"/>
                <a:cs typeface="Times New Roman" pitchFamily="34" charset="-120"/>
              </a:rPr>
              <a:t>ESP32 microcontroller monitors soil moisture, rain, and light — controls irrigation automatically</a:t>
            </a:r>
            <a:endParaRPr lang="en-US" sz="1400" dirty="0"/>
          </a:p>
          <a:p>
            <a:pPr marL="342900" indent="-342900">
              <a:buSzPct val="100000"/>
              <a:buChar char="•"/>
            </a:pPr>
            <a:r>
              <a:rPr lang="en-US" sz="1400" dirty="0">
                <a:solidFill>
                  <a:srgbClr val="FFFFFF"/>
                </a:solidFill>
                <a:latin typeface="Times New Roman" pitchFamily="34" charset="0"/>
                <a:ea typeface="Times New Roman" pitchFamily="34" charset="-122"/>
                <a:cs typeface="Times New Roman" pitchFamily="34" charset="-120"/>
              </a:rPr>
              <a:t>OLED display shows live system status; relay switches water pump ON/OFF as needed</a:t>
            </a:r>
            <a:endParaRPr lang="en-US" sz="1400" dirty="0"/>
          </a:p>
        </p:txBody>
      </p:sp>
      <p:sp>
        <p:nvSpPr>
          <p:cNvPr id="17" name="Shape 14"/>
          <p:cNvSpPr/>
          <p:nvPr/>
        </p:nvSpPr>
        <p:spPr>
          <a:xfrm>
            <a:off x="0" y="4818888"/>
            <a:ext cx="9144000" cy="324612"/>
          </a:xfrm>
          <a:prstGeom prst="rect">
            <a:avLst/>
          </a:prstGeom>
          <a:solidFill>
            <a:srgbClr val="0A1040"/>
          </a:solidFill>
          <a:ln w="12700">
            <a:solidFill>
              <a:srgbClr val="0A1040"/>
            </a:solidFill>
            <a:prstDash val="solid"/>
          </a:ln>
        </p:spPr>
      </p:sp>
      <p:sp>
        <p:nvSpPr>
          <p:cNvPr id="18" name="Text 15"/>
          <p:cNvSpPr/>
          <p:nvPr/>
        </p:nvSpPr>
        <p:spPr>
          <a:xfrm>
            <a:off x="182880" y="4818888"/>
            <a:ext cx="8778240" cy="324612"/>
          </a:xfrm>
          <a:prstGeom prst="rect">
            <a:avLst/>
          </a:prstGeom>
          <a:noFill/>
          <a:ln/>
        </p:spPr>
        <p:txBody>
          <a:bodyPr wrap="square" lIns="0" tIns="0" rIns="0" bIns="0" rtlCol="0" anchor="ctr"/>
          <a:lstStyle/>
          <a:p>
            <a:pPr marL="0" indent="0" algn="ctr">
              <a:buNone/>
            </a:pPr>
            <a:endParaRPr lang="en-US" sz="900" dirty="0"/>
          </a:p>
        </p:txBody>
      </p:sp>
      <p:sp>
        <p:nvSpPr>
          <p:cNvPr id="19" name="SlideNum"/>
          <p:cNvSpPr/>
          <p:nvPr/>
        </p:nvSpPr>
        <p:spPr>
          <a:xfrm>
            <a:off x="8500000" y="4840000"/>
            <a:ext cx="600000" cy="250000"/>
          </a:xfrm>
          <a:prstGeom prst="rect">
            <a:avLst/>
          </a:prstGeom>
          <a:noFill/>
          <a:ln/>
        </p:spPr>
        <p:txBody>
          <a:bodyPr wrap="square" lIns="0" tIns="0" rIns="0" bIns="0" rtlCol="0" anchor="ctr"/>
          <a:lstStyle/>
          <a:p>
            <a:pPr marL="0" indent="0" algn="r">
              <a:buNone/>
            </a:pPr>
            <a:r>
              <a:rPr lang="en-US" sz="1100" b="0" dirty="0">
                <a:solidFill>
                  <a:srgbClr val="FFC000"/>
                </a:solidFill>
                <a:latin typeface="Times New Roman" pitchFamily="34" charset="0"/>
              </a:rP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A1628"/>
          </a:solidFill>
          <a:ln/>
        </p:spPr>
      </p:sp>
      <p:sp>
        <p:nvSpPr>
          <p:cNvPr id="3" name="Shape 1"/>
          <p:cNvSpPr/>
          <p:nvPr/>
        </p:nvSpPr>
        <p:spPr>
          <a:xfrm>
            <a:off x="0" y="0"/>
            <a:ext cx="9144000" cy="658368"/>
          </a:xfrm>
          <a:prstGeom prst="rect">
            <a:avLst/>
          </a:prstGeom>
          <a:solidFill>
            <a:srgbClr val="0A1628"/>
          </a:solidFill>
          <a:ln/>
        </p:spPr>
      </p:sp>
      <p:sp>
        <p:nvSpPr>
          <p:cNvPr id="4" name="Shape 2"/>
          <p:cNvSpPr/>
          <p:nvPr/>
        </p:nvSpPr>
        <p:spPr>
          <a:xfrm>
            <a:off x="0" y="0"/>
            <a:ext cx="109728" cy="658368"/>
          </a:xfrm>
          <a:prstGeom prst="rect">
            <a:avLst/>
          </a:prstGeom>
          <a:solidFill>
            <a:srgbClr val="FFC000"/>
          </a:solidFill>
          <a:ln/>
        </p:spPr>
      </p:sp>
      <p:sp>
        <p:nvSpPr>
          <p:cNvPr id="5" name="Text 3"/>
          <p:cNvSpPr/>
          <p:nvPr/>
        </p:nvSpPr>
        <p:spPr>
          <a:xfrm>
            <a:off x="201168" y="0"/>
            <a:ext cx="8778240" cy="658368"/>
          </a:xfrm>
          <a:prstGeom prst="rect">
            <a:avLst/>
          </a:prstGeom>
          <a:noFill/>
          <a:ln/>
        </p:spPr>
        <p:txBody>
          <a:bodyPr wrap="square" lIns="0" tIns="0" rIns="0" bIns="0" rtlCol="0" anchor="ctr"/>
          <a:lstStyle/>
          <a:p>
            <a:pPr marL="0" indent="0">
              <a:buNone/>
            </a:pPr>
            <a:r>
              <a:rPr lang="en-US" sz="3600" b="1" dirty="0">
                <a:solidFill>
                  <a:srgbClr val="FFFFFF"/>
                </a:solidFill>
                <a:latin typeface="Times New Roman" pitchFamily="34" charset="0"/>
                <a:ea typeface="Times New Roman" pitchFamily="34" charset="-122"/>
                <a:cs typeface="Times New Roman" pitchFamily="34" charset="-120"/>
              </a:rPr>
              <a:t>Literature Survey</a:t>
            </a:r>
            <a:endParaRPr lang="en-US" sz="36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274320" y="749808"/>
          <a:ext cx="8595360" cy="3950208"/>
        </p:xfrm>
        <a:graphic>
          <a:graphicData uri="http://schemas.openxmlformats.org/drawingml/2006/table">
            <a:tbl>
              <a:tblPr/>
              <a:tblGrid>
                <a:gridCol w="50292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470916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tblGrid>
              <a:tr h="384048">
                <a:tc>
                  <a:txBody>
                    <a:bodyPr/>
                    <a:lstStyle/>
                    <a:p>
                      <a:pPr marL="0" indent="0" algn="ctr">
                        <a:buNone/>
                      </a:pPr>
                      <a:r>
                        <a:rPr lang="en-US" sz="1100" b="1" dirty="0">
                          <a:solidFill>
                            <a:srgbClr val="0A1628"/>
                          </a:solidFill>
                          <a:latin typeface="Times New Roman" pitchFamily="34" charset="0"/>
                          <a:ea typeface="Times New Roman" pitchFamily="34" charset="-122"/>
                          <a:cs typeface="Times New Roman" pitchFamily="34" charset="-120"/>
                        </a:rPr>
                        <a:t>S.No</a:t>
                      </a:r>
                      <a:endParaRPr lang="en-US" sz="1100" dirty="0">
                        <a:latin typeface="Times New Roman" charset="0"/>
                        <a:ea typeface="Times New Roman" charset="0"/>
                        <a:cs typeface="Times New Roman" charset="0"/>
                      </a:endParaRPr>
                    </a:p>
                  </a:txBody>
                  <a:tcPr>
                    <a:lnL w="6350" cap="flat" cmpd="sng" algn="ctr">
                      <a:solidFill>
                        <a:srgbClr val="2A3A6A"/>
                      </a:solidFill>
                      <a:prstDash val="solid"/>
                      <a:round/>
                      <a:headEnd type="none" w="med" len="med"/>
                      <a:tailEnd type="none" w="med" len="med"/>
                    </a:lnL>
                    <a:lnR w="6350" cap="flat" cmpd="sng" algn="ctr">
                      <a:solidFill>
                        <a:srgbClr val="2A3A6A"/>
                      </a:solidFill>
                      <a:prstDash val="solid"/>
                      <a:round/>
                      <a:headEnd type="none" w="med" len="med"/>
                      <a:tailEnd type="none" w="med" len="med"/>
                    </a:lnR>
                    <a:lnT w="6350" cap="flat" cmpd="sng" algn="ctr">
                      <a:solidFill>
                        <a:srgbClr val="2A3A6A"/>
                      </a:solidFill>
                      <a:prstDash val="solid"/>
                      <a:round/>
                      <a:headEnd type="none" w="med" len="med"/>
                      <a:tailEnd type="none" w="med" len="med"/>
                    </a:lnT>
                    <a:lnB w="6350" cap="flat" cmpd="sng" algn="ctr">
                      <a:solidFill>
                        <a:srgbClr val="2A3A6A"/>
                      </a:solidFill>
                      <a:prstDash val="solid"/>
                      <a:round/>
                      <a:headEnd type="none" w="med" len="med"/>
                      <a:tailEnd type="none" w="med" len="med"/>
                    </a:lnB>
                    <a:solidFill>
                      <a:srgbClr val="FFC000"/>
                    </a:solidFill>
                  </a:tcPr>
                </a:tc>
                <a:tc>
                  <a:txBody>
                    <a:bodyPr/>
                    <a:lstStyle/>
                    <a:p>
                      <a:pPr marL="0" indent="0" algn="ctr">
                        <a:buNone/>
                      </a:pPr>
                      <a:r>
                        <a:rPr lang="en-US" sz="1100" b="1" dirty="0">
                          <a:solidFill>
                            <a:srgbClr val="0A1628"/>
                          </a:solidFill>
                          <a:latin typeface="Times New Roman" pitchFamily="34" charset="0"/>
                          <a:ea typeface="Times New Roman" pitchFamily="34" charset="-122"/>
                          <a:cs typeface="Times New Roman" pitchFamily="34" charset="-120"/>
                        </a:rPr>
                        <a:t>Authors &amp; Year</a:t>
                      </a:r>
                      <a:endParaRPr lang="en-US" sz="1100" dirty="0">
                        <a:latin typeface="Times New Roman" charset="0"/>
                        <a:ea typeface="Times New Roman" charset="0"/>
                        <a:cs typeface="Times New Roman" charset="0"/>
                      </a:endParaRPr>
                    </a:p>
                  </a:txBody>
                  <a:tcPr>
                    <a:lnL w="6350" cap="flat" cmpd="sng" algn="ctr">
                      <a:solidFill>
                        <a:srgbClr val="2A3A6A"/>
                      </a:solidFill>
                      <a:prstDash val="solid"/>
                      <a:round/>
                      <a:headEnd type="none" w="med" len="med"/>
                      <a:tailEnd type="none" w="med" len="med"/>
                    </a:lnL>
                    <a:lnR w="6350" cap="flat" cmpd="sng" algn="ctr">
                      <a:solidFill>
                        <a:srgbClr val="2A3A6A"/>
                      </a:solidFill>
                      <a:prstDash val="solid"/>
                      <a:round/>
                      <a:headEnd type="none" w="med" len="med"/>
                      <a:tailEnd type="none" w="med" len="med"/>
                    </a:lnR>
                    <a:lnT w="6350" cap="flat" cmpd="sng" algn="ctr">
                      <a:solidFill>
                        <a:srgbClr val="2A3A6A"/>
                      </a:solidFill>
                      <a:prstDash val="solid"/>
                      <a:round/>
                      <a:headEnd type="none" w="med" len="med"/>
                      <a:tailEnd type="none" w="med" len="med"/>
                    </a:lnT>
                    <a:lnB w="6350" cap="flat" cmpd="sng" algn="ctr">
                      <a:solidFill>
                        <a:srgbClr val="2A3A6A"/>
                      </a:solidFill>
                      <a:prstDash val="solid"/>
                      <a:round/>
                      <a:headEnd type="none" w="med" len="med"/>
                      <a:tailEnd type="none" w="med" len="med"/>
                    </a:lnB>
                    <a:solidFill>
                      <a:srgbClr val="FFC000"/>
                    </a:solidFill>
                  </a:tcPr>
                </a:tc>
                <a:tc>
                  <a:txBody>
                    <a:bodyPr/>
                    <a:lstStyle/>
                    <a:p>
                      <a:pPr marL="0" indent="0" algn="ctr">
                        <a:buNone/>
                      </a:pPr>
                      <a:r>
                        <a:rPr lang="en-US" sz="1100" b="1" dirty="0">
                          <a:solidFill>
                            <a:srgbClr val="0A1628"/>
                          </a:solidFill>
                          <a:latin typeface="Times New Roman" pitchFamily="34" charset="0"/>
                          <a:ea typeface="Times New Roman" pitchFamily="34" charset="-122"/>
                          <a:cs typeface="Times New Roman" pitchFamily="34" charset="-120"/>
                        </a:rPr>
                        <a:t>Key Findings</a:t>
                      </a:r>
                      <a:endParaRPr lang="en-US" sz="1100" dirty="0">
                        <a:latin typeface="Times New Roman" charset="0"/>
                        <a:ea typeface="Times New Roman" charset="0"/>
                        <a:cs typeface="Times New Roman" charset="0"/>
                      </a:endParaRPr>
                    </a:p>
                  </a:txBody>
                  <a:tcPr>
                    <a:lnL w="6350" cap="flat" cmpd="sng" algn="ctr">
                      <a:solidFill>
                        <a:srgbClr val="2A3A6A"/>
                      </a:solidFill>
                      <a:prstDash val="solid"/>
                      <a:round/>
                      <a:headEnd type="none" w="med" len="med"/>
                      <a:tailEnd type="none" w="med" len="med"/>
                    </a:lnL>
                    <a:lnR w="6350" cap="flat" cmpd="sng" algn="ctr">
                      <a:solidFill>
                        <a:srgbClr val="2A3A6A"/>
                      </a:solidFill>
                      <a:prstDash val="solid"/>
                      <a:round/>
                      <a:headEnd type="none" w="med" len="med"/>
                      <a:tailEnd type="none" w="med" len="med"/>
                    </a:lnR>
                    <a:lnT w="6350" cap="flat" cmpd="sng" algn="ctr">
                      <a:solidFill>
                        <a:srgbClr val="2A3A6A"/>
                      </a:solidFill>
                      <a:prstDash val="solid"/>
                      <a:round/>
                      <a:headEnd type="none" w="med" len="med"/>
                      <a:tailEnd type="none" w="med" len="med"/>
                    </a:lnT>
                    <a:lnB w="6350" cap="flat" cmpd="sng" algn="ctr">
                      <a:solidFill>
                        <a:srgbClr val="2A3A6A"/>
                      </a:solidFill>
                      <a:prstDash val="solid"/>
                      <a:round/>
                      <a:headEnd type="none" w="med" len="med"/>
                      <a:tailEnd type="none" w="med" len="med"/>
                    </a:lnB>
                    <a:solidFill>
                      <a:srgbClr val="FFC000"/>
                    </a:solidFill>
                  </a:tcPr>
                </a:tc>
                <a:tc>
                  <a:txBody>
                    <a:bodyPr/>
                    <a:lstStyle/>
                    <a:p>
                      <a:pPr marL="0" indent="0" algn="ctr">
                        <a:buNone/>
                      </a:pPr>
                      <a:r>
                        <a:rPr lang="en-US" sz="1100" b="1" dirty="0">
                          <a:solidFill>
                            <a:srgbClr val="0A1628"/>
                          </a:solidFill>
                          <a:latin typeface="Times New Roman" pitchFamily="34" charset="0"/>
                          <a:ea typeface="Times New Roman" pitchFamily="34" charset="-122"/>
                          <a:cs typeface="Times New Roman" pitchFamily="34" charset="-120"/>
                        </a:rPr>
                        <a:t>Efficiency</a:t>
                      </a:r>
                      <a:endParaRPr lang="en-US" sz="1100" dirty="0">
                        <a:latin typeface="Times New Roman" charset="0"/>
                        <a:ea typeface="Times New Roman" charset="0"/>
                        <a:cs typeface="Times New Roman" charset="0"/>
                      </a:endParaRPr>
                    </a:p>
                  </a:txBody>
                  <a:tcPr>
                    <a:lnL w="6350" cap="flat" cmpd="sng" algn="ctr">
                      <a:solidFill>
                        <a:srgbClr val="2A3A6A"/>
                      </a:solidFill>
                      <a:prstDash val="solid"/>
                      <a:round/>
                      <a:headEnd type="none" w="med" len="med"/>
                      <a:tailEnd type="none" w="med" len="med"/>
                    </a:lnL>
                    <a:lnR w="6350" cap="flat" cmpd="sng" algn="ctr">
                      <a:solidFill>
                        <a:srgbClr val="2A3A6A"/>
                      </a:solidFill>
                      <a:prstDash val="solid"/>
                      <a:round/>
                      <a:headEnd type="none" w="med" len="med"/>
                      <a:tailEnd type="none" w="med" len="med"/>
                    </a:lnR>
                    <a:lnT w="6350" cap="flat" cmpd="sng" algn="ctr">
                      <a:solidFill>
                        <a:srgbClr val="2A3A6A"/>
                      </a:solidFill>
                      <a:prstDash val="solid"/>
                      <a:round/>
                      <a:headEnd type="none" w="med" len="med"/>
                      <a:tailEnd type="none" w="med" len="med"/>
                    </a:lnT>
                    <a:lnB w="6350" cap="flat" cmpd="sng" algn="ctr">
                      <a:solidFill>
                        <a:srgbClr val="2A3A6A"/>
                      </a:solidFill>
                      <a:prstDash val="solid"/>
                      <a:round/>
                      <a:headEnd type="none" w="med" len="med"/>
                      <a:tailEnd type="none" w="med" len="med"/>
                    </a:lnB>
                    <a:solidFill>
                      <a:srgbClr val="FFC000"/>
                    </a:solidFill>
                  </a:tcPr>
                </a:tc>
                <a:extLst>
                  <a:ext uri="{0D108BD9-81ED-4DB2-BD59-A6C34878D82A}">
                    <a16:rowId xmlns:a16="http://schemas.microsoft.com/office/drawing/2014/main" val="10000"/>
                  </a:ext>
                </a:extLst>
              </a:tr>
              <a:tr h="594360">
                <a:tc>
                  <a:txBody>
                    <a:bodyPr/>
                    <a:lstStyle/>
                    <a:p>
                      <a:pPr marL="0" indent="0">
                        <a:buNone/>
                      </a:pPr>
                      <a:r>
                        <a:rPr lang="en-US" sz="1100" dirty="0">
                          <a:solidFill>
                            <a:srgbClr val="FFFFFF"/>
                          </a:solidFill>
                          <a:latin typeface="Times New Roman" pitchFamily="34" charset="0"/>
                          <a:ea typeface="Times New Roman" pitchFamily="34" charset="-122"/>
                          <a:cs typeface="Times New Roman" pitchFamily="34" charset="-120"/>
                        </a:rPr>
                        <a:t>1.</a:t>
                      </a:r>
                      <a:endParaRPr lang="en-US" sz="1100" dirty="0">
                        <a:latin typeface="Times New Roman" charset="0"/>
                        <a:ea typeface="Times New Roman" charset="0"/>
                        <a:cs typeface="Times New Roman" charset="0"/>
                      </a:endParaRPr>
                    </a:p>
                  </a:txBody>
                  <a:tcPr>
                    <a:lnL w="6350" cap="flat" cmpd="sng" algn="ctr">
                      <a:solidFill>
                        <a:srgbClr val="2A3A6A"/>
                      </a:solidFill>
                      <a:prstDash val="solid"/>
                      <a:round/>
                      <a:headEnd type="none" w="med" len="med"/>
                      <a:tailEnd type="none" w="med" len="med"/>
                    </a:lnL>
                    <a:lnR w="6350" cap="flat" cmpd="sng" algn="ctr">
                      <a:solidFill>
                        <a:srgbClr val="2A3A6A"/>
                      </a:solidFill>
                      <a:prstDash val="solid"/>
                      <a:round/>
                      <a:headEnd type="none" w="med" len="med"/>
                      <a:tailEnd type="none" w="med" len="med"/>
                    </a:lnR>
                    <a:lnT w="6350" cap="flat" cmpd="sng" algn="ctr">
                      <a:solidFill>
                        <a:srgbClr val="2A3A6A"/>
                      </a:solidFill>
                      <a:prstDash val="solid"/>
                      <a:round/>
                      <a:headEnd type="none" w="med" len="med"/>
                      <a:tailEnd type="none" w="med" len="med"/>
                    </a:lnT>
                    <a:lnB w="6350" cap="flat" cmpd="sng" algn="ctr">
                      <a:solidFill>
                        <a:srgbClr val="2A3A6A"/>
                      </a:solidFill>
                      <a:prstDash val="solid"/>
                      <a:round/>
                      <a:headEnd type="none" w="med" len="med"/>
                      <a:tailEnd type="none" w="med" len="med"/>
                    </a:lnB>
                    <a:solidFill>
                      <a:srgbClr val="0D1B3E"/>
                    </a:solidFill>
                  </a:tcPr>
                </a:tc>
                <a:tc>
                  <a:txBody>
                    <a:bodyPr/>
                    <a:lstStyle/>
                    <a:p>
                      <a:pPr marL="0" indent="0">
                        <a:buNone/>
                      </a:pPr>
                      <a:r>
                        <a:rPr lang="en-US" sz="1100" dirty="0">
                          <a:solidFill>
                            <a:srgbClr val="FFFFFF"/>
                          </a:solidFill>
                          <a:latin typeface="Times New Roman" pitchFamily="34" charset="0"/>
                          <a:ea typeface="Times New Roman" pitchFamily="34" charset="-122"/>
                          <a:cs typeface="Times New Roman" pitchFamily="34" charset="-120"/>
                        </a:rPr>
                        <a:t>Hashim et al. (2023)</a:t>
                      </a:r>
                      <a:endParaRPr lang="en-US" sz="1100" dirty="0">
                        <a:latin typeface="Times New Roman" charset="0"/>
                        <a:ea typeface="Times New Roman" charset="0"/>
                        <a:cs typeface="Times New Roman" charset="0"/>
                      </a:endParaRPr>
                    </a:p>
                    <a:p>
                      <a:pPr marL="0" indent="0">
                        <a:buNone/>
                      </a:pPr>
                      <a:r>
                        <a:rPr lang="en-US" sz="1100" dirty="0">
                          <a:solidFill>
                            <a:srgbClr val="FFFFFF"/>
                          </a:solidFill>
                          <a:latin typeface="Times New Roman" pitchFamily="34" charset="0"/>
                          <a:ea typeface="Times New Roman" pitchFamily="34" charset="-122"/>
                          <a:cs typeface="Times New Roman" pitchFamily="34" charset="-120"/>
                        </a:rPr>
                        <a:t>Springer Nature</a:t>
                      </a:r>
                      <a:endParaRPr lang="en-US" sz="1100" dirty="0">
                        <a:latin typeface="Times New Roman" charset="0"/>
                        <a:ea typeface="Times New Roman" charset="0"/>
                        <a:cs typeface="Times New Roman" charset="0"/>
                      </a:endParaRPr>
                    </a:p>
                  </a:txBody>
                  <a:tcPr>
                    <a:lnL w="6350" cap="flat" cmpd="sng" algn="ctr">
                      <a:solidFill>
                        <a:srgbClr val="2A3A6A"/>
                      </a:solidFill>
                      <a:prstDash val="solid"/>
                      <a:round/>
                      <a:headEnd type="none" w="med" len="med"/>
                      <a:tailEnd type="none" w="med" len="med"/>
                    </a:lnL>
                    <a:lnR w="6350" cap="flat" cmpd="sng" algn="ctr">
                      <a:solidFill>
                        <a:srgbClr val="2A3A6A"/>
                      </a:solidFill>
                      <a:prstDash val="solid"/>
                      <a:round/>
                      <a:headEnd type="none" w="med" len="med"/>
                      <a:tailEnd type="none" w="med" len="med"/>
                    </a:lnR>
                    <a:lnT w="6350" cap="flat" cmpd="sng" algn="ctr">
                      <a:solidFill>
                        <a:srgbClr val="2A3A6A"/>
                      </a:solidFill>
                      <a:prstDash val="solid"/>
                      <a:round/>
                      <a:headEnd type="none" w="med" len="med"/>
                      <a:tailEnd type="none" w="med" len="med"/>
                    </a:lnT>
                    <a:lnB w="6350" cap="flat" cmpd="sng" algn="ctr">
                      <a:solidFill>
                        <a:srgbClr val="2A3A6A"/>
                      </a:solidFill>
                      <a:prstDash val="solid"/>
                      <a:round/>
                      <a:headEnd type="none" w="med" len="med"/>
                      <a:tailEnd type="none" w="med" len="med"/>
                    </a:lnB>
                    <a:solidFill>
                      <a:srgbClr val="0D1B3E"/>
                    </a:solidFill>
                  </a:tcPr>
                </a:tc>
                <a:tc>
                  <a:txBody>
                    <a:bodyPr/>
                    <a:lstStyle/>
                    <a:p>
                      <a:pPr marL="0" indent="0">
                        <a:buNone/>
                      </a:pPr>
                      <a:r>
                        <a:rPr lang="en-US" sz="1100" dirty="0">
                          <a:solidFill>
                            <a:srgbClr val="FFFFFF"/>
                          </a:solidFill>
                          <a:latin typeface="Times New Roman" pitchFamily="34" charset="0"/>
                          <a:ea typeface="Times New Roman" pitchFamily="34" charset="-122"/>
                          <a:cs typeface="Times New Roman" pitchFamily="34" charset="-120"/>
                        </a:rPr>
                        <a:t>Wind &amp; solar RE integration viable for sustainable farming applications</a:t>
                      </a:r>
                      <a:endParaRPr lang="en-US" sz="1100" dirty="0">
                        <a:latin typeface="Times New Roman" charset="0"/>
                        <a:ea typeface="Times New Roman" charset="0"/>
                        <a:cs typeface="Times New Roman" charset="0"/>
                      </a:endParaRPr>
                    </a:p>
                  </a:txBody>
                  <a:tcPr>
                    <a:lnL w="6350" cap="flat" cmpd="sng" algn="ctr">
                      <a:solidFill>
                        <a:srgbClr val="2A3A6A"/>
                      </a:solidFill>
                      <a:prstDash val="solid"/>
                      <a:round/>
                      <a:headEnd type="none" w="med" len="med"/>
                      <a:tailEnd type="none" w="med" len="med"/>
                    </a:lnL>
                    <a:lnR w="6350" cap="flat" cmpd="sng" algn="ctr">
                      <a:solidFill>
                        <a:srgbClr val="2A3A6A"/>
                      </a:solidFill>
                      <a:prstDash val="solid"/>
                      <a:round/>
                      <a:headEnd type="none" w="med" len="med"/>
                      <a:tailEnd type="none" w="med" len="med"/>
                    </a:lnR>
                    <a:lnT w="6350" cap="flat" cmpd="sng" algn="ctr">
                      <a:solidFill>
                        <a:srgbClr val="2A3A6A"/>
                      </a:solidFill>
                      <a:prstDash val="solid"/>
                      <a:round/>
                      <a:headEnd type="none" w="med" len="med"/>
                      <a:tailEnd type="none" w="med" len="med"/>
                    </a:lnT>
                    <a:lnB w="6350" cap="flat" cmpd="sng" algn="ctr">
                      <a:solidFill>
                        <a:srgbClr val="2A3A6A"/>
                      </a:solidFill>
                      <a:prstDash val="solid"/>
                      <a:round/>
                      <a:headEnd type="none" w="med" len="med"/>
                      <a:tailEnd type="none" w="med" len="med"/>
                    </a:lnB>
                    <a:solidFill>
                      <a:srgbClr val="0D1B3E"/>
                    </a:solidFill>
                  </a:tcPr>
                </a:tc>
                <a:tc>
                  <a:txBody>
                    <a:bodyPr/>
                    <a:lstStyle/>
                    <a:p>
                      <a:pPr marL="0" indent="0">
                        <a:buNone/>
                      </a:pPr>
                      <a:r>
                        <a:rPr lang="en-US" sz="1100" dirty="0">
                          <a:solidFill>
                            <a:srgbClr val="FFFFFF"/>
                          </a:solidFill>
                          <a:latin typeface="Times New Roman" pitchFamily="34" charset="0"/>
                          <a:ea typeface="Times New Roman" pitchFamily="34" charset="-122"/>
                          <a:cs typeface="Times New Roman" pitchFamily="34" charset="-120"/>
                        </a:rPr>
                        <a:t>High</a:t>
                      </a:r>
                      <a:endParaRPr lang="en-US" sz="1100" dirty="0">
                        <a:latin typeface="Times New Roman" charset="0"/>
                        <a:ea typeface="Times New Roman" charset="0"/>
                        <a:cs typeface="Times New Roman" charset="0"/>
                      </a:endParaRPr>
                    </a:p>
                  </a:txBody>
                  <a:tcPr>
                    <a:lnL w="6350" cap="flat" cmpd="sng" algn="ctr">
                      <a:solidFill>
                        <a:srgbClr val="2A3A6A"/>
                      </a:solidFill>
                      <a:prstDash val="solid"/>
                      <a:round/>
                      <a:headEnd type="none" w="med" len="med"/>
                      <a:tailEnd type="none" w="med" len="med"/>
                    </a:lnL>
                    <a:lnR w="6350" cap="flat" cmpd="sng" algn="ctr">
                      <a:solidFill>
                        <a:srgbClr val="2A3A6A"/>
                      </a:solidFill>
                      <a:prstDash val="solid"/>
                      <a:round/>
                      <a:headEnd type="none" w="med" len="med"/>
                      <a:tailEnd type="none" w="med" len="med"/>
                    </a:lnR>
                    <a:lnT w="6350" cap="flat" cmpd="sng" algn="ctr">
                      <a:solidFill>
                        <a:srgbClr val="2A3A6A"/>
                      </a:solidFill>
                      <a:prstDash val="solid"/>
                      <a:round/>
                      <a:headEnd type="none" w="med" len="med"/>
                      <a:tailEnd type="none" w="med" len="med"/>
                    </a:lnT>
                    <a:lnB w="6350" cap="flat" cmpd="sng" algn="ctr">
                      <a:solidFill>
                        <a:srgbClr val="2A3A6A"/>
                      </a:solidFill>
                      <a:prstDash val="solid"/>
                      <a:round/>
                      <a:headEnd type="none" w="med" len="med"/>
                      <a:tailEnd type="none" w="med" len="med"/>
                    </a:lnB>
                    <a:solidFill>
                      <a:srgbClr val="0D1B3E"/>
                    </a:solidFill>
                  </a:tcPr>
                </a:tc>
                <a:extLst>
                  <a:ext uri="{0D108BD9-81ED-4DB2-BD59-A6C34878D82A}">
                    <a16:rowId xmlns:a16="http://schemas.microsoft.com/office/drawing/2014/main" val="10001"/>
                  </a:ext>
                </a:extLst>
              </a:tr>
              <a:tr h="594360">
                <a:tc>
                  <a:txBody>
                    <a:bodyPr/>
                    <a:lstStyle/>
                    <a:p>
                      <a:pPr marL="0" indent="0">
                        <a:buNone/>
                      </a:pPr>
                      <a:r>
                        <a:rPr lang="en-US" sz="1100" dirty="0">
                          <a:solidFill>
                            <a:srgbClr val="FFFFFF"/>
                          </a:solidFill>
                          <a:latin typeface="Times New Roman" pitchFamily="34" charset="0"/>
                          <a:ea typeface="Times New Roman" pitchFamily="34" charset="-122"/>
                          <a:cs typeface="Times New Roman" pitchFamily="34" charset="-120"/>
                        </a:rPr>
                        <a:t>2.</a:t>
                      </a:r>
                      <a:endParaRPr lang="en-US" sz="1100" dirty="0">
                        <a:latin typeface="Times New Roman" charset="0"/>
                        <a:ea typeface="Times New Roman" charset="0"/>
                        <a:cs typeface="Times New Roman" charset="0"/>
                      </a:endParaRPr>
                    </a:p>
                  </a:txBody>
                  <a:tcPr>
                    <a:lnL w="6350" cap="flat" cmpd="sng" algn="ctr">
                      <a:solidFill>
                        <a:srgbClr val="2A3A6A"/>
                      </a:solidFill>
                      <a:prstDash val="solid"/>
                      <a:round/>
                      <a:headEnd type="none" w="med" len="med"/>
                      <a:tailEnd type="none" w="med" len="med"/>
                    </a:lnL>
                    <a:lnR w="6350" cap="flat" cmpd="sng" algn="ctr">
                      <a:solidFill>
                        <a:srgbClr val="2A3A6A"/>
                      </a:solidFill>
                      <a:prstDash val="solid"/>
                      <a:round/>
                      <a:headEnd type="none" w="med" len="med"/>
                      <a:tailEnd type="none" w="med" len="med"/>
                    </a:lnR>
                    <a:lnT w="6350" cap="flat" cmpd="sng" algn="ctr">
                      <a:solidFill>
                        <a:srgbClr val="2A3A6A"/>
                      </a:solidFill>
                      <a:prstDash val="solid"/>
                      <a:round/>
                      <a:headEnd type="none" w="med" len="med"/>
                      <a:tailEnd type="none" w="med" len="med"/>
                    </a:lnT>
                    <a:lnB w="6350" cap="flat" cmpd="sng" algn="ctr">
                      <a:solidFill>
                        <a:srgbClr val="2A3A6A"/>
                      </a:solidFill>
                      <a:prstDash val="solid"/>
                      <a:round/>
                      <a:headEnd type="none" w="med" len="med"/>
                      <a:tailEnd type="none" w="med" len="med"/>
                    </a:lnB>
                    <a:solidFill>
                      <a:srgbClr val="1A2744"/>
                    </a:solidFill>
                  </a:tcPr>
                </a:tc>
                <a:tc>
                  <a:txBody>
                    <a:bodyPr/>
                    <a:lstStyle/>
                    <a:p>
                      <a:pPr marL="0" indent="0">
                        <a:buNone/>
                      </a:pPr>
                      <a:r>
                        <a:rPr lang="en-US" sz="1100" dirty="0">
                          <a:solidFill>
                            <a:srgbClr val="FFFFFF"/>
                          </a:solidFill>
                          <a:latin typeface="Times New Roman" pitchFamily="34" charset="0"/>
                          <a:ea typeface="Times New Roman" pitchFamily="34" charset="-122"/>
                          <a:cs typeface="Times New Roman" pitchFamily="34" charset="-120"/>
                        </a:rPr>
                        <a:t>Khan et al. (2021)</a:t>
                      </a:r>
                      <a:endParaRPr lang="en-US" sz="1100" dirty="0">
                        <a:latin typeface="Times New Roman" charset="0"/>
                        <a:ea typeface="Times New Roman" charset="0"/>
                        <a:cs typeface="Times New Roman" charset="0"/>
                      </a:endParaRPr>
                    </a:p>
                    <a:p>
                      <a:pPr marL="0" indent="0">
                        <a:buNone/>
                      </a:pPr>
                      <a:r>
                        <a:rPr lang="en-US" sz="1100" dirty="0">
                          <a:solidFill>
                            <a:srgbClr val="FFFFFF"/>
                          </a:solidFill>
                          <a:latin typeface="Times New Roman" pitchFamily="34" charset="0"/>
                          <a:ea typeface="Times New Roman" pitchFamily="34" charset="-122"/>
                          <a:cs typeface="Times New Roman" pitchFamily="34" charset="-120"/>
                        </a:rPr>
                        <a:t>Energies Journal</a:t>
                      </a:r>
                      <a:endParaRPr lang="en-US" sz="1100" dirty="0">
                        <a:latin typeface="Times New Roman" charset="0"/>
                        <a:ea typeface="Times New Roman" charset="0"/>
                        <a:cs typeface="Times New Roman" charset="0"/>
                      </a:endParaRPr>
                    </a:p>
                  </a:txBody>
                  <a:tcPr>
                    <a:lnL w="6350" cap="flat" cmpd="sng" algn="ctr">
                      <a:solidFill>
                        <a:srgbClr val="2A3A6A"/>
                      </a:solidFill>
                      <a:prstDash val="solid"/>
                      <a:round/>
                      <a:headEnd type="none" w="med" len="med"/>
                      <a:tailEnd type="none" w="med" len="med"/>
                    </a:lnL>
                    <a:lnR w="6350" cap="flat" cmpd="sng" algn="ctr">
                      <a:solidFill>
                        <a:srgbClr val="2A3A6A"/>
                      </a:solidFill>
                      <a:prstDash val="solid"/>
                      <a:round/>
                      <a:headEnd type="none" w="med" len="med"/>
                      <a:tailEnd type="none" w="med" len="med"/>
                    </a:lnR>
                    <a:lnT w="6350" cap="flat" cmpd="sng" algn="ctr">
                      <a:solidFill>
                        <a:srgbClr val="2A3A6A"/>
                      </a:solidFill>
                      <a:prstDash val="solid"/>
                      <a:round/>
                      <a:headEnd type="none" w="med" len="med"/>
                      <a:tailEnd type="none" w="med" len="med"/>
                    </a:lnT>
                    <a:lnB w="6350" cap="flat" cmpd="sng" algn="ctr">
                      <a:solidFill>
                        <a:srgbClr val="2A3A6A"/>
                      </a:solidFill>
                      <a:prstDash val="solid"/>
                      <a:round/>
                      <a:headEnd type="none" w="med" len="med"/>
                      <a:tailEnd type="none" w="med" len="med"/>
                    </a:lnB>
                    <a:solidFill>
                      <a:srgbClr val="1A2744"/>
                    </a:solidFill>
                  </a:tcPr>
                </a:tc>
                <a:tc>
                  <a:txBody>
                    <a:bodyPr/>
                    <a:lstStyle/>
                    <a:p>
                      <a:pPr marL="0" indent="0">
                        <a:buNone/>
                      </a:pPr>
                      <a:r>
                        <a:rPr lang="en-US" sz="1100" dirty="0">
                          <a:solidFill>
                            <a:srgbClr val="FFFFFF"/>
                          </a:solidFill>
                          <a:latin typeface="Times New Roman" pitchFamily="34" charset="0"/>
                          <a:ea typeface="Times New Roman" pitchFamily="34" charset="-122"/>
                          <a:cs typeface="Times New Roman" pitchFamily="34" charset="-120"/>
                        </a:rPr>
                        <a:t>Hybrid wind-solar system reduces diesel use by 70% in arid farm regions</a:t>
                      </a:r>
                      <a:endParaRPr lang="en-US" sz="1100" dirty="0">
                        <a:latin typeface="Times New Roman" charset="0"/>
                        <a:ea typeface="Times New Roman" charset="0"/>
                        <a:cs typeface="Times New Roman" charset="0"/>
                      </a:endParaRPr>
                    </a:p>
                  </a:txBody>
                  <a:tcPr>
                    <a:lnL w="6350" cap="flat" cmpd="sng" algn="ctr">
                      <a:solidFill>
                        <a:srgbClr val="2A3A6A"/>
                      </a:solidFill>
                      <a:prstDash val="solid"/>
                      <a:round/>
                      <a:headEnd type="none" w="med" len="med"/>
                      <a:tailEnd type="none" w="med" len="med"/>
                    </a:lnL>
                    <a:lnR w="6350" cap="flat" cmpd="sng" algn="ctr">
                      <a:solidFill>
                        <a:srgbClr val="2A3A6A"/>
                      </a:solidFill>
                      <a:prstDash val="solid"/>
                      <a:round/>
                      <a:headEnd type="none" w="med" len="med"/>
                      <a:tailEnd type="none" w="med" len="med"/>
                    </a:lnR>
                    <a:lnT w="6350" cap="flat" cmpd="sng" algn="ctr">
                      <a:solidFill>
                        <a:srgbClr val="2A3A6A"/>
                      </a:solidFill>
                      <a:prstDash val="solid"/>
                      <a:round/>
                      <a:headEnd type="none" w="med" len="med"/>
                      <a:tailEnd type="none" w="med" len="med"/>
                    </a:lnT>
                    <a:lnB w="6350" cap="flat" cmpd="sng" algn="ctr">
                      <a:solidFill>
                        <a:srgbClr val="2A3A6A"/>
                      </a:solidFill>
                      <a:prstDash val="solid"/>
                      <a:round/>
                      <a:headEnd type="none" w="med" len="med"/>
                      <a:tailEnd type="none" w="med" len="med"/>
                    </a:lnB>
                    <a:solidFill>
                      <a:srgbClr val="1A2744"/>
                    </a:solidFill>
                  </a:tcPr>
                </a:tc>
                <a:tc>
                  <a:txBody>
                    <a:bodyPr/>
                    <a:lstStyle/>
                    <a:p>
                      <a:pPr marL="0" indent="0">
                        <a:buNone/>
                      </a:pPr>
                      <a:r>
                        <a:rPr lang="en-US" sz="1100" dirty="0">
                          <a:solidFill>
                            <a:srgbClr val="FFFFFF"/>
                          </a:solidFill>
                          <a:latin typeface="Times New Roman" pitchFamily="34" charset="0"/>
                          <a:ea typeface="Times New Roman" pitchFamily="34" charset="-122"/>
                          <a:cs typeface="Times New Roman" pitchFamily="34" charset="-120"/>
                        </a:rPr>
                        <a:t>70%</a:t>
                      </a:r>
                      <a:endParaRPr lang="en-US" sz="1100" dirty="0">
                        <a:latin typeface="Times New Roman" charset="0"/>
                        <a:ea typeface="Times New Roman" charset="0"/>
                        <a:cs typeface="Times New Roman" charset="0"/>
                      </a:endParaRPr>
                    </a:p>
                  </a:txBody>
                  <a:tcPr>
                    <a:lnL w="6350" cap="flat" cmpd="sng" algn="ctr">
                      <a:solidFill>
                        <a:srgbClr val="2A3A6A"/>
                      </a:solidFill>
                      <a:prstDash val="solid"/>
                      <a:round/>
                      <a:headEnd type="none" w="med" len="med"/>
                      <a:tailEnd type="none" w="med" len="med"/>
                    </a:lnL>
                    <a:lnR w="6350" cap="flat" cmpd="sng" algn="ctr">
                      <a:solidFill>
                        <a:srgbClr val="2A3A6A"/>
                      </a:solidFill>
                      <a:prstDash val="solid"/>
                      <a:round/>
                      <a:headEnd type="none" w="med" len="med"/>
                      <a:tailEnd type="none" w="med" len="med"/>
                    </a:lnR>
                    <a:lnT w="6350" cap="flat" cmpd="sng" algn="ctr">
                      <a:solidFill>
                        <a:srgbClr val="2A3A6A"/>
                      </a:solidFill>
                      <a:prstDash val="solid"/>
                      <a:round/>
                      <a:headEnd type="none" w="med" len="med"/>
                      <a:tailEnd type="none" w="med" len="med"/>
                    </a:lnT>
                    <a:lnB w="6350" cap="flat" cmpd="sng" algn="ctr">
                      <a:solidFill>
                        <a:srgbClr val="2A3A6A"/>
                      </a:solidFill>
                      <a:prstDash val="solid"/>
                      <a:round/>
                      <a:headEnd type="none" w="med" len="med"/>
                      <a:tailEnd type="none" w="med" len="med"/>
                    </a:lnB>
                    <a:solidFill>
                      <a:srgbClr val="1A2744"/>
                    </a:solidFill>
                  </a:tcPr>
                </a:tc>
                <a:extLst>
                  <a:ext uri="{0D108BD9-81ED-4DB2-BD59-A6C34878D82A}">
                    <a16:rowId xmlns:a16="http://schemas.microsoft.com/office/drawing/2014/main" val="10002"/>
                  </a:ext>
                </a:extLst>
              </a:tr>
              <a:tr h="594360">
                <a:tc>
                  <a:txBody>
                    <a:bodyPr/>
                    <a:lstStyle/>
                    <a:p>
                      <a:pPr marL="0" indent="0">
                        <a:buNone/>
                      </a:pPr>
                      <a:r>
                        <a:rPr lang="en-US" sz="1100" dirty="0">
                          <a:solidFill>
                            <a:srgbClr val="FFFFFF"/>
                          </a:solidFill>
                          <a:latin typeface="Times New Roman" pitchFamily="34" charset="0"/>
                          <a:ea typeface="Times New Roman" pitchFamily="34" charset="-122"/>
                          <a:cs typeface="Times New Roman" pitchFamily="34" charset="-120"/>
                        </a:rPr>
                        <a:t>3.</a:t>
                      </a:r>
                      <a:endParaRPr lang="en-US" sz="1100" dirty="0">
                        <a:latin typeface="Times New Roman" charset="0"/>
                        <a:ea typeface="Times New Roman" charset="0"/>
                        <a:cs typeface="Times New Roman" charset="0"/>
                      </a:endParaRPr>
                    </a:p>
                  </a:txBody>
                  <a:tcPr>
                    <a:lnL w="6350" cap="flat" cmpd="sng" algn="ctr">
                      <a:solidFill>
                        <a:srgbClr val="2A3A6A"/>
                      </a:solidFill>
                      <a:prstDash val="solid"/>
                      <a:round/>
                      <a:headEnd type="none" w="med" len="med"/>
                      <a:tailEnd type="none" w="med" len="med"/>
                    </a:lnL>
                    <a:lnR w="6350" cap="flat" cmpd="sng" algn="ctr">
                      <a:solidFill>
                        <a:srgbClr val="2A3A6A"/>
                      </a:solidFill>
                      <a:prstDash val="solid"/>
                      <a:round/>
                      <a:headEnd type="none" w="med" len="med"/>
                      <a:tailEnd type="none" w="med" len="med"/>
                    </a:lnR>
                    <a:lnT w="6350" cap="flat" cmpd="sng" algn="ctr">
                      <a:solidFill>
                        <a:srgbClr val="2A3A6A"/>
                      </a:solidFill>
                      <a:prstDash val="solid"/>
                      <a:round/>
                      <a:headEnd type="none" w="med" len="med"/>
                      <a:tailEnd type="none" w="med" len="med"/>
                    </a:lnT>
                    <a:lnB w="6350" cap="flat" cmpd="sng" algn="ctr">
                      <a:solidFill>
                        <a:srgbClr val="2A3A6A"/>
                      </a:solidFill>
                      <a:prstDash val="solid"/>
                      <a:round/>
                      <a:headEnd type="none" w="med" len="med"/>
                      <a:tailEnd type="none" w="med" len="med"/>
                    </a:lnB>
                    <a:solidFill>
                      <a:srgbClr val="0D1B3E"/>
                    </a:solidFill>
                  </a:tcPr>
                </a:tc>
                <a:tc>
                  <a:txBody>
                    <a:bodyPr/>
                    <a:lstStyle/>
                    <a:p>
                      <a:pPr marL="0" indent="0">
                        <a:buNone/>
                      </a:pPr>
                      <a:r>
                        <a:rPr lang="en-US" sz="1100" dirty="0">
                          <a:solidFill>
                            <a:srgbClr val="FFFFFF"/>
                          </a:solidFill>
                          <a:latin typeface="Times New Roman" pitchFamily="34" charset="0"/>
                          <a:ea typeface="Times New Roman" pitchFamily="34" charset="-122"/>
                          <a:cs typeface="Times New Roman" pitchFamily="34" charset="-120"/>
                        </a:rPr>
                        <a:t>Usman et al. (2024)</a:t>
                      </a:r>
                      <a:endParaRPr lang="en-US" sz="1100" dirty="0">
                        <a:latin typeface="Times New Roman" charset="0"/>
                        <a:ea typeface="Times New Roman" charset="0"/>
                        <a:cs typeface="Times New Roman" charset="0"/>
                      </a:endParaRPr>
                    </a:p>
                    <a:p>
                      <a:pPr marL="0" indent="0">
                        <a:buNone/>
                      </a:pPr>
                      <a:r>
                        <a:rPr lang="en-US" sz="1100" dirty="0">
                          <a:solidFill>
                            <a:srgbClr val="FFFFFF"/>
                          </a:solidFill>
                          <a:latin typeface="Times New Roman" pitchFamily="34" charset="0"/>
                          <a:ea typeface="Times New Roman" pitchFamily="34" charset="-122"/>
                          <a:cs typeface="Times New Roman" pitchFamily="34" charset="-120"/>
                        </a:rPr>
                        <a:t>Elektrika Journal</a:t>
                      </a:r>
                      <a:endParaRPr lang="en-US" sz="1100" dirty="0">
                        <a:latin typeface="Times New Roman" charset="0"/>
                        <a:ea typeface="Times New Roman" charset="0"/>
                        <a:cs typeface="Times New Roman" charset="0"/>
                      </a:endParaRPr>
                    </a:p>
                  </a:txBody>
                  <a:tcPr>
                    <a:lnL w="6350" cap="flat" cmpd="sng" algn="ctr">
                      <a:solidFill>
                        <a:srgbClr val="2A3A6A"/>
                      </a:solidFill>
                      <a:prstDash val="solid"/>
                      <a:round/>
                      <a:headEnd type="none" w="med" len="med"/>
                      <a:tailEnd type="none" w="med" len="med"/>
                    </a:lnL>
                    <a:lnR w="6350" cap="flat" cmpd="sng" algn="ctr">
                      <a:solidFill>
                        <a:srgbClr val="2A3A6A"/>
                      </a:solidFill>
                      <a:prstDash val="solid"/>
                      <a:round/>
                      <a:headEnd type="none" w="med" len="med"/>
                      <a:tailEnd type="none" w="med" len="med"/>
                    </a:lnR>
                    <a:lnT w="6350" cap="flat" cmpd="sng" algn="ctr">
                      <a:solidFill>
                        <a:srgbClr val="2A3A6A"/>
                      </a:solidFill>
                      <a:prstDash val="solid"/>
                      <a:round/>
                      <a:headEnd type="none" w="med" len="med"/>
                      <a:tailEnd type="none" w="med" len="med"/>
                    </a:lnT>
                    <a:lnB w="6350" cap="flat" cmpd="sng" algn="ctr">
                      <a:solidFill>
                        <a:srgbClr val="2A3A6A"/>
                      </a:solidFill>
                      <a:prstDash val="solid"/>
                      <a:round/>
                      <a:headEnd type="none" w="med" len="med"/>
                      <a:tailEnd type="none" w="med" len="med"/>
                    </a:lnB>
                    <a:solidFill>
                      <a:srgbClr val="0D1B3E"/>
                    </a:solidFill>
                  </a:tcPr>
                </a:tc>
                <a:tc>
                  <a:txBody>
                    <a:bodyPr/>
                    <a:lstStyle/>
                    <a:p>
                      <a:pPr marL="0" indent="0">
                        <a:buNone/>
                      </a:pPr>
                      <a:r>
                        <a:rPr lang="en-US" sz="1100" dirty="0">
                          <a:solidFill>
                            <a:srgbClr val="FFFFFF"/>
                          </a:solidFill>
                          <a:latin typeface="Times New Roman" pitchFamily="34" charset="0"/>
                          <a:ea typeface="Times New Roman" pitchFamily="34" charset="-122"/>
                          <a:cs typeface="Times New Roman" pitchFamily="34" charset="-120"/>
                        </a:rPr>
                        <a:t>Wind-powered agriculture improves crop yield and economic gains significantly</a:t>
                      </a:r>
                      <a:endParaRPr lang="en-US" sz="1100" dirty="0">
                        <a:latin typeface="Times New Roman" charset="0"/>
                        <a:ea typeface="Times New Roman" charset="0"/>
                        <a:cs typeface="Times New Roman" charset="0"/>
                      </a:endParaRPr>
                    </a:p>
                  </a:txBody>
                  <a:tcPr>
                    <a:lnL w="6350" cap="flat" cmpd="sng" algn="ctr">
                      <a:solidFill>
                        <a:srgbClr val="2A3A6A"/>
                      </a:solidFill>
                      <a:prstDash val="solid"/>
                      <a:round/>
                      <a:headEnd type="none" w="med" len="med"/>
                      <a:tailEnd type="none" w="med" len="med"/>
                    </a:lnL>
                    <a:lnR w="6350" cap="flat" cmpd="sng" algn="ctr">
                      <a:solidFill>
                        <a:srgbClr val="2A3A6A"/>
                      </a:solidFill>
                      <a:prstDash val="solid"/>
                      <a:round/>
                      <a:headEnd type="none" w="med" len="med"/>
                      <a:tailEnd type="none" w="med" len="med"/>
                    </a:lnR>
                    <a:lnT w="6350" cap="flat" cmpd="sng" algn="ctr">
                      <a:solidFill>
                        <a:srgbClr val="2A3A6A"/>
                      </a:solidFill>
                      <a:prstDash val="solid"/>
                      <a:round/>
                      <a:headEnd type="none" w="med" len="med"/>
                      <a:tailEnd type="none" w="med" len="med"/>
                    </a:lnT>
                    <a:lnB w="6350" cap="flat" cmpd="sng" algn="ctr">
                      <a:solidFill>
                        <a:srgbClr val="2A3A6A"/>
                      </a:solidFill>
                      <a:prstDash val="solid"/>
                      <a:round/>
                      <a:headEnd type="none" w="med" len="med"/>
                      <a:tailEnd type="none" w="med" len="med"/>
                    </a:lnB>
                    <a:solidFill>
                      <a:srgbClr val="0D1B3E"/>
                    </a:solidFill>
                  </a:tcPr>
                </a:tc>
                <a:tc>
                  <a:txBody>
                    <a:bodyPr/>
                    <a:lstStyle/>
                    <a:p>
                      <a:pPr marL="0" indent="0">
                        <a:buNone/>
                      </a:pPr>
                      <a:r>
                        <a:rPr lang="en-US" sz="1100" dirty="0">
                          <a:solidFill>
                            <a:srgbClr val="FFFFFF"/>
                          </a:solidFill>
                          <a:latin typeface="Times New Roman" pitchFamily="34" charset="0"/>
                          <a:ea typeface="Times New Roman" pitchFamily="34" charset="-122"/>
                          <a:cs typeface="Times New Roman" pitchFamily="34" charset="-120"/>
                        </a:rPr>
                        <a:t>85%</a:t>
                      </a:r>
                      <a:endParaRPr lang="en-US" sz="1100" dirty="0">
                        <a:latin typeface="Times New Roman" charset="0"/>
                        <a:ea typeface="Times New Roman" charset="0"/>
                        <a:cs typeface="Times New Roman" charset="0"/>
                      </a:endParaRPr>
                    </a:p>
                  </a:txBody>
                  <a:tcPr>
                    <a:lnL w="6350" cap="flat" cmpd="sng" algn="ctr">
                      <a:solidFill>
                        <a:srgbClr val="2A3A6A"/>
                      </a:solidFill>
                      <a:prstDash val="solid"/>
                      <a:round/>
                      <a:headEnd type="none" w="med" len="med"/>
                      <a:tailEnd type="none" w="med" len="med"/>
                    </a:lnL>
                    <a:lnR w="6350" cap="flat" cmpd="sng" algn="ctr">
                      <a:solidFill>
                        <a:srgbClr val="2A3A6A"/>
                      </a:solidFill>
                      <a:prstDash val="solid"/>
                      <a:round/>
                      <a:headEnd type="none" w="med" len="med"/>
                      <a:tailEnd type="none" w="med" len="med"/>
                    </a:lnR>
                    <a:lnT w="6350" cap="flat" cmpd="sng" algn="ctr">
                      <a:solidFill>
                        <a:srgbClr val="2A3A6A"/>
                      </a:solidFill>
                      <a:prstDash val="solid"/>
                      <a:round/>
                      <a:headEnd type="none" w="med" len="med"/>
                      <a:tailEnd type="none" w="med" len="med"/>
                    </a:lnT>
                    <a:lnB w="6350" cap="flat" cmpd="sng" algn="ctr">
                      <a:solidFill>
                        <a:srgbClr val="2A3A6A"/>
                      </a:solidFill>
                      <a:prstDash val="solid"/>
                      <a:round/>
                      <a:headEnd type="none" w="med" len="med"/>
                      <a:tailEnd type="none" w="med" len="med"/>
                    </a:lnB>
                    <a:solidFill>
                      <a:srgbClr val="0D1B3E"/>
                    </a:solidFill>
                  </a:tcPr>
                </a:tc>
                <a:extLst>
                  <a:ext uri="{0D108BD9-81ED-4DB2-BD59-A6C34878D82A}">
                    <a16:rowId xmlns:a16="http://schemas.microsoft.com/office/drawing/2014/main" val="10003"/>
                  </a:ext>
                </a:extLst>
              </a:tr>
              <a:tr h="594360">
                <a:tc>
                  <a:txBody>
                    <a:bodyPr/>
                    <a:lstStyle/>
                    <a:p>
                      <a:pPr marL="0" indent="0">
                        <a:buNone/>
                      </a:pPr>
                      <a:r>
                        <a:rPr lang="en-US" sz="1100" dirty="0">
                          <a:solidFill>
                            <a:srgbClr val="FFFFFF"/>
                          </a:solidFill>
                          <a:latin typeface="Times New Roman" pitchFamily="34" charset="0"/>
                          <a:ea typeface="Times New Roman" pitchFamily="34" charset="-122"/>
                          <a:cs typeface="Times New Roman" pitchFamily="34" charset="-120"/>
                        </a:rPr>
                        <a:t>4.</a:t>
                      </a:r>
                      <a:endParaRPr lang="en-US" sz="1100" dirty="0">
                        <a:latin typeface="Times New Roman" charset="0"/>
                        <a:ea typeface="Times New Roman" charset="0"/>
                        <a:cs typeface="Times New Roman" charset="0"/>
                      </a:endParaRPr>
                    </a:p>
                  </a:txBody>
                  <a:tcPr>
                    <a:lnL w="6350" cap="flat" cmpd="sng" algn="ctr">
                      <a:solidFill>
                        <a:srgbClr val="2A3A6A"/>
                      </a:solidFill>
                      <a:prstDash val="solid"/>
                      <a:round/>
                      <a:headEnd type="none" w="med" len="med"/>
                      <a:tailEnd type="none" w="med" len="med"/>
                    </a:lnL>
                    <a:lnR w="6350" cap="flat" cmpd="sng" algn="ctr">
                      <a:solidFill>
                        <a:srgbClr val="2A3A6A"/>
                      </a:solidFill>
                      <a:prstDash val="solid"/>
                      <a:round/>
                      <a:headEnd type="none" w="med" len="med"/>
                      <a:tailEnd type="none" w="med" len="med"/>
                    </a:lnR>
                    <a:lnT w="6350" cap="flat" cmpd="sng" algn="ctr">
                      <a:solidFill>
                        <a:srgbClr val="2A3A6A"/>
                      </a:solidFill>
                      <a:prstDash val="solid"/>
                      <a:round/>
                      <a:headEnd type="none" w="med" len="med"/>
                      <a:tailEnd type="none" w="med" len="med"/>
                    </a:lnT>
                    <a:lnB w="6350" cap="flat" cmpd="sng" algn="ctr">
                      <a:solidFill>
                        <a:srgbClr val="2A3A6A"/>
                      </a:solidFill>
                      <a:prstDash val="solid"/>
                      <a:round/>
                      <a:headEnd type="none" w="med" len="med"/>
                      <a:tailEnd type="none" w="med" len="med"/>
                    </a:lnB>
                    <a:solidFill>
                      <a:srgbClr val="1A2744"/>
                    </a:solidFill>
                  </a:tcPr>
                </a:tc>
                <a:tc>
                  <a:txBody>
                    <a:bodyPr/>
                    <a:lstStyle/>
                    <a:p>
                      <a:pPr marL="0" indent="0">
                        <a:buNone/>
                      </a:pPr>
                      <a:r>
                        <a:rPr lang="en-US" sz="1100" dirty="0">
                          <a:solidFill>
                            <a:srgbClr val="FFFFFF"/>
                          </a:solidFill>
                          <a:latin typeface="Times New Roman" pitchFamily="34" charset="0"/>
                          <a:ea typeface="Times New Roman" pitchFamily="34" charset="-122"/>
                          <a:cs typeface="Times New Roman" pitchFamily="34" charset="-120"/>
                        </a:rPr>
                        <a:t>Daoudi (2025)</a:t>
                      </a:r>
                      <a:endParaRPr lang="en-US" sz="1100" dirty="0">
                        <a:latin typeface="Times New Roman" charset="0"/>
                        <a:ea typeface="Times New Roman" charset="0"/>
                        <a:cs typeface="Times New Roman" charset="0"/>
                      </a:endParaRPr>
                    </a:p>
                    <a:p>
                      <a:pPr marL="0" indent="0">
                        <a:buNone/>
                      </a:pPr>
                      <a:r>
                        <a:rPr lang="en-US" sz="1100" dirty="0">
                          <a:solidFill>
                            <a:srgbClr val="FFFFFF"/>
                          </a:solidFill>
                          <a:latin typeface="Times New Roman" pitchFamily="34" charset="0"/>
                          <a:ea typeface="Times New Roman" pitchFamily="34" charset="-122"/>
                          <a:cs typeface="Times New Roman" pitchFamily="34" charset="-120"/>
                        </a:rPr>
                        <a:t>Cleaner Energy Sys.</a:t>
                      </a:r>
                      <a:endParaRPr lang="en-US" sz="1100" dirty="0">
                        <a:latin typeface="Times New Roman" charset="0"/>
                        <a:ea typeface="Times New Roman" charset="0"/>
                        <a:cs typeface="Times New Roman" charset="0"/>
                      </a:endParaRPr>
                    </a:p>
                  </a:txBody>
                  <a:tcPr>
                    <a:lnL w="6350" cap="flat" cmpd="sng" algn="ctr">
                      <a:solidFill>
                        <a:srgbClr val="2A3A6A"/>
                      </a:solidFill>
                      <a:prstDash val="solid"/>
                      <a:round/>
                      <a:headEnd type="none" w="med" len="med"/>
                      <a:tailEnd type="none" w="med" len="med"/>
                    </a:lnL>
                    <a:lnR w="6350" cap="flat" cmpd="sng" algn="ctr">
                      <a:solidFill>
                        <a:srgbClr val="2A3A6A"/>
                      </a:solidFill>
                      <a:prstDash val="solid"/>
                      <a:round/>
                      <a:headEnd type="none" w="med" len="med"/>
                      <a:tailEnd type="none" w="med" len="med"/>
                    </a:lnR>
                    <a:lnT w="6350" cap="flat" cmpd="sng" algn="ctr">
                      <a:solidFill>
                        <a:srgbClr val="2A3A6A"/>
                      </a:solidFill>
                      <a:prstDash val="solid"/>
                      <a:round/>
                      <a:headEnd type="none" w="med" len="med"/>
                      <a:tailEnd type="none" w="med" len="med"/>
                    </a:lnT>
                    <a:lnB w="6350" cap="flat" cmpd="sng" algn="ctr">
                      <a:solidFill>
                        <a:srgbClr val="2A3A6A"/>
                      </a:solidFill>
                      <a:prstDash val="solid"/>
                      <a:round/>
                      <a:headEnd type="none" w="med" len="med"/>
                      <a:tailEnd type="none" w="med" len="med"/>
                    </a:lnB>
                    <a:solidFill>
                      <a:srgbClr val="1A2744"/>
                    </a:solidFill>
                  </a:tcPr>
                </a:tc>
                <a:tc>
                  <a:txBody>
                    <a:bodyPr/>
                    <a:lstStyle/>
                    <a:p>
                      <a:pPr marL="0" indent="0">
                        <a:buNone/>
                      </a:pPr>
                      <a:r>
                        <a:rPr lang="en-US" sz="1100" dirty="0">
                          <a:solidFill>
                            <a:srgbClr val="FFFFFF"/>
                          </a:solidFill>
                          <a:latin typeface="Times New Roman" pitchFamily="34" charset="0"/>
                          <a:ea typeface="Times New Roman" pitchFamily="34" charset="-122"/>
                          <a:cs typeface="Times New Roman" pitchFamily="34" charset="-120"/>
                        </a:rPr>
                        <a:t>Wind + hydrogen energy gives zero-emission farming ecosystem outcomes</a:t>
                      </a:r>
                      <a:endParaRPr lang="en-US" sz="1100" dirty="0">
                        <a:latin typeface="Times New Roman" charset="0"/>
                        <a:ea typeface="Times New Roman" charset="0"/>
                        <a:cs typeface="Times New Roman" charset="0"/>
                      </a:endParaRPr>
                    </a:p>
                  </a:txBody>
                  <a:tcPr>
                    <a:lnL w="6350" cap="flat" cmpd="sng" algn="ctr">
                      <a:solidFill>
                        <a:srgbClr val="2A3A6A"/>
                      </a:solidFill>
                      <a:prstDash val="solid"/>
                      <a:round/>
                      <a:headEnd type="none" w="med" len="med"/>
                      <a:tailEnd type="none" w="med" len="med"/>
                    </a:lnL>
                    <a:lnR w="6350" cap="flat" cmpd="sng" algn="ctr">
                      <a:solidFill>
                        <a:srgbClr val="2A3A6A"/>
                      </a:solidFill>
                      <a:prstDash val="solid"/>
                      <a:round/>
                      <a:headEnd type="none" w="med" len="med"/>
                      <a:tailEnd type="none" w="med" len="med"/>
                    </a:lnR>
                    <a:lnT w="6350" cap="flat" cmpd="sng" algn="ctr">
                      <a:solidFill>
                        <a:srgbClr val="2A3A6A"/>
                      </a:solidFill>
                      <a:prstDash val="solid"/>
                      <a:round/>
                      <a:headEnd type="none" w="med" len="med"/>
                      <a:tailEnd type="none" w="med" len="med"/>
                    </a:lnT>
                    <a:lnB w="6350" cap="flat" cmpd="sng" algn="ctr">
                      <a:solidFill>
                        <a:srgbClr val="2A3A6A"/>
                      </a:solidFill>
                      <a:prstDash val="solid"/>
                      <a:round/>
                      <a:headEnd type="none" w="med" len="med"/>
                      <a:tailEnd type="none" w="med" len="med"/>
                    </a:lnB>
                    <a:solidFill>
                      <a:srgbClr val="1A2744"/>
                    </a:solidFill>
                  </a:tcPr>
                </a:tc>
                <a:tc>
                  <a:txBody>
                    <a:bodyPr/>
                    <a:lstStyle/>
                    <a:p>
                      <a:pPr marL="0" indent="0">
                        <a:buNone/>
                      </a:pPr>
                      <a:r>
                        <a:rPr lang="en-US" sz="1100" dirty="0">
                          <a:solidFill>
                            <a:srgbClr val="FFFFFF"/>
                          </a:solidFill>
                          <a:latin typeface="Times New Roman" pitchFamily="34" charset="0"/>
                          <a:ea typeface="Times New Roman" pitchFamily="34" charset="-122"/>
                          <a:cs typeface="Times New Roman" pitchFamily="34" charset="-120"/>
                        </a:rPr>
                        <a:t>90%</a:t>
                      </a:r>
                      <a:endParaRPr lang="en-US" sz="1100" dirty="0">
                        <a:latin typeface="Times New Roman" charset="0"/>
                        <a:ea typeface="Times New Roman" charset="0"/>
                        <a:cs typeface="Times New Roman" charset="0"/>
                      </a:endParaRPr>
                    </a:p>
                  </a:txBody>
                  <a:tcPr>
                    <a:lnL w="6350" cap="flat" cmpd="sng" algn="ctr">
                      <a:solidFill>
                        <a:srgbClr val="2A3A6A"/>
                      </a:solidFill>
                      <a:prstDash val="solid"/>
                      <a:round/>
                      <a:headEnd type="none" w="med" len="med"/>
                      <a:tailEnd type="none" w="med" len="med"/>
                    </a:lnL>
                    <a:lnR w="6350" cap="flat" cmpd="sng" algn="ctr">
                      <a:solidFill>
                        <a:srgbClr val="2A3A6A"/>
                      </a:solidFill>
                      <a:prstDash val="solid"/>
                      <a:round/>
                      <a:headEnd type="none" w="med" len="med"/>
                      <a:tailEnd type="none" w="med" len="med"/>
                    </a:lnR>
                    <a:lnT w="6350" cap="flat" cmpd="sng" algn="ctr">
                      <a:solidFill>
                        <a:srgbClr val="2A3A6A"/>
                      </a:solidFill>
                      <a:prstDash val="solid"/>
                      <a:round/>
                      <a:headEnd type="none" w="med" len="med"/>
                      <a:tailEnd type="none" w="med" len="med"/>
                    </a:lnT>
                    <a:lnB w="6350" cap="flat" cmpd="sng" algn="ctr">
                      <a:solidFill>
                        <a:srgbClr val="2A3A6A"/>
                      </a:solidFill>
                      <a:prstDash val="solid"/>
                      <a:round/>
                      <a:headEnd type="none" w="med" len="med"/>
                      <a:tailEnd type="none" w="med" len="med"/>
                    </a:lnB>
                    <a:solidFill>
                      <a:srgbClr val="1A2744"/>
                    </a:solidFill>
                  </a:tcPr>
                </a:tc>
                <a:extLst>
                  <a:ext uri="{0D108BD9-81ED-4DB2-BD59-A6C34878D82A}">
                    <a16:rowId xmlns:a16="http://schemas.microsoft.com/office/drawing/2014/main" val="10004"/>
                  </a:ext>
                </a:extLst>
              </a:tr>
              <a:tr h="594360">
                <a:tc>
                  <a:txBody>
                    <a:bodyPr/>
                    <a:lstStyle/>
                    <a:p>
                      <a:pPr marL="0" indent="0">
                        <a:buNone/>
                      </a:pPr>
                      <a:r>
                        <a:rPr lang="en-US" sz="1100" dirty="0">
                          <a:solidFill>
                            <a:srgbClr val="FFFFFF"/>
                          </a:solidFill>
                          <a:latin typeface="Times New Roman" pitchFamily="34" charset="0"/>
                          <a:ea typeface="Times New Roman" pitchFamily="34" charset="-122"/>
                          <a:cs typeface="Times New Roman" pitchFamily="34" charset="-120"/>
                        </a:rPr>
                        <a:t>5.</a:t>
                      </a:r>
                      <a:endParaRPr lang="en-US" sz="1100" dirty="0">
                        <a:latin typeface="Times New Roman" charset="0"/>
                        <a:ea typeface="Times New Roman" charset="0"/>
                        <a:cs typeface="Times New Roman" charset="0"/>
                      </a:endParaRPr>
                    </a:p>
                  </a:txBody>
                  <a:tcPr>
                    <a:lnL w="6350" cap="flat" cmpd="sng" algn="ctr">
                      <a:solidFill>
                        <a:srgbClr val="2A3A6A"/>
                      </a:solidFill>
                      <a:prstDash val="solid"/>
                      <a:round/>
                      <a:headEnd type="none" w="med" len="med"/>
                      <a:tailEnd type="none" w="med" len="med"/>
                    </a:lnL>
                    <a:lnR w="6350" cap="flat" cmpd="sng" algn="ctr">
                      <a:solidFill>
                        <a:srgbClr val="2A3A6A"/>
                      </a:solidFill>
                      <a:prstDash val="solid"/>
                      <a:round/>
                      <a:headEnd type="none" w="med" len="med"/>
                      <a:tailEnd type="none" w="med" len="med"/>
                    </a:lnR>
                    <a:lnT w="6350" cap="flat" cmpd="sng" algn="ctr">
                      <a:solidFill>
                        <a:srgbClr val="2A3A6A"/>
                      </a:solidFill>
                      <a:prstDash val="solid"/>
                      <a:round/>
                      <a:headEnd type="none" w="med" len="med"/>
                      <a:tailEnd type="none" w="med" len="med"/>
                    </a:lnT>
                    <a:lnB w="6350" cap="flat" cmpd="sng" algn="ctr">
                      <a:solidFill>
                        <a:srgbClr val="2A3A6A"/>
                      </a:solidFill>
                      <a:prstDash val="solid"/>
                      <a:round/>
                      <a:headEnd type="none" w="med" len="med"/>
                      <a:tailEnd type="none" w="med" len="med"/>
                    </a:lnB>
                    <a:solidFill>
                      <a:srgbClr val="0D1B3E"/>
                    </a:solidFill>
                  </a:tcPr>
                </a:tc>
                <a:tc>
                  <a:txBody>
                    <a:bodyPr/>
                    <a:lstStyle/>
                    <a:p>
                      <a:pPr marL="0" indent="0">
                        <a:buNone/>
                      </a:pPr>
                      <a:r>
                        <a:rPr lang="en-US" sz="1100" dirty="0">
                          <a:solidFill>
                            <a:srgbClr val="FFFFFF"/>
                          </a:solidFill>
                          <a:latin typeface="Times New Roman" pitchFamily="34" charset="0"/>
                          <a:ea typeface="Times New Roman" pitchFamily="34" charset="-122"/>
                          <a:cs typeface="Times New Roman" pitchFamily="34" charset="-120"/>
                        </a:rPr>
                        <a:t>Alemu et al. (2015)</a:t>
                      </a:r>
                      <a:endParaRPr lang="en-US" sz="1100" dirty="0">
                        <a:latin typeface="Times New Roman" charset="0"/>
                        <a:ea typeface="Times New Roman" charset="0"/>
                        <a:cs typeface="Times New Roman" charset="0"/>
                      </a:endParaRPr>
                    </a:p>
                    <a:p>
                      <a:pPr marL="0" indent="0">
                        <a:buNone/>
                      </a:pPr>
                      <a:r>
                        <a:rPr lang="en-US" sz="1100" dirty="0">
                          <a:solidFill>
                            <a:srgbClr val="FFFFFF"/>
                          </a:solidFill>
                          <a:latin typeface="Times New Roman" pitchFamily="34" charset="0"/>
                          <a:ea typeface="Times New Roman" pitchFamily="34" charset="-122"/>
                          <a:cs typeface="Times New Roman" pitchFamily="34" charset="-120"/>
                        </a:rPr>
                        <a:t>Ethiopian J. Sci.</a:t>
                      </a:r>
                      <a:endParaRPr lang="en-US" sz="1100" dirty="0">
                        <a:latin typeface="Times New Roman" charset="0"/>
                        <a:ea typeface="Times New Roman" charset="0"/>
                        <a:cs typeface="Times New Roman" charset="0"/>
                      </a:endParaRPr>
                    </a:p>
                  </a:txBody>
                  <a:tcPr>
                    <a:lnL w="6350" cap="flat" cmpd="sng" algn="ctr">
                      <a:solidFill>
                        <a:srgbClr val="2A3A6A"/>
                      </a:solidFill>
                      <a:prstDash val="solid"/>
                      <a:round/>
                      <a:headEnd type="none" w="med" len="med"/>
                      <a:tailEnd type="none" w="med" len="med"/>
                    </a:lnL>
                    <a:lnR w="6350" cap="flat" cmpd="sng" algn="ctr">
                      <a:solidFill>
                        <a:srgbClr val="2A3A6A"/>
                      </a:solidFill>
                      <a:prstDash val="solid"/>
                      <a:round/>
                      <a:headEnd type="none" w="med" len="med"/>
                      <a:tailEnd type="none" w="med" len="med"/>
                    </a:lnR>
                    <a:lnT w="6350" cap="flat" cmpd="sng" algn="ctr">
                      <a:solidFill>
                        <a:srgbClr val="2A3A6A"/>
                      </a:solidFill>
                      <a:prstDash val="solid"/>
                      <a:round/>
                      <a:headEnd type="none" w="med" len="med"/>
                      <a:tailEnd type="none" w="med" len="med"/>
                    </a:lnT>
                    <a:lnB w="6350" cap="flat" cmpd="sng" algn="ctr">
                      <a:solidFill>
                        <a:srgbClr val="2A3A6A"/>
                      </a:solidFill>
                      <a:prstDash val="solid"/>
                      <a:round/>
                      <a:headEnd type="none" w="med" len="med"/>
                      <a:tailEnd type="none" w="med" len="med"/>
                    </a:lnB>
                    <a:solidFill>
                      <a:srgbClr val="0D1B3E"/>
                    </a:solidFill>
                  </a:tcPr>
                </a:tc>
                <a:tc>
                  <a:txBody>
                    <a:bodyPr/>
                    <a:lstStyle/>
                    <a:p>
                      <a:pPr marL="0" indent="0">
                        <a:buNone/>
                      </a:pPr>
                      <a:r>
                        <a:rPr lang="en-US" sz="1100" dirty="0">
                          <a:solidFill>
                            <a:srgbClr val="FFFFFF"/>
                          </a:solidFill>
                          <a:latin typeface="Times New Roman" pitchFamily="34" charset="0"/>
                          <a:ea typeface="Times New Roman" pitchFamily="34" charset="-122"/>
                          <a:cs typeface="Times New Roman" pitchFamily="34" charset="-120"/>
                        </a:rPr>
                        <a:t>Wind pumps viable for remote irrigation, significantly cutting diesel use</a:t>
                      </a:r>
                      <a:endParaRPr lang="en-US" sz="1100" dirty="0">
                        <a:latin typeface="Times New Roman" charset="0"/>
                        <a:ea typeface="Times New Roman" charset="0"/>
                        <a:cs typeface="Times New Roman" charset="0"/>
                      </a:endParaRPr>
                    </a:p>
                  </a:txBody>
                  <a:tcPr>
                    <a:lnL w="6350" cap="flat" cmpd="sng" algn="ctr">
                      <a:solidFill>
                        <a:srgbClr val="2A3A6A"/>
                      </a:solidFill>
                      <a:prstDash val="solid"/>
                      <a:round/>
                      <a:headEnd type="none" w="med" len="med"/>
                      <a:tailEnd type="none" w="med" len="med"/>
                    </a:lnL>
                    <a:lnR w="6350" cap="flat" cmpd="sng" algn="ctr">
                      <a:solidFill>
                        <a:srgbClr val="2A3A6A"/>
                      </a:solidFill>
                      <a:prstDash val="solid"/>
                      <a:round/>
                      <a:headEnd type="none" w="med" len="med"/>
                      <a:tailEnd type="none" w="med" len="med"/>
                    </a:lnR>
                    <a:lnT w="6350" cap="flat" cmpd="sng" algn="ctr">
                      <a:solidFill>
                        <a:srgbClr val="2A3A6A"/>
                      </a:solidFill>
                      <a:prstDash val="solid"/>
                      <a:round/>
                      <a:headEnd type="none" w="med" len="med"/>
                      <a:tailEnd type="none" w="med" len="med"/>
                    </a:lnT>
                    <a:lnB w="6350" cap="flat" cmpd="sng" algn="ctr">
                      <a:solidFill>
                        <a:srgbClr val="2A3A6A"/>
                      </a:solidFill>
                      <a:prstDash val="solid"/>
                      <a:round/>
                      <a:headEnd type="none" w="med" len="med"/>
                      <a:tailEnd type="none" w="med" len="med"/>
                    </a:lnB>
                    <a:solidFill>
                      <a:srgbClr val="0D1B3E"/>
                    </a:solidFill>
                  </a:tcPr>
                </a:tc>
                <a:tc>
                  <a:txBody>
                    <a:bodyPr/>
                    <a:lstStyle/>
                    <a:p>
                      <a:pPr marL="0" indent="0">
                        <a:buNone/>
                      </a:pPr>
                      <a:r>
                        <a:rPr lang="en-US" sz="1100" dirty="0">
                          <a:solidFill>
                            <a:srgbClr val="FFFFFF"/>
                          </a:solidFill>
                          <a:latin typeface="Times New Roman" pitchFamily="34" charset="0"/>
                          <a:ea typeface="Times New Roman" pitchFamily="34" charset="-122"/>
                          <a:cs typeface="Times New Roman" pitchFamily="34" charset="-120"/>
                        </a:rPr>
                        <a:t>60–70%</a:t>
                      </a:r>
                      <a:endParaRPr lang="en-US" sz="1100" dirty="0">
                        <a:latin typeface="Times New Roman" charset="0"/>
                        <a:ea typeface="Times New Roman" charset="0"/>
                        <a:cs typeface="Times New Roman" charset="0"/>
                      </a:endParaRPr>
                    </a:p>
                  </a:txBody>
                  <a:tcPr>
                    <a:lnL w="6350" cap="flat" cmpd="sng" algn="ctr">
                      <a:solidFill>
                        <a:srgbClr val="2A3A6A"/>
                      </a:solidFill>
                      <a:prstDash val="solid"/>
                      <a:round/>
                      <a:headEnd type="none" w="med" len="med"/>
                      <a:tailEnd type="none" w="med" len="med"/>
                    </a:lnL>
                    <a:lnR w="6350" cap="flat" cmpd="sng" algn="ctr">
                      <a:solidFill>
                        <a:srgbClr val="2A3A6A"/>
                      </a:solidFill>
                      <a:prstDash val="solid"/>
                      <a:round/>
                      <a:headEnd type="none" w="med" len="med"/>
                      <a:tailEnd type="none" w="med" len="med"/>
                    </a:lnR>
                    <a:lnT w="6350" cap="flat" cmpd="sng" algn="ctr">
                      <a:solidFill>
                        <a:srgbClr val="2A3A6A"/>
                      </a:solidFill>
                      <a:prstDash val="solid"/>
                      <a:round/>
                      <a:headEnd type="none" w="med" len="med"/>
                      <a:tailEnd type="none" w="med" len="med"/>
                    </a:lnT>
                    <a:lnB w="6350" cap="flat" cmpd="sng" algn="ctr">
                      <a:solidFill>
                        <a:srgbClr val="2A3A6A"/>
                      </a:solidFill>
                      <a:prstDash val="solid"/>
                      <a:round/>
                      <a:headEnd type="none" w="med" len="med"/>
                      <a:tailEnd type="none" w="med" len="med"/>
                    </a:lnB>
                    <a:solidFill>
                      <a:srgbClr val="0D1B3E"/>
                    </a:solidFill>
                  </a:tcPr>
                </a:tc>
                <a:extLst>
                  <a:ext uri="{0D108BD9-81ED-4DB2-BD59-A6C34878D82A}">
                    <a16:rowId xmlns:a16="http://schemas.microsoft.com/office/drawing/2014/main" val="10005"/>
                  </a:ext>
                </a:extLst>
              </a:tr>
              <a:tr h="594360">
                <a:tc>
                  <a:txBody>
                    <a:bodyPr/>
                    <a:lstStyle/>
                    <a:p>
                      <a:pPr marL="0" indent="0">
                        <a:buNone/>
                      </a:pPr>
                      <a:r>
                        <a:rPr lang="en-US" sz="1100" dirty="0">
                          <a:solidFill>
                            <a:srgbClr val="FFFFFF"/>
                          </a:solidFill>
                          <a:latin typeface="Times New Roman" pitchFamily="34" charset="0"/>
                          <a:ea typeface="Times New Roman" pitchFamily="34" charset="-122"/>
                          <a:cs typeface="Times New Roman" pitchFamily="34" charset="-120"/>
                        </a:rPr>
                        <a:t>6.</a:t>
                      </a:r>
                      <a:endParaRPr lang="en-US" sz="1100" dirty="0">
                        <a:latin typeface="Times New Roman" charset="0"/>
                        <a:ea typeface="Times New Roman" charset="0"/>
                        <a:cs typeface="Times New Roman" charset="0"/>
                      </a:endParaRPr>
                    </a:p>
                  </a:txBody>
                  <a:tcPr>
                    <a:lnL w="6350" cap="flat" cmpd="sng" algn="ctr">
                      <a:solidFill>
                        <a:srgbClr val="2A3A6A"/>
                      </a:solidFill>
                      <a:prstDash val="solid"/>
                      <a:round/>
                      <a:headEnd type="none" w="med" len="med"/>
                      <a:tailEnd type="none" w="med" len="med"/>
                    </a:lnL>
                    <a:lnR w="6350" cap="flat" cmpd="sng" algn="ctr">
                      <a:solidFill>
                        <a:srgbClr val="2A3A6A"/>
                      </a:solidFill>
                      <a:prstDash val="solid"/>
                      <a:round/>
                      <a:headEnd type="none" w="med" len="med"/>
                      <a:tailEnd type="none" w="med" len="med"/>
                    </a:lnR>
                    <a:lnT w="6350" cap="flat" cmpd="sng" algn="ctr">
                      <a:solidFill>
                        <a:srgbClr val="2A3A6A"/>
                      </a:solidFill>
                      <a:prstDash val="solid"/>
                      <a:round/>
                      <a:headEnd type="none" w="med" len="med"/>
                      <a:tailEnd type="none" w="med" len="med"/>
                    </a:lnT>
                    <a:lnB w="6350" cap="flat" cmpd="sng" algn="ctr">
                      <a:solidFill>
                        <a:srgbClr val="2A3A6A"/>
                      </a:solidFill>
                      <a:prstDash val="solid"/>
                      <a:round/>
                      <a:headEnd type="none" w="med" len="med"/>
                      <a:tailEnd type="none" w="med" len="med"/>
                    </a:lnB>
                    <a:solidFill>
                      <a:srgbClr val="1A2744"/>
                    </a:solidFill>
                  </a:tcPr>
                </a:tc>
                <a:tc>
                  <a:txBody>
                    <a:bodyPr/>
                    <a:lstStyle/>
                    <a:p>
                      <a:pPr marL="0" indent="0">
                        <a:buNone/>
                      </a:pPr>
                      <a:r>
                        <a:rPr lang="en-US" sz="1100" dirty="0">
                          <a:solidFill>
                            <a:srgbClr val="FFFFFF"/>
                          </a:solidFill>
                          <a:latin typeface="Times New Roman" pitchFamily="34" charset="0"/>
                          <a:ea typeface="Times New Roman" pitchFamily="34" charset="-122"/>
                          <a:cs typeface="Times New Roman" pitchFamily="34" charset="-120"/>
                        </a:rPr>
                        <a:t>Zhou et al. (2017)</a:t>
                      </a:r>
                      <a:endParaRPr lang="en-US" sz="1100" dirty="0">
                        <a:latin typeface="Times New Roman" charset="0"/>
                        <a:ea typeface="Times New Roman" charset="0"/>
                        <a:cs typeface="Times New Roman" charset="0"/>
                      </a:endParaRPr>
                    </a:p>
                    <a:p>
                      <a:pPr marL="0" indent="0">
                        <a:buNone/>
                      </a:pPr>
                      <a:r>
                        <a:rPr lang="en-US" sz="1100" dirty="0">
                          <a:solidFill>
                            <a:srgbClr val="FFFFFF"/>
                          </a:solidFill>
                          <a:latin typeface="Times New Roman" pitchFamily="34" charset="0"/>
                          <a:ea typeface="Times New Roman" pitchFamily="34" charset="-122"/>
                          <a:cs typeface="Times New Roman" pitchFamily="34" charset="-120"/>
                        </a:rPr>
                        <a:t>Environ. Sci.</a:t>
                      </a:r>
                      <a:endParaRPr lang="en-US" sz="1100" dirty="0">
                        <a:latin typeface="Times New Roman" charset="0"/>
                        <a:ea typeface="Times New Roman" charset="0"/>
                        <a:cs typeface="Times New Roman" charset="0"/>
                      </a:endParaRPr>
                    </a:p>
                  </a:txBody>
                  <a:tcPr>
                    <a:lnL w="6350" cap="flat" cmpd="sng" algn="ctr">
                      <a:solidFill>
                        <a:srgbClr val="2A3A6A"/>
                      </a:solidFill>
                      <a:prstDash val="solid"/>
                      <a:round/>
                      <a:headEnd type="none" w="med" len="med"/>
                      <a:tailEnd type="none" w="med" len="med"/>
                    </a:lnL>
                    <a:lnR w="6350" cap="flat" cmpd="sng" algn="ctr">
                      <a:solidFill>
                        <a:srgbClr val="2A3A6A"/>
                      </a:solidFill>
                      <a:prstDash val="solid"/>
                      <a:round/>
                      <a:headEnd type="none" w="med" len="med"/>
                      <a:tailEnd type="none" w="med" len="med"/>
                    </a:lnR>
                    <a:lnT w="6350" cap="flat" cmpd="sng" algn="ctr">
                      <a:solidFill>
                        <a:srgbClr val="2A3A6A"/>
                      </a:solidFill>
                      <a:prstDash val="solid"/>
                      <a:round/>
                      <a:headEnd type="none" w="med" len="med"/>
                      <a:tailEnd type="none" w="med" len="med"/>
                    </a:lnT>
                    <a:lnB w="6350" cap="flat" cmpd="sng" algn="ctr">
                      <a:solidFill>
                        <a:srgbClr val="2A3A6A"/>
                      </a:solidFill>
                      <a:prstDash val="solid"/>
                      <a:round/>
                      <a:headEnd type="none" w="med" len="med"/>
                      <a:tailEnd type="none" w="med" len="med"/>
                    </a:lnB>
                    <a:solidFill>
                      <a:srgbClr val="1A2744"/>
                    </a:solidFill>
                  </a:tcPr>
                </a:tc>
                <a:tc>
                  <a:txBody>
                    <a:bodyPr/>
                    <a:lstStyle/>
                    <a:p>
                      <a:pPr marL="0" indent="0">
                        <a:buNone/>
                      </a:pPr>
                      <a:r>
                        <a:rPr lang="en-US" sz="1100" dirty="0">
                          <a:solidFill>
                            <a:srgbClr val="FFFFFF"/>
                          </a:solidFill>
                          <a:latin typeface="Times New Roman" pitchFamily="34" charset="0"/>
                          <a:ea typeface="Times New Roman" pitchFamily="34" charset="-122"/>
                          <a:cs typeface="Times New Roman" pitchFamily="34" charset="-120"/>
                        </a:rPr>
                        <a:t>Hybrid wind-solar systems ensure continuous supply in variable weather</a:t>
                      </a:r>
                      <a:endParaRPr lang="en-US" sz="1100" dirty="0">
                        <a:latin typeface="Times New Roman" charset="0"/>
                        <a:ea typeface="Times New Roman" charset="0"/>
                        <a:cs typeface="Times New Roman" charset="0"/>
                      </a:endParaRPr>
                    </a:p>
                  </a:txBody>
                  <a:tcPr>
                    <a:lnL w="6350" cap="flat" cmpd="sng" algn="ctr">
                      <a:solidFill>
                        <a:srgbClr val="2A3A6A"/>
                      </a:solidFill>
                      <a:prstDash val="solid"/>
                      <a:round/>
                      <a:headEnd type="none" w="med" len="med"/>
                      <a:tailEnd type="none" w="med" len="med"/>
                    </a:lnL>
                    <a:lnR w="6350" cap="flat" cmpd="sng" algn="ctr">
                      <a:solidFill>
                        <a:srgbClr val="2A3A6A"/>
                      </a:solidFill>
                      <a:prstDash val="solid"/>
                      <a:round/>
                      <a:headEnd type="none" w="med" len="med"/>
                      <a:tailEnd type="none" w="med" len="med"/>
                    </a:lnR>
                    <a:lnT w="6350" cap="flat" cmpd="sng" algn="ctr">
                      <a:solidFill>
                        <a:srgbClr val="2A3A6A"/>
                      </a:solidFill>
                      <a:prstDash val="solid"/>
                      <a:round/>
                      <a:headEnd type="none" w="med" len="med"/>
                      <a:tailEnd type="none" w="med" len="med"/>
                    </a:lnT>
                    <a:lnB w="6350" cap="flat" cmpd="sng" algn="ctr">
                      <a:solidFill>
                        <a:srgbClr val="2A3A6A"/>
                      </a:solidFill>
                      <a:prstDash val="solid"/>
                      <a:round/>
                      <a:headEnd type="none" w="med" len="med"/>
                      <a:tailEnd type="none" w="med" len="med"/>
                    </a:lnB>
                    <a:solidFill>
                      <a:srgbClr val="1A2744"/>
                    </a:solidFill>
                  </a:tcPr>
                </a:tc>
                <a:tc>
                  <a:txBody>
                    <a:bodyPr/>
                    <a:lstStyle/>
                    <a:p>
                      <a:pPr marL="0" indent="0">
                        <a:buNone/>
                      </a:pPr>
                      <a:r>
                        <a:rPr lang="en-US" sz="1100" dirty="0">
                          <a:solidFill>
                            <a:srgbClr val="FFFFFF"/>
                          </a:solidFill>
                          <a:latin typeface="Times New Roman" pitchFamily="34" charset="0"/>
                          <a:ea typeface="Times New Roman" pitchFamily="34" charset="-122"/>
                          <a:cs typeface="Times New Roman" pitchFamily="34" charset="-120"/>
                        </a:rPr>
                        <a:t>85%</a:t>
                      </a:r>
                      <a:endParaRPr lang="en-US" sz="1100" dirty="0">
                        <a:latin typeface="Times New Roman" charset="0"/>
                        <a:ea typeface="Times New Roman" charset="0"/>
                        <a:cs typeface="Times New Roman" charset="0"/>
                      </a:endParaRPr>
                    </a:p>
                  </a:txBody>
                  <a:tcPr>
                    <a:lnL w="6350" cap="flat" cmpd="sng" algn="ctr">
                      <a:solidFill>
                        <a:srgbClr val="2A3A6A"/>
                      </a:solidFill>
                      <a:prstDash val="solid"/>
                      <a:round/>
                      <a:headEnd type="none" w="med" len="med"/>
                      <a:tailEnd type="none" w="med" len="med"/>
                    </a:lnL>
                    <a:lnR w="6350" cap="flat" cmpd="sng" algn="ctr">
                      <a:solidFill>
                        <a:srgbClr val="2A3A6A"/>
                      </a:solidFill>
                      <a:prstDash val="solid"/>
                      <a:round/>
                      <a:headEnd type="none" w="med" len="med"/>
                      <a:tailEnd type="none" w="med" len="med"/>
                    </a:lnR>
                    <a:lnT w="6350" cap="flat" cmpd="sng" algn="ctr">
                      <a:solidFill>
                        <a:srgbClr val="2A3A6A"/>
                      </a:solidFill>
                      <a:prstDash val="solid"/>
                      <a:round/>
                      <a:headEnd type="none" w="med" len="med"/>
                      <a:tailEnd type="none" w="med" len="med"/>
                    </a:lnT>
                    <a:lnB w="6350" cap="flat" cmpd="sng" algn="ctr">
                      <a:solidFill>
                        <a:srgbClr val="2A3A6A"/>
                      </a:solidFill>
                      <a:prstDash val="solid"/>
                      <a:round/>
                      <a:headEnd type="none" w="med" len="med"/>
                      <a:tailEnd type="none" w="med" len="med"/>
                    </a:lnB>
                    <a:solidFill>
                      <a:srgbClr val="1A2744"/>
                    </a:solidFill>
                  </a:tcPr>
                </a:tc>
                <a:extLst>
                  <a:ext uri="{0D108BD9-81ED-4DB2-BD59-A6C34878D82A}">
                    <a16:rowId xmlns:a16="http://schemas.microsoft.com/office/drawing/2014/main" val="10006"/>
                  </a:ext>
                </a:extLst>
              </a:tr>
            </a:tbl>
          </a:graphicData>
        </a:graphic>
      </p:graphicFrame>
      <p:sp>
        <p:nvSpPr>
          <p:cNvPr id="7" name="Shape 4"/>
          <p:cNvSpPr/>
          <p:nvPr/>
        </p:nvSpPr>
        <p:spPr>
          <a:xfrm>
            <a:off x="0" y="4818888"/>
            <a:ext cx="9144000" cy="324612"/>
          </a:xfrm>
          <a:prstGeom prst="rect">
            <a:avLst/>
          </a:prstGeom>
          <a:solidFill>
            <a:srgbClr val="0A1040"/>
          </a:solidFill>
          <a:ln w="12700">
            <a:solidFill>
              <a:srgbClr val="0A1040"/>
            </a:solidFill>
            <a:prstDash val="solid"/>
          </a:ln>
        </p:spPr>
      </p:sp>
      <p:sp>
        <p:nvSpPr>
          <p:cNvPr id="8" name="Text 5"/>
          <p:cNvSpPr/>
          <p:nvPr/>
        </p:nvSpPr>
        <p:spPr>
          <a:xfrm>
            <a:off x="182880" y="4818888"/>
            <a:ext cx="8778240" cy="324612"/>
          </a:xfrm>
          <a:prstGeom prst="rect">
            <a:avLst/>
          </a:prstGeom>
          <a:noFill/>
          <a:ln/>
        </p:spPr>
        <p:txBody>
          <a:bodyPr wrap="square" lIns="0" tIns="0" rIns="0" bIns="0" rtlCol="0" anchor="ctr"/>
          <a:lstStyle/>
          <a:p>
            <a:pPr marL="0" indent="0" algn="ctr">
              <a:buNone/>
            </a:pPr>
            <a:endParaRPr lang="en-US" sz="900" dirty="0"/>
          </a:p>
        </p:txBody>
      </p:sp>
      <p:sp>
        <p:nvSpPr>
          <p:cNvPr id="9" name="SlideNum"/>
          <p:cNvSpPr/>
          <p:nvPr/>
        </p:nvSpPr>
        <p:spPr>
          <a:xfrm>
            <a:off x="8500000" y="4840000"/>
            <a:ext cx="600000" cy="250000"/>
          </a:xfrm>
          <a:prstGeom prst="rect">
            <a:avLst/>
          </a:prstGeom>
          <a:noFill/>
          <a:ln/>
        </p:spPr>
        <p:txBody>
          <a:bodyPr wrap="square" lIns="0" tIns="0" rIns="0" bIns="0" rtlCol="0" anchor="ctr"/>
          <a:lstStyle/>
          <a:p>
            <a:pPr marL="0" indent="0" algn="r">
              <a:buNone/>
            </a:pPr>
            <a:r>
              <a:rPr lang="en-US" sz="1100" b="0" dirty="0">
                <a:solidFill>
                  <a:srgbClr val="FFC000"/>
                </a:solidFill>
                <a:latin typeface="Times New Roman" pitchFamily="34" charset="0"/>
              </a:rPr>
              <a:t>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Field Survey">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A1628"/>
          </a:solidFill>
          <a:ln/>
        </p:spPr>
        <p:txBody>
          <a:bodyPr/>
          <a:lstStyle/>
          <a:p>
            <a:endParaRPr lang="en-US" dirty="0"/>
          </a:p>
        </p:txBody>
      </p:sp>
      <p:sp>
        <p:nvSpPr>
          <p:cNvPr id="3" name="Shape 1"/>
          <p:cNvSpPr/>
          <p:nvPr/>
        </p:nvSpPr>
        <p:spPr>
          <a:xfrm>
            <a:off x="0" y="0"/>
            <a:ext cx="9144000" cy="658368"/>
          </a:xfrm>
          <a:prstGeom prst="rect">
            <a:avLst/>
          </a:prstGeom>
          <a:solidFill>
            <a:srgbClr val="0A1628"/>
          </a:solidFill>
          <a:ln/>
        </p:spPr>
      </p:sp>
      <p:sp>
        <p:nvSpPr>
          <p:cNvPr id="4" name="Shape 2"/>
          <p:cNvSpPr/>
          <p:nvPr/>
        </p:nvSpPr>
        <p:spPr>
          <a:xfrm>
            <a:off x="0" y="0"/>
            <a:ext cx="109728" cy="658368"/>
          </a:xfrm>
          <a:prstGeom prst="rect">
            <a:avLst/>
          </a:prstGeom>
          <a:solidFill>
            <a:srgbClr val="FFC000"/>
          </a:solidFill>
          <a:ln/>
        </p:spPr>
      </p:sp>
      <p:sp>
        <p:nvSpPr>
          <p:cNvPr id="5" name="Text 3"/>
          <p:cNvSpPr/>
          <p:nvPr/>
        </p:nvSpPr>
        <p:spPr>
          <a:xfrm>
            <a:off x="201168" y="0"/>
            <a:ext cx="8778240" cy="658368"/>
          </a:xfrm>
          <a:prstGeom prst="rect">
            <a:avLst/>
          </a:prstGeom>
          <a:noFill/>
          <a:ln/>
        </p:spPr>
        <p:txBody>
          <a:bodyPr wrap="square" lIns="0" tIns="0" rIns="0" bIns="0" rtlCol="0" anchor="ctr"/>
          <a:lstStyle/>
          <a:p>
            <a:pPr marL="0" indent="0">
              <a:buNone/>
            </a:pPr>
            <a:r>
              <a:rPr lang="en-US" sz="3200" b="1" dirty="0">
                <a:solidFill>
                  <a:srgbClr val="FFFFFF"/>
                </a:solidFill>
                <a:latin typeface="Times New Roman" pitchFamily="34" charset="0"/>
              </a:rPr>
              <a:t>Field Survey</a:t>
            </a:r>
          </a:p>
        </p:txBody>
      </p:sp>
      <p:sp>
        <p:nvSpPr>
          <p:cNvPr id="6" name="Text 6"/>
          <p:cNvSpPr/>
          <p:nvPr/>
        </p:nvSpPr>
        <p:spPr>
          <a:xfrm>
            <a:off x="182880" y="720000"/>
            <a:ext cx="8778240" cy="4000000"/>
          </a:xfrm>
          <a:prstGeom prst="rect">
            <a:avLst/>
          </a:prstGeom>
          <a:noFill/>
          <a:ln/>
        </p:spPr>
        <p:txBody>
          <a:bodyPr wrap="square" lIns="50800" tIns="50800" rIns="50800" bIns="50800" rtlCol="0" anchor="t"/>
          <a:lstStyle/>
          <a:p>
            <a:pPr marL="0" indent="0">
              <a:buNone/>
            </a:pPr>
            <a:r>
              <a:rPr lang="en-US" sz="1600" b="1" dirty="0">
                <a:solidFill>
                  <a:srgbClr val="FFC000"/>
                </a:solidFill>
                <a:latin typeface="Times New Roman" pitchFamily="34" charset="0"/>
              </a:rPr>
              <a:t>Survey Location &amp; Setup</a:t>
            </a:r>
          </a:p>
          <a:p>
            <a:pPr marL="342900" indent="-342900">
              <a:buSzPct val="100000"/>
              <a:buChar char="•"/>
            </a:pPr>
            <a:r>
              <a:rPr lang="en-US" sz="1400" dirty="0">
                <a:solidFill>
                  <a:srgbClr val="FFFFFF"/>
                </a:solidFill>
                <a:latin typeface="Times New Roman" pitchFamily="34" charset="0"/>
              </a:rPr>
              <a:t>Field survey conducted at a rural agricultural farm in Tamil Nadu, India</a:t>
            </a:r>
          </a:p>
          <a:p>
            <a:pPr marL="342900" indent="-342900">
              <a:buSzPct val="100000"/>
              <a:buChar char="•"/>
            </a:pPr>
            <a:r>
              <a:rPr lang="en-US" sz="1400" dirty="0">
                <a:solidFill>
                  <a:srgbClr val="FFFFFF"/>
                </a:solidFill>
                <a:latin typeface="Times New Roman" pitchFamily="34" charset="0"/>
              </a:rPr>
              <a:t>Wind speed measured at heights of 5m, 10m, and 15m using anemometer</a:t>
            </a:r>
          </a:p>
          <a:p>
            <a:pPr marL="342900" indent="-342900">
              <a:buSzPct val="100000"/>
              <a:buChar char="•"/>
            </a:pPr>
            <a:r>
              <a:rPr lang="en-US" sz="1400" dirty="0">
                <a:solidFill>
                  <a:srgbClr val="FFFFFF"/>
                </a:solidFill>
                <a:latin typeface="Times New Roman" pitchFamily="34" charset="0"/>
              </a:rPr>
              <a:t>Soil type: loamy; average farm area: 2 acres; crop: paddy and vegetables</a:t>
            </a:r>
          </a:p>
          <a:p>
            <a:pPr marL="0" indent="0">
              <a:buNone/>
            </a:pPr>
            <a:r>
              <a:rPr lang="en-US" sz="1600" b="1" dirty="0">
                <a:solidFill>
                  <a:srgbClr val="FFC000"/>
                </a:solidFill>
                <a:latin typeface="Times New Roman" pitchFamily="34" charset="0"/>
              </a:rPr>
              <a:t>Wind Energy Assessment</a:t>
            </a:r>
          </a:p>
          <a:p>
            <a:pPr marL="342900" indent="-342900">
              <a:buSzPct val="100000"/>
              <a:buChar char="•"/>
            </a:pPr>
            <a:r>
              <a:rPr lang="en-US" sz="1400" dirty="0">
                <a:solidFill>
                  <a:srgbClr val="FFFFFF"/>
                </a:solidFill>
                <a:latin typeface="Times New Roman" pitchFamily="34" charset="0"/>
              </a:rPr>
              <a:t>Average wind speed recorded: 3.5 to 6.2 m/s — suitable for small wind turbines</a:t>
            </a:r>
          </a:p>
          <a:p>
            <a:pPr marL="342900" indent="-342900">
              <a:buSzPct val="100000"/>
              <a:buChar char="•"/>
            </a:pPr>
            <a:r>
              <a:rPr lang="en-US" sz="1400" dirty="0">
                <a:solidFill>
                  <a:srgbClr val="FFFFFF"/>
                </a:solidFill>
                <a:latin typeface="Times New Roman" pitchFamily="34" charset="0"/>
              </a:rPr>
              <a:t>Peak wind hours: 10:00 AM to 3:00 PM and early morning 5:00 AM to 7:00 AM</a:t>
            </a:r>
          </a:p>
          <a:p>
            <a:pPr marL="342900" indent="-342900">
              <a:buSzPct val="100000"/>
              <a:buChar char="•"/>
            </a:pPr>
            <a:r>
              <a:rPr lang="en-US" sz="1400" dirty="0">
                <a:solidFill>
                  <a:srgbClr val="FFFFFF"/>
                </a:solidFill>
                <a:latin typeface="Times New Roman" pitchFamily="34" charset="0"/>
              </a:rPr>
              <a:t>Estimated power generation: 50W to 120W from a 12V DC mini wind turbine</a:t>
            </a:r>
          </a:p>
          <a:p>
            <a:pPr marL="0" indent="0">
              <a:buNone/>
            </a:pPr>
            <a:r>
              <a:rPr lang="en-US" sz="1600" b="1" dirty="0">
                <a:solidFill>
                  <a:srgbClr val="FFC000"/>
                </a:solidFill>
                <a:latin typeface="Times New Roman" pitchFamily="34" charset="0"/>
              </a:rPr>
              <a:t>Farmer Feedback &amp; Observations</a:t>
            </a:r>
          </a:p>
          <a:p>
            <a:pPr marL="342900" indent="-342900">
              <a:buSzPct val="100000"/>
              <a:buChar char="•"/>
            </a:pPr>
            <a:r>
              <a:rPr lang="en-US" sz="1400" dirty="0">
                <a:solidFill>
                  <a:srgbClr val="FFFFFF"/>
                </a:solidFill>
                <a:latin typeface="Times New Roman" pitchFamily="34" charset="0"/>
              </a:rPr>
              <a:t>Farmers rely on diesel pumps: average cost Rs. 1,500/month for irrigation</a:t>
            </a:r>
          </a:p>
          <a:p>
            <a:pPr marL="342900" indent="-342900">
              <a:buSzPct val="100000"/>
              <a:buChar char="•"/>
            </a:pPr>
            <a:r>
              <a:rPr lang="en-US" sz="1400" dirty="0">
                <a:solidFill>
                  <a:srgbClr val="FFFFFF"/>
                </a:solidFill>
                <a:latin typeface="Times New Roman" pitchFamily="34" charset="0"/>
              </a:rPr>
              <a:t>Frequent power outages (6-8 hrs/day) affect crop watering schedules</a:t>
            </a:r>
          </a:p>
          <a:p>
            <a:pPr marL="342900" indent="-342900">
              <a:buSzPct val="100000"/>
              <a:buChar char="•"/>
            </a:pPr>
            <a:r>
              <a:rPr lang="en-US" sz="1400" dirty="0">
                <a:solidFill>
                  <a:srgbClr val="FFFFFF"/>
                </a:solidFill>
                <a:latin typeface="Times New Roman" pitchFamily="34" charset="0"/>
              </a:rPr>
              <a:t>Farmers expressed interest in automated, low-cost wind-powered solution</a:t>
            </a:r>
          </a:p>
          <a:p>
            <a:pPr marL="342900" indent="-342900">
              <a:buSzPct val="100000"/>
              <a:buChar char="•"/>
            </a:pPr>
            <a:r>
              <a:rPr lang="en-US" sz="1400" dirty="0">
                <a:solidFill>
                  <a:srgbClr val="FFFFFF"/>
                </a:solidFill>
                <a:latin typeface="Times New Roman" pitchFamily="34" charset="0"/>
              </a:rPr>
              <a:t>Survey validated need for off-grid, sensor-based irrigation automation</a:t>
            </a:r>
          </a:p>
        </p:txBody>
      </p:sp>
      <p:sp>
        <p:nvSpPr>
          <p:cNvPr id="50" name="Shape Footer"/>
          <p:cNvSpPr/>
          <p:nvPr/>
        </p:nvSpPr>
        <p:spPr>
          <a:xfrm>
            <a:off x="0" y="4818888"/>
            <a:ext cx="9144000" cy="324612"/>
          </a:xfrm>
          <a:prstGeom prst="rect">
            <a:avLst/>
          </a:prstGeom>
          <a:solidFill>
            <a:srgbClr val="0A1040"/>
          </a:solidFill>
          <a:ln/>
        </p:spPr>
      </p:sp>
      <p:sp>
        <p:nvSpPr>
          <p:cNvPr id="51" name="SlideNum"/>
          <p:cNvSpPr/>
          <p:nvPr/>
        </p:nvSpPr>
        <p:spPr>
          <a:xfrm>
            <a:off x="8500000" y="4840000"/>
            <a:ext cx="600000" cy="250000"/>
          </a:xfrm>
          <a:prstGeom prst="rect">
            <a:avLst/>
          </a:prstGeom>
          <a:noFill/>
          <a:ln/>
        </p:spPr>
        <p:txBody>
          <a:bodyPr wrap="square" lIns="0" tIns="0" rIns="0" bIns="0" rtlCol="0" anchor="ctr"/>
          <a:lstStyle/>
          <a:p>
            <a:pPr marL="0" indent="0" algn="r">
              <a:buNone/>
            </a:pPr>
            <a:r>
              <a:rPr lang="en-US" sz="1100" b="0" dirty="0">
                <a:solidFill>
                  <a:srgbClr val="FFC000"/>
                </a:solidFill>
                <a:latin typeface="Times New Roman" pitchFamily="34" charset="0"/>
              </a:rPr>
              <a:t>7</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Research Gap">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A1628"/>
          </a:solidFill>
          <a:ln/>
        </p:spPr>
        <p:txBody>
          <a:bodyPr/>
          <a:lstStyle/>
          <a:p>
            <a:endParaRPr lang="en-US" dirty="0"/>
          </a:p>
        </p:txBody>
      </p:sp>
      <p:sp>
        <p:nvSpPr>
          <p:cNvPr id="3" name="Shape 1"/>
          <p:cNvSpPr/>
          <p:nvPr/>
        </p:nvSpPr>
        <p:spPr>
          <a:xfrm>
            <a:off x="0" y="0"/>
            <a:ext cx="9144000" cy="658368"/>
          </a:xfrm>
          <a:prstGeom prst="rect">
            <a:avLst/>
          </a:prstGeom>
          <a:solidFill>
            <a:srgbClr val="0A1628"/>
          </a:solidFill>
          <a:ln/>
        </p:spPr>
      </p:sp>
      <p:sp>
        <p:nvSpPr>
          <p:cNvPr id="4" name="Shape 2"/>
          <p:cNvSpPr/>
          <p:nvPr/>
        </p:nvSpPr>
        <p:spPr>
          <a:xfrm>
            <a:off x="0" y="0"/>
            <a:ext cx="109728" cy="658368"/>
          </a:xfrm>
          <a:prstGeom prst="rect">
            <a:avLst/>
          </a:prstGeom>
          <a:solidFill>
            <a:srgbClr val="FFC000"/>
          </a:solidFill>
          <a:ln/>
        </p:spPr>
      </p:sp>
      <p:sp>
        <p:nvSpPr>
          <p:cNvPr id="5" name="Text 3"/>
          <p:cNvSpPr/>
          <p:nvPr/>
        </p:nvSpPr>
        <p:spPr>
          <a:xfrm>
            <a:off x="201168" y="0"/>
            <a:ext cx="8778240" cy="658368"/>
          </a:xfrm>
          <a:prstGeom prst="rect">
            <a:avLst/>
          </a:prstGeom>
          <a:noFill/>
          <a:ln/>
        </p:spPr>
        <p:txBody>
          <a:bodyPr wrap="square" lIns="0" tIns="0" rIns="0" bIns="0" rtlCol="0" anchor="ctr"/>
          <a:lstStyle/>
          <a:p>
            <a:pPr marL="0" indent="0">
              <a:buNone/>
            </a:pPr>
            <a:r>
              <a:rPr lang="en-US" sz="3200" b="1" dirty="0">
                <a:solidFill>
                  <a:srgbClr val="FFFFFF"/>
                </a:solidFill>
                <a:latin typeface="Times New Roman" pitchFamily="34" charset="0"/>
              </a:rPr>
              <a:t>Research Gap</a:t>
            </a:r>
          </a:p>
        </p:txBody>
      </p:sp>
      <p:sp>
        <p:nvSpPr>
          <p:cNvPr id="6" name="Card 6"/>
          <p:cNvSpPr/>
          <p:nvPr/>
        </p:nvSpPr>
        <p:spPr>
          <a:xfrm>
            <a:off x="274320" y="777240"/>
            <a:ext cx="4206240" cy="900000"/>
          </a:xfrm>
          <a:prstGeom prst="rect">
            <a:avLst/>
          </a:prstGeom>
          <a:solidFill>
            <a:srgbClr val="0D1B3E"/>
          </a:solidFill>
          <a:ln w="12700">
            <a:solidFill>
              <a:srgbClr val="FFC000"/>
            </a:solidFill>
            <a:prstDash val="solid"/>
          </a:ln>
        </p:spPr>
      </p:sp>
      <p:sp>
        <p:nvSpPr>
          <p:cNvPr id="7" name="Text 7"/>
          <p:cNvSpPr/>
          <p:nvPr/>
        </p:nvSpPr>
        <p:spPr>
          <a:xfrm>
            <a:off x="411480" y="800000"/>
            <a:ext cx="3931920" cy="860000"/>
          </a:xfrm>
          <a:prstGeom prst="rect">
            <a:avLst/>
          </a:prstGeom>
          <a:noFill/>
          <a:ln/>
        </p:spPr>
        <p:txBody>
          <a:bodyPr wrap="square" lIns="50800" tIns="50800" rIns="50800" bIns="50800" rtlCol="0" anchor="t"/>
          <a:lstStyle/>
          <a:p>
            <a:pPr marL="0" indent="0">
              <a:buNone/>
            </a:pPr>
            <a:r>
              <a:rPr lang="en-US" sz="1600" b="1" dirty="0">
                <a:solidFill>
                  <a:srgbClr val="FFC000"/>
                </a:solidFill>
                <a:latin typeface="Times New Roman" pitchFamily="34" charset="0"/>
              </a:rPr>
              <a:t>Single Function Systems</a:t>
            </a:r>
          </a:p>
          <a:p>
            <a:pPr marL="342900" indent="-342900">
              <a:buSzPct val="100000"/>
              <a:buChar char="•"/>
            </a:pPr>
            <a:r>
              <a:rPr lang="en-US" sz="1400" dirty="0">
                <a:solidFill>
                  <a:srgbClr val="FFFFFF"/>
                </a:solidFill>
                <a:latin typeface="Times New Roman" pitchFamily="34" charset="0"/>
              </a:rPr>
              <a:t>Wind systems only pump water — no monitoring or automation</a:t>
            </a:r>
          </a:p>
        </p:txBody>
      </p:sp>
      <p:sp>
        <p:nvSpPr>
          <p:cNvPr id="8" name="Card 8"/>
          <p:cNvSpPr/>
          <p:nvPr/>
        </p:nvSpPr>
        <p:spPr>
          <a:xfrm>
            <a:off x="4754880" y="777240"/>
            <a:ext cx="4206240" cy="900000"/>
          </a:xfrm>
          <a:prstGeom prst="rect">
            <a:avLst/>
          </a:prstGeom>
          <a:solidFill>
            <a:srgbClr val="0D1B3E"/>
          </a:solidFill>
          <a:ln w="12700">
            <a:solidFill>
              <a:srgbClr val="FFC000"/>
            </a:solidFill>
            <a:prstDash val="solid"/>
          </a:ln>
        </p:spPr>
      </p:sp>
      <p:sp>
        <p:nvSpPr>
          <p:cNvPr id="9" name="Text 9"/>
          <p:cNvSpPr/>
          <p:nvPr/>
        </p:nvSpPr>
        <p:spPr>
          <a:xfrm>
            <a:off x="4892040" y="800000"/>
            <a:ext cx="3931920" cy="860000"/>
          </a:xfrm>
          <a:prstGeom prst="rect">
            <a:avLst/>
          </a:prstGeom>
          <a:noFill/>
          <a:ln/>
        </p:spPr>
        <p:txBody>
          <a:bodyPr wrap="square" lIns="50800" tIns="50800" rIns="50800" bIns="50800" rtlCol="0" anchor="t"/>
          <a:lstStyle/>
          <a:p>
            <a:pPr marL="0" indent="0">
              <a:buNone/>
            </a:pPr>
            <a:r>
              <a:rPr lang="en-US" sz="1600" b="1" dirty="0">
                <a:solidFill>
                  <a:srgbClr val="FFC000"/>
                </a:solidFill>
                <a:latin typeface="Times New Roman" pitchFamily="34" charset="0"/>
              </a:rPr>
              <a:t>High Maintenance Cost</a:t>
            </a:r>
          </a:p>
          <a:p>
            <a:pPr marL="342900" indent="-342900">
              <a:buSzPct val="100000"/>
              <a:buChar char="•"/>
            </a:pPr>
            <a:r>
              <a:rPr lang="en-US" sz="1400" dirty="0">
                <a:solidFill>
                  <a:srgbClr val="FFFFFF"/>
                </a:solidFill>
                <a:latin typeface="Times New Roman" pitchFamily="34" charset="0"/>
              </a:rPr>
              <a:t>Rural farmers cannot afford complex maintenance of existing wind machines</a:t>
            </a:r>
          </a:p>
        </p:txBody>
      </p:sp>
      <p:sp>
        <p:nvSpPr>
          <p:cNvPr id="10" name="Card 10"/>
          <p:cNvSpPr/>
          <p:nvPr/>
        </p:nvSpPr>
        <p:spPr>
          <a:xfrm>
            <a:off x="274320" y="1800000"/>
            <a:ext cx="4206240" cy="900000"/>
          </a:xfrm>
          <a:prstGeom prst="rect">
            <a:avLst/>
          </a:prstGeom>
          <a:solidFill>
            <a:srgbClr val="0D1B3E"/>
          </a:solidFill>
          <a:ln w="12700">
            <a:solidFill>
              <a:srgbClr val="FFC000"/>
            </a:solidFill>
            <a:prstDash val="solid"/>
          </a:ln>
        </p:spPr>
      </p:sp>
      <p:sp>
        <p:nvSpPr>
          <p:cNvPr id="11" name="Text 11"/>
          <p:cNvSpPr/>
          <p:nvPr/>
        </p:nvSpPr>
        <p:spPr>
          <a:xfrm>
            <a:off x="411480" y="1820000"/>
            <a:ext cx="3931920" cy="860000"/>
          </a:xfrm>
          <a:prstGeom prst="rect">
            <a:avLst/>
          </a:prstGeom>
          <a:noFill/>
          <a:ln/>
        </p:spPr>
        <p:txBody>
          <a:bodyPr wrap="square" lIns="50800" tIns="50800" rIns="50800" bIns="50800" rtlCol="0" anchor="t"/>
          <a:lstStyle/>
          <a:p>
            <a:pPr marL="0" indent="0">
              <a:buNone/>
            </a:pPr>
            <a:r>
              <a:rPr lang="en-US" sz="1600" b="1" dirty="0">
                <a:solidFill>
                  <a:srgbClr val="FFC000"/>
                </a:solidFill>
                <a:latin typeface="Times New Roman" pitchFamily="34" charset="0"/>
              </a:rPr>
              <a:t>No IoT Integration</a:t>
            </a:r>
          </a:p>
          <a:p>
            <a:pPr marL="342900" indent="-342900">
              <a:buSzPct val="100000"/>
              <a:buChar char="•"/>
            </a:pPr>
            <a:r>
              <a:rPr lang="en-US" sz="1400" dirty="0">
                <a:solidFill>
                  <a:srgbClr val="FFFFFF"/>
                </a:solidFill>
                <a:latin typeface="Times New Roman" pitchFamily="34" charset="0"/>
              </a:rPr>
              <a:t>Existing systems lack soil sensors, rain detection or automatic irrigation control</a:t>
            </a:r>
          </a:p>
        </p:txBody>
      </p:sp>
      <p:sp>
        <p:nvSpPr>
          <p:cNvPr id="12" name="Card 12"/>
          <p:cNvSpPr/>
          <p:nvPr/>
        </p:nvSpPr>
        <p:spPr>
          <a:xfrm>
            <a:off x="4754880" y="1800000"/>
            <a:ext cx="4206240" cy="900000"/>
          </a:xfrm>
          <a:prstGeom prst="rect">
            <a:avLst/>
          </a:prstGeom>
          <a:solidFill>
            <a:srgbClr val="0D1B3E"/>
          </a:solidFill>
          <a:ln w="12700">
            <a:solidFill>
              <a:srgbClr val="FFC000"/>
            </a:solidFill>
            <a:prstDash val="solid"/>
          </a:ln>
        </p:spPr>
      </p:sp>
      <p:sp>
        <p:nvSpPr>
          <p:cNvPr id="13" name="Text 13"/>
          <p:cNvSpPr/>
          <p:nvPr/>
        </p:nvSpPr>
        <p:spPr>
          <a:xfrm>
            <a:off x="4892040" y="1820000"/>
            <a:ext cx="3931920" cy="860000"/>
          </a:xfrm>
          <a:prstGeom prst="rect">
            <a:avLst/>
          </a:prstGeom>
          <a:noFill/>
          <a:ln/>
        </p:spPr>
        <p:txBody>
          <a:bodyPr wrap="square" lIns="50800" tIns="50800" rIns="50800" bIns="50800" rtlCol="0" anchor="t"/>
          <a:lstStyle/>
          <a:p>
            <a:pPr marL="0" indent="0">
              <a:buNone/>
            </a:pPr>
            <a:r>
              <a:rPr lang="en-US" sz="1600" b="1" dirty="0">
                <a:solidFill>
                  <a:srgbClr val="FFC000"/>
                </a:solidFill>
                <a:latin typeface="Times New Roman" pitchFamily="34" charset="0"/>
              </a:rPr>
              <a:t>Off-Grid Not Addressed</a:t>
            </a:r>
          </a:p>
          <a:p>
            <a:pPr marL="342900" indent="-342900">
              <a:buSzPct val="100000"/>
              <a:buChar char="•"/>
            </a:pPr>
            <a:r>
              <a:rPr lang="en-US" sz="1400" dirty="0">
                <a:solidFill>
                  <a:srgbClr val="FFFFFF"/>
                </a:solidFill>
                <a:latin typeface="Times New Roman" pitchFamily="34" charset="0"/>
              </a:rPr>
              <a:t>Studies ignore small-scale, battery-backed, off-grid farm deployments</a:t>
            </a:r>
          </a:p>
        </p:txBody>
      </p:sp>
      <p:sp>
        <p:nvSpPr>
          <p:cNvPr id="14" name="Card 14"/>
          <p:cNvSpPr/>
          <p:nvPr/>
        </p:nvSpPr>
        <p:spPr>
          <a:xfrm>
            <a:off x="274320" y="2820000"/>
            <a:ext cx="4206240" cy="900000"/>
          </a:xfrm>
          <a:prstGeom prst="rect">
            <a:avLst/>
          </a:prstGeom>
          <a:solidFill>
            <a:srgbClr val="0D1B3E"/>
          </a:solidFill>
          <a:ln w="12700">
            <a:solidFill>
              <a:srgbClr val="FFC000"/>
            </a:solidFill>
            <a:prstDash val="solid"/>
          </a:ln>
        </p:spPr>
      </p:sp>
      <p:sp>
        <p:nvSpPr>
          <p:cNvPr id="15" name="Text 15"/>
          <p:cNvSpPr/>
          <p:nvPr/>
        </p:nvSpPr>
        <p:spPr>
          <a:xfrm>
            <a:off x="411480" y="2840000"/>
            <a:ext cx="3931920" cy="860000"/>
          </a:xfrm>
          <a:prstGeom prst="rect">
            <a:avLst/>
          </a:prstGeom>
          <a:noFill/>
          <a:ln/>
        </p:spPr>
        <p:txBody>
          <a:bodyPr wrap="square" lIns="50800" tIns="50800" rIns="50800" bIns="50800" rtlCol="0" anchor="t"/>
          <a:lstStyle/>
          <a:p>
            <a:pPr marL="0" indent="0">
              <a:buNone/>
            </a:pPr>
            <a:r>
              <a:rPr lang="en-US" sz="1600" b="1" dirty="0">
                <a:solidFill>
                  <a:srgbClr val="FFC000"/>
                </a:solidFill>
                <a:latin typeface="Times New Roman" pitchFamily="34" charset="0"/>
              </a:rPr>
              <a:t>Scalability Ignored</a:t>
            </a:r>
          </a:p>
          <a:p>
            <a:pPr marL="342900" indent="-342900">
              <a:buSzPct val="100000"/>
              <a:buChar char="•"/>
            </a:pPr>
            <a:r>
              <a:rPr lang="en-US" sz="1400" dirty="0">
                <a:solidFill>
                  <a:srgbClr val="FFFFFF"/>
                </a:solidFill>
                <a:latin typeface="Times New Roman" pitchFamily="34" charset="0"/>
              </a:rPr>
              <a:t>No study proposes modular design scalable from single farm to community level</a:t>
            </a:r>
          </a:p>
        </p:txBody>
      </p:sp>
      <p:sp>
        <p:nvSpPr>
          <p:cNvPr id="16" name="Card 16"/>
          <p:cNvSpPr/>
          <p:nvPr/>
        </p:nvSpPr>
        <p:spPr>
          <a:xfrm>
            <a:off x="4754880" y="2820000"/>
            <a:ext cx="4206240" cy="900000"/>
          </a:xfrm>
          <a:prstGeom prst="rect">
            <a:avLst/>
          </a:prstGeom>
          <a:solidFill>
            <a:srgbClr val="0D1B3E"/>
          </a:solidFill>
          <a:ln w="12700">
            <a:solidFill>
              <a:srgbClr val="FFC000"/>
            </a:solidFill>
            <a:prstDash val="solid"/>
          </a:ln>
        </p:spPr>
      </p:sp>
      <p:sp>
        <p:nvSpPr>
          <p:cNvPr id="17" name="Text 17"/>
          <p:cNvSpPr/>
          <p:nvPr/>
        </p:nvSpPr>
        <p:spPr>
          <a:xfrm>
            <a:off x="4892040" y="2840000"/>
            <a:ext cx="3931920" cy="860000"/>
          </a:xfrm>
          <a:prstGeom prst="rect">
            <a:avLst/>
          </a:prstGeom>
          <a:noFill/>
          <a:ln/>
        </p:spPr>
        <p:txBody>
          <a:bodyPr wrap="square" lIns="50800" tIns="50800" rIns="50800" bIns="50800" rtlCol="0" anchor="t"/>
          <a:lstStyle/>
          <a:p>
            <a:pPr marL="0" indent="0">
              <a:buNone/>
            </a:pPr>
            <a:r>
              <a:rPr lang="en-US" sz="1600" b="1" dirty="0">
                <a:solidFill>
                  <a:srgbClr val="FFC000"/>
                </a:solidFill>
                <a:latin typeface="Times New Roman" pitchFamily="34" charset="0"/>
              </a:rPr>
              <a:t>Limited Crop Monitoring</a:t>
            </a:r>
          </a:p>
          <a:p>
            <a:pPr marL="342900" indent="-342900">
              <a:buSzPct val="100000"/>
              <a:buChar char="•"/>
            </a:pPr>
            <a:r>
              <a:rPr lang="en-US" sz="1400" dirty="0">
                <a:solidFill>
                  <a:srgbClr val="FFFFFF"/>
                </a:solidFill>
                <a:latin typeface="Times New Roman" pitchFamily="34" charset="0"/>
              </a:rPr>
              <a:t>Existing solutions lack integration of LDR, rain, and moisture sensors together</a:t>
            </a:r>
          </a:p>
        </p:txBody>
      </p:sp>
      <p:sp>
        <p:nvSpPr>
          <p:cNvPr id="50" name="Shape Footer"/>
          <p:cNvSpPr/>
          <p:nvPr/>
        </p:nvSpPr>
        <p:spPr>
          <a:xfrm>
            <a:off x="0" y="4818888"/>
            <a:ext cx="9144000" cy="324612"/>
          </a:xfrm>
          <a:prstGeom prst="rect">
            <a:avLst/>
          </a:prstGeom>
          <a:solidFill>
            <a:srgbClr val="0A1040"/>
          </a:solidFill>
          <a:ln/>
        </p:spPr>
      </p:sp>
      <p:sp>
        <p:nvSpPr>
          <p:cNvPr id="51" name="SlideNum"/>
          <p:cNvSpPr/>
          <p:nvPr/>
        </p:nvSpPr>
        <p:spPr>
          <a:xfrm>
            <a:off x="8500000" y="4840000"/>
            <a:ext cx="600000" cy="250000"/>
          </a:xfrm>
          <a:prstGeom prst="rect">
            <a:avLst/>
          </a:prstGeom>
          <a:noFill/>
          <a:ln/>
        </p:spPr>
        <p:txBody>
          <a:bodyPr wrap="square" lIns="0" tIns="0" rIns="0" bIns="0" rtlCol="0" anchor="ctr"/>
          <a:lstStyle/>
          <a:p>
            <a:pPr marL="0" indent="0" algn="r">
              <a:buNone/>
            </a:pPr>
            <a:r>
              <a:rPr lang="en-US" sz="1100" b="0" dirty="0">
                <a:solidFill>
                  <a:srgbClr val="FFC000"/>
                </a:solidFill>
                <a:latin typeface="Times New Roman" pitchFamily="34" charset="0"/>
              </a:rPr>
              <a:t>8</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Objectives">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A1628"/>
          </a:solidFill>
          <a:ln/>
        </p:spPr>
        <p:txBody>
          <a:bodyPr/>
          <a:lstStyle/>
          <a:p>
            <a:endParaRPr lang="en-US" dirty="0"/>
          </a:p>
        </p:txBody>
      </p:sp>
      <p:sp>
        <p:nvSpPr>
          <p:cNvPr id="3" name="Shape 1"/>
          <p:cNvSpPr/>
          <p:nvPr/>
        </p:nvSpPr>
        <p:spPr>
          <a:xfrm>
            <a:off x="0" y="0"/>
            <a:ext cx="9144000" cy="658368"/>
          </a:xfrm>
          <a:prstGeom prst="rect">
            <a:avLst/>
          </a:prstGeom>
          <a:solidFill>
            <a:srgbClr val="0A1628"/>
          </a:solidFill>
          <a:ln/>
        </p:spPr>
      </p:sp>
      <p:sp>
        <p:nvSpPr>
          <p:cNvPr id="4" name="Shape 2"/>
          <p:cNvSpPr/>
          <p:nvPr/>
        </p:nvSpPr>
        <p:spPr>
          <a:xfrm>
            <a:off x="0" y="0"/>
            <a:ext cx="109728" cy="658368"/>
          </a:xfrm>
          <a:prstGeom prst="rect">
            <a:avLst/>
          </a:prstGeom>
          <a:solidFill>
            <a:srgbClr val="FFC000"/>
          </a:solidFill>
          <a:ln/>
        </p:spPr>
      </p:sp>
      <p:sp>
        <p:nvSpPr>
          <p:cNvPr id="5" name="Text 3"/>
          <p:cNvSpPr/>
          <p:nvPr/>
        </p:nvSpPr>
        <p:spPr>
          <a:xfrm>
            <a:off x="201168" y="0"/>
            <a:ext cx="8778240" cy="658368"/>
          </a:xfrm>
          <a:prstGeom prst="rect">
            <a:avLst/>
          </a:prstGeom>
          <a:noFill/>
          <a:ln/>
        </p:spPr>
        <p:txBody>
          <a:bodyPr wrap="square" lIns="0" tIns="0" rIns="0" bIns="0" rtlCol="0" anchor="ctr"/>
          <a:lstStyle/>
          <a:p>
            <a:pPr marL="0" indent="0">
              <a:buNone/>
            </a:pPr>
            <a:r>
              <a:rPr lang="en-US" sz="3200" b="1" dirty="0">
                <a:solidFill>
                  <a:srgbClr val="FFFFFF"/>
                </a:solidFill>
                <a:latin typeface="Times New Roman" pitchFamily="34" charset="0"/>
              </a:rPr>
              <a:t>Objectives</a:t>
            </a:r>
          </a:p>
        </p:txBody>
      </p:sp>
      <p:sp>
        <p:nvSpPr>
          <p:cNvPr id="6" name="Text 6"/>
          <p:cNvSpPr/>
          <p:nvPr/>
        </p:nvSpPr>
        <p:spPr>
          <a:xfrm>
            <a:off x="182880" y="720000"/>
            <a:ext cx="8778240" cy="4050000"/>
          </a:xfrm>
          <a:prstGeom prst="rect">
            <a:avLst/>
          </a:prstGeom>
          <a:noFill/>
          <a:ln/>
        </p:spPr>
        <p:txBody>
          <a:bodyPr wrap="square" lIns="50800" tIns="50800" rIns="50800" bIns="50800" rtlCol="0" anchor="t"/>
          <a:lstStyle/>
          <a:p>
            <a:pPr marL="0" indent="0">
              <a:buNone/>
            </a:pPr>
            <a:r>
              <a:rPr lang="en-US" sz="1600" b="1" dirty="0">
                <a:solidFill>
                  <a:srgbClr val="FFC000"/>
                </a:solidFill>
                <a:latin typeface="Times New Roman" pitchFamily="34" charset="0"/>
              </a:rPr>
              <a:t>Primary Objectives</a:t>
            </a:r>
          </a:p>
          <a:p>
            <a:pPr marL="342900" indent="-342900">
              <a:buSzPct val="100000"/>
              <a:buChar char="•"/>
            </a:pPr>
            <a:r>
              <a:rPr lang="en-US" sz="1400" dirty="0">
                <a:solidFill>
                  <a:srgbClr val="FFFFFF"/>
                </a:solidFill>
                <a:latin typeface="Times New Roman" pitchFamily="34" charset="0"/>
              </a:rPr>
              <a:t>Harness wind energy to power irrigation, lighting, and crop monitoring — reducing diesel dependency</a:t>
            </a:r>
          </a:p>
          <a:p>
            <a:pPr marL="342900" indent="-342900">
              <a:buSzPct val="100000"/>
              <a:buChar char="•"/>
            </a:pPr>
            <a:r>
              <a:rPr lang="en-US" sz="1400" dirty="0">
                <a:solidFill>
                  <a:srgbClr val="FFFFFF"/>
                </a:solidFill>
                <a:latin typeface="Times New Roman" pitchFamily="34" charset="0"/>
              </a:rPr>
              <a:t>Design a low-cost, battery-backed, off-grid system with automated irrigation using sensors</a:t>
            </a:r>
          </a:p>
          <a:p>
            <a:pPr marL="342900" indent="-342900">
              <a:buSzPct val="100000"/>
              <a:buChar char="•"/>
            </a:pPr>
            <a:r>
              <a:rPr lang="en-US" sz="1400" dirty="0">
                <a:solidFill>
                  <a:srgbClr val="FFFFFF"/>
                </a:solidFill>
                <a:latin typeface="Times New Roman" pitchFamily="34" charset="0"/>
              </a:rPr>
              <a:t>Automate water supply using soil moisture, rain, and LDR sensors controlled by ESP32</a:t>
            </a:r>
          </a:p>
          <a:p>
            <a:pPr marL="0" indent="0">
              <a:buNone/>
            </a:pPr>
            <a:r>
              <a:rPr lang="en-US" sz="1600" b="1" dirty="0">
                <a:solidFill>
                  <a:srgbClr val="FFC000"/>
                </a:solidFill>
                <a:latin typeface="Times New Roman" pitchFamily="34" charset="0"/>
              </a:rPr>
              <a:t>Secondary Objectives</a:t>
            </a:r>
          </a:p>
          <a:p>
            <a:pPr marL="342900" indent="-342900">
              <a:buSzPct val="100000"/>
              <a:buChar char="•"/>
            </a:pPr>
            <a:r>
              <a:rPr lang="en-US" sz="1400" dirty="0">
                <a:solidFill>
                  <a:srgbClr val="FFFFFF"/>
                </a:solidFill>
                <a:latin typeface="Times New Roman" pitchFamily="34" charset="0"/>
              </a:rPr>
              <a:t>Develop a Battery Management System (BMS) to ensure safe energy storage and discharge</a:t>
            </a:r>
          </a:p>
          <a:p>
            <a:pPr marL="342900" indent="-342900">
              <a:buSzPct val="100000"/>
              <a:buChar char="•"/>
            </a:pPr>
            <a:r>
              <a:rPr lang="en-US" sz="1400" dirty="0">
                <a:solidFill>
                  <a:srgbClr val="FFFFFF"/>
                </a:solidFill>
                <a:latin typeface="Times New Roman" pitchFamily="34" charset="0"/>
              </a:rPr>
              <a:t>Integrate OLED display for real-time monitoring of soil, rain, and power status</a:t>
            </a:r>
          </a:p>
          <a:p>
            <a:pPr marL="342900" indent="-342900">
              <a:buSzPct val="100000"/>
              <a:buChar char="•"/>
            </a:pPr>
            <a:r>
              <a:rPr lang="en-US" sz="1400" dirty="0">
                <a:solidFill>
                  <a:srgbClr val="FFFFFF"/>
                </a:solidFill>
                <a:latin typeface="Times New Roman" pitchFamily="34" charset="0"/>
              </a:rPr>
              <a:t>Validate prototype performance through field testing at a real agricultural site</a:t>
            </a:r>
          </a:p>
          <a:p>
            <a:pPr marL="342900" indent="-342900">
              <a:buSzPct val="100000"/>
              <a:buChar char="•"/>
            </a:pPr>
            <a:r>
              <a:rPr lang="en-US" sz="1400" dirty="0">
                <a:solidFill>
                  <a:srgbClr val="FFFFFF"/>
                </a:solidFill>
                <a:latin typeface="Times New Roman" pitchFamily="34" charset="0"/>
              </a:rPr>
              <a:t>Prepare system documentation and patent application for the proposed innovation</a:t>
            </a:r>
          </a:p>
          <a:p>
            <a:pPr marL="0" indent="0">
              <a:buNone/>
            </a:pPr>
            <a:r>
              <a:rPr lang="en-US" sz="1600" b="1" dirty="0">
                <a:solidFill>
                  <a:srgbClr val="FFC000"/>
                </a:solidFill>
                <a:latin typeface="Times New Roman" pitchFamily="34" charset="0"/>
              </a:rPr>
              <a:t>Expected Outcome</a:t>
            </a:r>
          </a:p>
          <a:p>
            <a:pPr marL="342900" indent="-342900">
              <a:buSzPct val="100000"/>
              <a:buChar char="•"/>
            </a:pPr>
            <a:r>
              <a:rPr lang="en-US" sz="1400" dirty="0">
                <a:solidFill>
                  <a:srgbClr val="FFFFFF"/>
                </a:solidFill>
                <a:latin typeface="Times New Roman" pitchFamily="34" charset="0"/>
              </a:rPr>
              <a:t>A functional, affordable wind-powered smart irrigation system deployable in rural farms</a:t>
            </a:r>
          </a:p>
          <a:p>
            <a:pPr marL="342900" indent="-342900">
              <a:buSzPct val="100000"/>
              <a:buChar char="•"/>
            </a:pPr>
            <a:r>
              <a:rPr lang="en-US" sz="1400" dirty="0">
                <a:solidFill>
                  <a:srgbClr val="FFFFFF"/>
                </a:solidFill>
                <a:latin typeface="Times New Roman" pitchFamily="34" charset="0"/>
              </a:rPr>
              <a:t>Reduction in irrigation cost by 70-80% and water wastage by up to 40%</a:t>
            </a:r>
          </a:p>
        </p:txBody>
      </p:sp>
      <p:sp>
        <p:nvSpPr>
          <p:cNvPr id="50" name="Shape Footer"/>
          <p:cNvSpPr/>
          <p:nvPr/>
        </p:nvSpPr>
        <p:spPr>
          <a:xfrm>
            <a:off x="0" y="4818888"/>
            <a:ext cx="9144000" cy="324612"/>
          </a:xfrm>
          <a:prstGeom prst="rect">
            <a:avLst/>
          </a:prstGeom>
          <a:solidFill>
            <a:srgbClr val="0A1040"/>
          </a:solidFill>
          <a:ln/>
        </p:spPr>
      </p:sp>
      <p:sp>
        <p:nvSpPr>
          <p:cNvPr id="51" name="SlideNum"/>
          <p:cNvSpPr/>
          <p:nvPr/>
        </p:nvSpPr>
        <p:spPr>
          <a:xfrm>
            <a:off x="8500000" y="4840000"/>
            <a:ext cx="600000" cy="250000"/>
          </a:xfrm>
          <a:prstGeom prst="rect">
            <a:avLst/>
          </a:prstGeom>
          <a:noFill/>
          <a:ln/>
        </p:spPr>
        <p:txBody>
          <a:bodyPr wrap="square" lIns="0" tIns="0" rIns="0" bIns="0" rtlCol="0" anchor="ctr"/>
          <a:lstStyle/>
          <a:p>
            <a:pPr marL="0" indent="0" algn="r">
              <a:buNone/>
            </a:pPr>
            <a:r>
              <a:rPr lang="en-US" sz="1100" b="0" dirty="0">
                <a:solidFill>
                  <a:srgbClr val="FFC000"/>
                </a:solidFill>
                <a:latin typeface="Times New Roman" pitchFamily="34" charset="0"/>
              </a:rPr>
              <a:t>9</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A1628"/>
          </a:solidFill>
          <a:ln/>
        </p:spPr>
      </p:sp>
      <p:sp>
        <p:nvSpPr>
          <p:cNvPr id="3" name="Shape 1"/>
          <p:cNvSpPr/>
          <p:nvPr/>
        </p:nvSpPr>
        <p:spPr>
          <a:xfrm>
            <a:off x="0" y="0"/>
            <a:ext cx="9144000" cy="658368"/>
          </a:xfrm>
          <a:prstGeom prst="rect">
            <a:avLst/>
          </a:prstGeom>
          <a:solidFill>
            <a:srgbClr val="0A1628"/>
          </a:solidFill>
          <a:ln/>
        </p:spPr>
      </p:sp>
      <p:sp>
        <p:nvSpPr>
          <p:cNvPr id="4" name="Shape 2"/>
          <p:cNvSpPr/>
          <p:nvPr/>
        </p:nvSpPr>
        <p:spPr>
          <a:xfrm>
            <a:off x="0" y="0"/>
            <a:ext cx="109728" cy="658368"/>
          </a:xfrm>
          <a:prstGeom prst="rect">
            <a:avLst/>
          </a:prstGeom>
          <a:solidFill>
            <a:srgbClr val="FFC000"/>
          </a:solidFill>
          <a:ln/>
        </p:spPr>
      </p:sp>
      <p:sp>
        <p:nvSpPr>
          <p:cNvPr id="5" name="Text 3"/>
          <p:cNvSpPr/>
          <p:nvPr/>
        </p:nvSpPr>
        <p:spPr>
          <a:xfrm>
            <a:off x="201168" y="0"/>
            <a:ext cx="8778240" cy="658368"/>
          </a:xfrm>
          <a:prstGeom prst="rect">
            <a:avLst/>
          </a:prstGeom>
          <a:noFill/>
          <a:ln/>
        </p:spPr>
        <p:txBody>
          <a:bodyPr wrap="square" lIns="0" tIns="0" rIns="0" bIns="0" rtlCol="0" anchor="ctr"/>
          <a:lstStyle/>
          <a:p>
            <a:pPr marL="0" indent="0">
              <a:buNone/>
            </a:pPr>
            <a:r>
              <a:rPr lang="en-US" sz="3600" b="1" dirty="0">
                <a:solidFill>
                  <a:srgbClr val="FFFFFF"/>
                </a:solidFill>
                <a:latin typeface="Times New Roman" pitchFamily="34" charset="0"/>
                <a:ea typeface="Times New Roman" pitchFamily="34" charset="-122"/>
                <a:cs typeface="Times New Roman" pitchFamily="34" charset="-120"/>
              </a:rPr>
              <a:t>Block Diagram of Proposed System</a:t>
            </a:r>
            <a:endParaRPr lang="en-US" sz="3600" dirty="0"/>
          </a:p>
        </p:txBody>
      </p:sp>
      <p:sp>
        <p:nvSpPr>
          <p:cNvPr id="6" name="Text 4"/>
          <p:cNvSpPr/>
          <p:nvPr/>
        </p:nvSpPr>
        <p:spPr>
          <a:xfrm>
            <a:off x="137160" y="713232"/>
            <a:ext cx="2286000" cy="256032"/>
          </a:xfrm>
          <a:prstGeom prst="rect">
            <a:avLst/>
          </a:prstGeom>
          <a:noFill/>
          <a:ln/>
        </p:spPr>
        <p:txBody>
          <a:bodyPr wrap="square" lIns="0" tIns="0" rIns="0" bIns="0" rtlCol="0" anchor="ctr"/>
          <a:lstStyle/>
          <a:p>
            <a:pPr marL="0" indent="0" algn="ctr">
              <a:buNone/>
            </a:pPr>
            <a:r>
              <a:rPr lang="en-US" sz="800" b="1" dirty="0">
                <a:solidFill>
                  <a:srgbClr val="FFC000"/>
                </a:solidFill>
                <a:latin typeface="Times New Roman" pitchFamily="34" charset="0"/>
                <a:ea typeface="Times New Roman" pitchFamily="34" charset="-122"/>
                <a:cs typeface="Times New Roman" pitchFamily="34" charset="-120"/>
              </a:rPr>
              <a:t>WIND ENERGY SECTION</a:t>
            </a:r>
            <a:endParaRPr lang="en-US" sz="800" dirty="0"/>
          </a:p>
        </p:txBody>
      </p:sp>
      <p:sp>
        <p:nvSpPr>
          <p:cNvPr id="7" name="Shape 5"/>
          <p:cNvSpPr/>
          <p:nvPr/>
        </p:nvSpPr>
        <p:spPr>
          <a:xfrm>
            <a:off x="137160" y="1005840"/>
            <a:ext cx="2286000" cy="402336"/>
          </a:xfrm>
          <a:prstGeom prst="rect">
            <a:avLst/>
          </a:prstGeom>
          <a:solidFill>
            <a:srgbClr val="0D1B3E"/>
          </a:solidFill>
          <a:ln w="10160">
            <a:solidFill>
              <a:srgbClr val="3A5080"/>
            </a:solidFill>
            <a:prstDash val="solid"/>
          </a:ln>
        </p:spPr>
      </p:sp>
      <p:sp>
        <p:nvSpPr>
          <p:cNvPr id="8" name="Text 6"/>
          <p:cNvSpPr/>
          <p:nvPr/>
        </p:nvSpPr>
        <p:spPr>
          <a:xfrm>
            <a:off x="137160" y="1005840"/>
            <a:ext cx="2286000" cy="402336"/>
          </a:xfrm>
          <a:prstGeom prst="rect">
            <a:avLst/>
          </a:prstGeom>
          <a:noFill/>
          <a:ln/>
        </p:spPr>
        <p:txBody>
          <a:bodyPr wrap="square" lIns="25400" tIns="25400" rIns="25400" bIns="2540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Artificial Windmill</a:t>
            </a:r>
            <a:endParaRPr lang="en-US" sz="900" dirty="0"/>
          </a:p>
        </p:txBody>
      </p:sp>
      <p:sp>
        <p:nvSpPr>
          <p:cNvPr id="9" name="Shape 7"/>
          <p:cNvSpPr/>
          <p:nvPr/>
        </p:nvSpPr>
        <p:spPr>
          <a:xfrm>
            <a:off x="822960" y="1408176"/>
            <a:ext cx="0" cy="182880"/>
          </a:xfrm>
          <a:prstGeom prst="line">
            <a:avLst/>
          </a:prstGeom>
          <a:noFill/>
          <a:ln w="19050">
            <a:solidFill>
              <a:srgbClr val="FFC000"/>
            </a:solidFill>
            <a:prstDash val="solid"/>
          </a:ln>
        </p:spPr>
      </p:sp>
      <p:sp>
        <p:nvSpPr>
          <p:cNvPr id="10" name="Shape 8"/>
          <p:cNvSpPr/>
          <p:nvPr/>
        </p:nvSpPr>
        <p:spPr>
          <a:xfrm>
            <a:off x="137160" y="1545336"/>
            <a:ext cx="2286000" cy="402336"/>
          </a:xfrm>
          <a:prstGeom prst="rect">
            <a:avLst/>
          </a:prstGeom>
          <a:solidFill>
            <a:srgbClr val="0D2B5E"/>
          </a:solidFill>
          <a:ln w="10160">
            <a:solidFill>
              <a:srgbClr val="3A5080"/>
            </a:solidFill>
            <a:prstDash val="solid"/>
          </a:ln>
        </p:spPr>
      </p:sp>
      <p:sp>
        <p:nvSpPr>
          <p:cNvPr id="11" name="Text 9"/>
          <p:cNvSpPr/>
          <p:nvPr/>
        </p:nvSpPr>
        <p:spPr>
          <a:xfrm>
            <a:off x="137160" y="1545336"/>
            <a:ext cx="2286000" cy="402336"/>
          </a:xfrm>
          <a:prstGeom prst="rect">
            <a:avLst/>
          </a:prstGeom>
          <a:noFill/>
          <a:ln/>
        </p:spPr>
        <p:txBody>
          <a:bodyPr wrap="square" lIns="25400" tIns="25400" rIns="25400" bIns="2540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DC Motor / Generator</a:t>
            </a:r>
            <a:endParaRPr lang="en-US" sz="900" dirty="0"/>
          </a:p>
        </p:txBody>
      </p:sp>
      <p:sp>
        <p:nvSpPr>
          <p:cNvPr id="12" name="Shape 10"/>
          <p:cNvSpPr/>
          <p:nvPr/>
        </p:nvSpPr>
        <p:spPr>
          <a:xfrm>
            <a:off x="822960" y="1947672"/>
            <a:ext cx="0" cy="182880"/>
          </a:xfrm>
          <a:prstGeom prst="line">
            <a:avLst/>
          </a:prstGeom>
          <a:noFill/>
          <a:ln w="19050">
            <a:solidFill>
              <a:srgbClr val="FFC000"/>
            </a:solidFill>
            <a:prstDash val="solid"/>
          </a:ln>
        </p:spPr>
      </p:sp>
      <p:sp>
        <p:nvSpPr>
          <p:cNvPr id="13" name="Shape 11"/>
          <p:cNvSpPr/>
          <p:nvPr/>
        </p:nvSpPr>
        <p:spPr>
          <a:xfrm>
            <a:off x="137160" y="2084832"/>
            <a:ext cx="2286000" cy="402336"/>
          </a:xfrm>
          <a:prstGeom prst="rect">
            <a:avLst/>
          </a:prstGeom>
          <a:solidFill>
            <a:srgbClr val="0D2B5E"/>
          </a:solidFill>
          <a:ln w="10160">
            <a:solidFill>
              <a:srgbClr val="3A5080"/>
            </a:solidFill>
            <a:prstDash val="solid"/>
          </a:ln>
        </p:spPr>
      </p:sp>
      <p:sp>
        <p:nvSpPr>
          <p:cNvPr id="14" name="Text 12"/>
          <p:cNvSpPr/>
          <p:nvPr/>
        </p:nvSpPr>
        <p:spPr>
          <a:xfrm>
            <a:off x="137160" y="2084832"/>
            <a:ext cx="2286000" cy="402336"/>
          </a:xfrm>
          <a:prstGeom prst="rect">
            <a:avLst/>
          </a:prstGeom>
          <a:noFill/>
          <a:ln/>
        </p:spPr>
        <p:txBody>
          <a:bodyPr wrap="square" lIns="25400" tIns="25400" rIns="25400" bIns="2540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DC-DC Buck Converter</a:t>
            </a:r>
            <a:endParaRPr lang="en-US" sz="900" dirty="0"/>
          </a:p>
        </p:txBody>
      </p:sp>
      <p:sp>
        <p:nvSpPr>
          <p:cNvPr id="15" name="Shape 13"/>
          <p:cNvSpPr/>
          <p:nvPr/>
        </p:nvSpPr>
        <p:spPr>
          <a:xfrm>
            <a:off x="822960" y="2487168"/>
            <a:ext cx="0" cy="182880"/>
          </a:xfrm>
          <a:prstGeom prst="line">
            <a:avLst/>
          </a:prstGeom>
          <a:noFill/>
          <a:ln w="19050">
            <a:solidFill>
              <a:srgbClr val="FFC000"/>
            </a:solidFill>
            <a:prstDash val="solid"/>
          </a:ln>
        </p:spPr>
      </p:sp>
      <p:sp>
        <p:nvSpPr>
          <p:cNvPr id="16" name="Shape 14"/>
          <p:cNvSpPr/>
          <p:nvPr/>
        </p:nvSpPr>
        <p:spPr>
          <a:xfrm>
            <a:off x="137160" y="2624328"/>
            <a:ext cx="2286000" cy="402336"/>
          </a:xfrm>
          <a:prstGeom prst="rect">
            <a:avLst/>
          </a:prstGeom>
          <a:solidFill>
            <a:srgbClr val="0D2B5E"/>
          </a:solidFill>
          <a:ln w="10160">
            <a:solidFill>
              <a:srgbClr val="3A5080"/>
            </a:solidFill>
            <a:prstDash val="solid"/>
          </a:ln>
        </p:spPr>
      </p:sp>
      <p:sp>
        <p:nvSpPr>
          <p:cNvPr id="17" name="Text 15"/>
          <p:cNvSpPr/>
          <p:nvPr/>
        </p:nvSpPr>
        <p:spPr>
          <a:xfrm>
            <a:off x="137160" y="2624328"/>
            <a:ext cx="2286000" cy="402336"/>
          </a:xfrm>
          <a:prstGeom prst="rect">
            <a:avLst/>
          </a:prstGeom>
          <a:noFill/>
          <a:ln/>
        </p:spPr>
        <p:txBody>
          <a:bodyPr wrap="square" lIns="25400" tIns="25400" rIns="25400" bIns="2540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BMS Module</a:t>
            </a:r>
            <a:endParaRPr lang="en-US" sz="900" dirty="0"/>
          </a:p>
        </p:txBody>
      </p:sp>
      <p:sp>
        <p:nvSpPr>
          <p:cNvPr id="18" name="Shape 16"/>
          <p:cNvSpPr/>
          <p:nvPr/>
        </p:nvSpPr>
        <p:spPr>
          <a:xfrm>
            <a:off x="822960" y="3026664"/>
            <a:ext cx="0" cy="182880"/>
          </a:xfrm>
          <a:prstGeom prst="line">
            <a:avLst/>
          </a:prstGeom>
          <a:noFill/>
          <a:ln w="19050">
            <a:solidFill>
              <a:srgbClr val="FFC000"/>
            </a:solidFill>
            <a:prstDash val="solid"/>
          </a:ln>
        </p:spPr>
      </p:sp>
      <p:sp>
        <p:nvSpPr>
          <p:cNvPr id="19" name="Shape 17"/>
          <p:cNvSpPr/>
          <p:nvPr/>
        </p:nvSpPr>
        <p:spPr>
          <a:xfrm>
            <a:off x="137160" y="3163824"/>
            <a:ext cx="2286000" cy="402336"/>
          </a:xfrm>
          <a:prstGeom prst="rect">
            <a:avLst/>
          </a:prstGeom>
          <a:solidFill>
            <a:srgbClr val="1A3A6E"/>
          </a:solidFill>
          <a:ln w="10160">
            <a:solidFill>
              <a:srgbClr val="3A5080"/>
            </a:solidFill>
            <a:prstDash val="solid"/>
          </a:ln>
        </p:spPr>
      </p:sp>
      <p:sp>
        <p:nvSpPr>
          <p:cNvPr id="20" name="Text 18"/>
          <p:cNvSpPr/>
          <p:nvPr/>
        </p:nvSpPr>
        <p:spPr>
          <a:xfrm>
            <a:off x="137160" y="3163824"/>
            <a:ext cx="2286000" cy="402336"/>
          </a:xfrm>
          <a:prstGeom prst="rect">
            <a:avLst/>
          </a:prstGeom>
          <a:noFill/>
          <a:ln/>
        </p:spPr>
        <p:txBody>
          <a:bodyPr wrap="square" lIns="25400" tIns="25400" rIns="25400" bIns="2540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3.7V Lithium Battery</a:t>
            </a:r>
            <a:endParaRPr lang="en-US" sz="900" dirty="0"/>
          </a:p>
        </p:txBody>
      </p:sp>
      <p:sp>
        <p:nvSpPr>
          <p:cNvPr id="21" name="Shape 19"/>
          <p:cNvSpPr/>
          <p:nvPr/>
        </p:nvSpPr>
        <p:spPr>
          <a:xfrm>
            <a:off x="822960" y="3566160"/>
            <a:ext cx="0" cy="182880"/>
          </a:xfrm>
          <a:prstGeom prst="line">
            <a:avLst/>
          </a:prstGeom>
          <a:noFill/>
          <a:ln w="19050">
            <a:solidFill>
              <a:srgbClr val="FFC000"/>
            </a:solidFill>
            <a:prstDash val="solid"/>
          </a:ln>
        </p:spPr>
      </p:sp>
      <p:sp>
        <p:nvSpPr>
          <p:cNvPr id="22" name="Shape 20"/>
          <p:cNvSpPr/>
          <p:nvPr/>
        </p:nvSpPr>
        <p:spPr>
          <a:xfrm>
            <a:off x="137160" y="3703320"/>
            <a:ext cx="2286000" cy="402336"/>
          </a:xfrm>
          <a:prstGeom prst="rect">
            <a:avLst/>
          </a:prstGeom>
          <a:solidFill>
            <a:srgbClr val="0D2B5E"/>
          </a:solidFill>
          <a:ln w="10160">
            <a:solidFill>
              <a:srgbClr val="3A5080"/>
            </a:solidFill>
            <a:prstDash val="solid"/>
          </a:ln>
        </p:spPr>
      </p:sp>
      <p:sp>
        <p:nvSpPr>
          <p:cNvPr id="23" name="Text 21"/>
          <p:cNvSpPr/>
          <p:nvPr/>
        </p:nvSpPr>
        <p:spPr>
          <a:xfrm>
            <a:off x="137160" y="3703320"/>
            <a:ext cx="2286000" cy="402336"/>
          </a:xfrm>
          <a:prstGeom prst="rect">
            <a:avLst/>
          </a:prstGeom>
          <a:noFill/>
          <a:ln/>
        </p:spPr>
        <p:txBody>
          <a:bodyPr wrap="square" lIns="25400" tIns="25400" rIns="25400" bIns="2540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5V DC-DC Buck Converter</a:t>
            </a:r>
            <a:endParaRPr lang="en-US" sz="900" dirty="0"/>
          </a:p>
        </p:txBody>
      </p:sp>
      <p:sp>
        <p:nvSpPr>
          <p:cNvPr id="24" name="Shape 22"/>
          <p:cNvSpPr/>
          <p:nvPr/>
        </p:nvSpPr>
        <p:spPr>
          <a:xfrm>
            <a:off x="2423160" y="4178808"/>
            <a:ext cx="960120" cy="0"/>
          </a:xfrm>
          <a:prstGeom prst="line">
            <a:avLst/>
          </a:prstGeom>
          <a:noFill/>
          <a:ln w="19050">
            <a:solidFill>
              <a:srgbClr val="FFC000"/>
            </a:solidFill>
            <a:prstDash val="solid"/>
          </a:ln>
        </p:spPr>
      </p:sp>
      <p:sp>
        <p:nvSpPr>
          <p:cNvPr id="25" name="Text 23"/>
          <p:cNvSpPr/>
          <p:nvPr/>
        </p:nvSpPr>
        <p:spPr>
          <a:xfrm>
            <a:off x="3383280" y="713232"/>
            <a:ext cx="2377440" cy="256032"/>
          </a:xfrm>
          <a:prstGeom prst="rect">
            <a:avLst/>
          </a:prstGeom>
          <a:noFill/>
          <a:ln/>
        </p:spPr>
        <p:txBody>
          <a:bodyPr wrap="square" lIns="0" tIns="0" rIns="0" bIns="0" rtlCol="0" anchor="ctr"/>
          <a:lstStyle/>
          <a:p>
            <a:pPr marL="0" indent="0" algn="ctr">
              <a:buNone/>
            </a:pPr>
            <a:r>
              <a:rPr lang="en-US" sz="800" b="1" dirty="0">
                <a:solidFill>
                  <a:srgbClr val="FFC000"/>
                </a:solidFill>
                <a:latin typeface="Times New Roman" pitchFamily="34" charset="0"/>
                <a:ea typeface="Times New Roman" pitchFamily="34" charset="-122"/>
                <a:cs typeface="Times New Roman" pitchFamily="34" charset="-120"/>
              </a:rPr>
              <a:t>CONTROLLER SECTION</a:t>
            </a:r>
            <a:endParaRPr lang="en-US" sz="800" dirty="0"/>
          </a:p>
        </p:txBody>
      </p:sp>
      <p:sp>
        <p:nvSpPr>
          <p:cNvPr id="26" name="Shape 24"/>
          <p:cNvSpPr/>
          <p:nvPr/>
        </p:nvSpPr>
        <p:spPr>
          <a:xfrm>
            <a:off x="3383280" y="1097280"/>
            <a:ext cx="2377440" cy="402336"/>
          </a:xfrm>
          <a:prstGeom prst="rect">
            <a:avLst/>
          </a:prstGeom>
          <a:solidFill>
            <a:srgbClr val="1A3560"/>
          </a:solidFill>
          <a:ln w="10160">
            <a:solidFill>
              <a:srgbClr val="3A5080"/>
            </a:solidFill>
            <a:prstDash val="solid"/>
          </a:ln>
        </p:spPr>
      </p:sp>
      <p:sp>
        <p:nvSpPr>
          <p:cNvPr id="27" name="Text 25"/>
          <p:cNvSpPr/>
          <p:nvPr/>
        </p:nvSpPr>
        <p:spPr>
          <a:xfrm>
            <a:off x="3383280" y="1097280"/>
            <a:ext cx="2377440" cy="402336"/>
          </a:xfrm>
          <a:prstGeom prst="rect">
            <a:avLst/>
          </a:prstGeom>
          <a:noFill/>
          <a:ln/>
        </p:spPr>
        <p:txBody>
          <a:bodyPr wrap="square" lIns="25400" tIns="25400" rIns="25400" bIns="2540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OLED Display Module</a:t>
            </a:r>
            <a:endParaRPr lang="en-US" sz="900" dirty="0"/>
          </a:p>
        </p:txBody>
      </p:sp>
      <p:sp>
        <p:nvSpPr>
          <p:cNvPr id="28" name="Shape 26"/>
          <p:cNvSpPr/>
          <p:nvPr/>
        </p:nvSpPr>
        <p:spPr>
          <a:xfrm>
            <a:off x="4572000" y="1499616"/>
            <a:ext cx="0" cy="320040"/>
          </a:xfrm>
          <a:prstGeom prst="line">
            <a:avLst/>
          </a:prstGeom>
          <a:noFill/>
          <a:ln w="12700">
            <a:solidFill>
              <a:srgbClr val="FFC000"/>
            </a:solidFill>
            <a:prstDash val="solid"/>
          </a:ln>
        </p:spPr>
      </p:sp>
      <p:sp>
        <p:nvSpPr>
          <p:cNvPr id="29" name="Shape 27"/>
          <p:cNvSpPr/>
          <p:nvPr/>
        </p:nvSpPr>
        <p:spPr>
          <a:xfrm>
            <a:off x="3383280" y="1819656"/>
            <a:ext cx="2377440" cy="640080"/>
          </a:xfrm>
          <a:prstGeom prst="rect">
            <a:avLst/>
          </a:prstGeom>
          <a:solidFill>
            <a:srgbClr val="0D1B3E"/>
          </a:solidFill>
          <a:ln w="10160">
            <a:solidFill>
              <a:srgbClr val="3A5080"/>
            </a:solidFill>
            <a:prstDash val="solid"/>
          </a:ln>
        </p:spPr>
      </p:sp>
      <p:sp>
        <p:nvSpPr>
          <p:cNvPr id="30" name="Text 28"/>
          <p:cNvSpPr/>
          <p:nvPr/>
        </p:nvSpPr>
        <p:spPr>
          <a:xfrm>
            <a:off x="3383280" y="1819656"/>
            <a:ext cx="2377440" cy="640080"/>
          </a:xfrm>
          <a:prstGeom prst="rect">
            <a:avLst/>
          </a:prstGeom>
          <a:noFill/>
          <a:ln/>
        </p:spPr>
        <p:txBody>
          <a:bodyPr wrap="square" lIns="25400" tIns="25400" rIns="25400" bIns="25400" rtlCol="0" anchor="ctr"/>
          <a:lstStyle/>
          <a:p>
            <a:pPr marL="0" indent="0" algn="ctr">
              <a:buNone/>
            </a:pPr>
            <a:r>
              <a:rPr lang="en-US" sz="1000" b="1" dirty="0">
                <a:solidFill>
                  <a:srgbClr val="FFC000"/>
                </a:solidFill>
                <a:latin typeface="Times New Roman" pitchFamily="34" charset="0"/>
                <a:ea typeface="Times New Roman" pitchFamily="34" charset="-122"/>
                <a:cs typeface="Times New Roman" pitchFamily="34" charset="-120"/>
              </a:rPr>
              <a:t>ESP32</a:t>
            </a:r>
            <a:endParaRPr lang="en-US" sz="1000" dirty="0"/>
          </a:p>
          <a:p>
            <a:pPr marL="0" indent="0" algn="ctr">
              <a:buNone/>
            </a:pPr>
            <a:r>
              <a:rPr lang="en-US" sz="1000" b="1" dirty="0">
                <a:solidFill>
                  <a:srgbClr val="FFC000"/>
                </a:solidFill>
                <a:latin typeface="Times New Roman" pitchFamily="34" charset="0"/>
                <a:ea typeface="Times New Roman" pitchFamily="34" charset="-122"/>
                <a:cs typeface="Times New Roman" pitchFamily="34" charset="-120"/>
              </a:rPr>
              <a:t>Main Controller</a:t>
            </a:r>
            <a:endParaRPr lang="en-US" sz="1000" dirty="0"/>
          </a:p>
        </p:txBody>
      </p:sp>
      <p:sp>
        <p:nvSpPr>
          <p:cNvPr id="31" name="Shape 29"/>
          <p:cNvSpPr/>
          <p:nvPr/>
        </p:nvSpPr>
        <p:spPr>
          <a:xfrm>
            <a:off x="4572000" y="2459736"/>
            <a:ext cx="0" cy="274320"/>
          </a:xfrm>
          <a:prstGeom prst="line">
            <a:avLst/>
          </a:prstGeom>
          <a:noFill/>
          <a:ln w="19050">
            <a:solidFill>
              <a:srgbClr val="FFC000"/>
            </a:solidFill>
            <a:prstDash val="solid"/>
          </a:ln>
        </p:spPr>
      </p:sp>
      <p:sp>
        <p:nvSpPr>
          <p:cNvPr id="32" name="Shape 30"/>
          <p:cNvSpPr/>
          <p:nvPr/>
        </p:nvSpPr>
        <p:spPr>
          <a:xfrm>
            <a:off x="3383280" y="2734056"/>
            <a:ext cx="2377440" cy="402336"/>
          </a:xfrm>
          <a:prstGeom prst="rect">
            <a:avLst/>
          </a:prstGeom>
          <a:solidFill>
            <a:srgbClr val="1A3560"/>
          </a:solidFill>
          <a:ln w="10160">
            <a:solidFill>
              <a:srgbClr val="3A5080"/>
            </a:solidFill>
            <a:prstDash val="solid"/>
          </a:ln>
        </p:spPr>
      </p:sp>
      <p:sp>
        <p:nvSpPr>
          <p:cNvPr id="33" name="Text 31"/>
          <p:cNvSpPr/>
          <p:nvPr/>
        </p:nvSpPr>
        <p:spPr>
          <a:xfrm>
            <a:off x="3383280" y="2734056"/>
            <a:ext cx="2377440" cy="402336"/>
          </a:xfrm>
          <a:prstGeom prst="rect">
            <a:avLst/>
          </a:prstGeom>
          <a:noFill/>
          <a:ln/>
        </p:spPr>
        <p:txBody>
          <a:bodyPr wrap="square" lIns="25400" tIns="25400" rIns="25400" bIns="2540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Power Switch</a:t>
            </a:r>
            <a:endParaRPr lang="en-US" sz="900" dirty="0"/>
          </a:p>
        </p:txBody>
      </p:sp>
      <p:sp>
        <p:nvSpPr>
          <p:cNvPr id="34" name="Shape 32"/>
          <p:cNvSpPr/>
          <p:nvPr/>
        </p:nvSpPr>
        <p:spPr>
          <a:xfrm>
            <a:off x="5760720" y="2139696"/>
            <a:ext cx="320040" cy="0"/>
          </a:xfrm>
          <a:prstGeom prst="line">
            <a:avLst/>
          </a:prstGeom>
          <a:noFill/>
          <a:ln w="19050">
            <a:solidFill>
              <a:srgbClr val="FFC000"/>
            </a:solidFill>
            <a:prstDash val="solid"/>
          </a:ln>
        </p:spPr>
      </p:sp>
      <p:sp>
        <p:nvSpPr>
          <p:cNvPr id="35" name="Shape 33"/>
          <p:cNvSpPr/>
          <p:nvPr/>
        </p:nvSpPr>
        <p:spPr>
          <a:xfrm>
            <a:off x="3383280" y="2139696"/>
            <a:ext cx="0" cy="0"/>
          </a:xfrm>
          <a:prstGeom prst="line">
            <a:avLst/>
          </a:prstGeom>
          <a:noFill/>
          <a:ln w="19050">
            <a:solidFill>
              <a:srgbClr val="FFC000"/>
            </a:solidFill>
            <a:prstDash val="solid"/>
          </a:ln>
        </p:spPr>
      </p:sp>
      <p:sp>
        <p:nvSpPr>
          <p:cNvPr id="36" name="Text 34"/>
          <p:cNvSpPr/>
          <p:nvPr/>
        </p:nvSpPr>
        <p:spPr>
          <a:xfrm>
            <a:off x="6080760" y="713232"/>
            <a:ext cx="2926080" cy="256032"/>
          </a:xfrm>
          <a:prstGeom prst="rect">
            <a:avLst/>
          </a:prstGeom>
          <a:noFill/>
          <a:ln/>
        </p:spPr>
        <p:txBody>
          <a:bodyPr wrap="square" lIns="0" tIns="0" rIns="0" bIns="0" rtlCol="0" anchor="ctr"/>
          <a:lstStyle/>
          <a:p>
            <a:pPr marL="0" indent="0" algn="ctr">
              <a:buNone/>
            </a:pPr>
            <a:r>
              <a:rPr lang="en-US" sz="800" b="1" dirty="0">
                <a:solidFill>
                  <a:srgbClr val="FFC000"/>
                </a:solidFill>
                <a:latin typeface="Times New Roman" pitchFamily="34" charset="0"/>
                <a:ea typeface="Times New Roman" pitchFamily="34" charset="-122"/>
                <a:cs typeface="Times New Roman" pitchFamily="34" charset="-120"/>
              </a:rPr>
              <a:t>SENSOR &amp; OUTPUT SECTION</a:t>
            </a:r>
            <a:endParaRPr lang="en-US" sz="800" dirty="0"/>
          </a:p>
        </p:txBody>
      </p:sp>
      <p:sp>
        <p:nvSpPr>
          <p:cNvPr id="37" name="Shape 35"/>
          <p:cNvSpPr/>
          <p:nvPr/>
        </p:nvSpPr>
        <p:spPr>
          <a:xfrm>
            <a:off x="5989320" y="1207008"/>
            <a:ext cx="91440" cy="0"/>
          </a:xfrm>
          <a:prstGeom prst="line">
            <a:avLst/>
          </a:prstGeom>
          <a:noFill/>
          <a:ln w="12700">
            <a:solidFill>
              <a:srgbClr val="FFC000"/>
            </a:solidFill>
            <a:prstDash val="solid"/>
          </a:ln>
        </p:spPr>
      </p:sp>
      <p:sp>
        <p:nvSpPr>
          <p:cNvPr id="38" name="Shape 36"/>
          <p:cNvSpPr/>
          <p:nvPr/>
        </p:nvSpPr>
        <p:spPr>
          <a:xfrm>
            <a:off x="6080760" y="1005840"/>
            <a:ext cx="2926080" cy="402336"/>
          </a:xfrm>
          <a:prstGeom prst="rect">
            <a:avLst/>
          </a:prstGeom>
          <a:solidFill>
            <a:srgbClr val="0D2B5E"/>
          </a:solidFill>
          <a:ln w="10160">
            <a:solidFill>
              <a:srgbClr val="3A5080"/>
            </a:solidFill>
            <a:prstDash val="solid"/>
          </a:ln>
        </p:spPr>
      </p:sp>
      <p:sp>
        <p:nvSpPr>
          <p:cNvPr id="39" name="Text 37"/>
          <p:cNvSpPr/>
          <p:nvPr/>
        </p:nvSpPr>
        <p:spPr>
          <a:xfrm>
            <a:off x="6080760" y="1005840"/>
            <a:ext cx="2926080" cy="402336"/>
          </a:xfrm>
          <a:prstGeom prst="rect">
            <a:avLst/>
          </a:prstGeom>
          <a:noFill/>
          <a:ln/>
        </p:spPr>
        <p:txBody>
          <a:bodyPr wrap="square" lIns="25400" tIns="25400" rIns="25400" bIns="2540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1-Ch 5V Relay Module → Water Pump</a:t>
            </a:r>
            <a:endParaRPr lang="en-US" sz="900" dirty="0"/>
          </a:p>
        </p:txBody>
      </p:sp>
      <p:sp>
        <p:nvSpPr>
          <p:cNvPr id="40" name="Shape 38"/>
          <p:cNvSpPr/>
          <p:nvPr/>
        </p:nvSpPr>
        <p:spPr>
          <a:xfrm>
            <a:off x="5989320" y="1746504"/>
            <a:ext cx="91440" cy="0"/>
          </a:xfrm>
          <a:prstGeom prst="line">
            <a:avLst/>
          </a:prstGeom>
          <a:noFill/>
          <a:ln w="12700">
            <a:solidFill>
              <a:srgbClr val="FFC000"/>
            </a:solidFill>
            <a:prstDash val="solid"/>
          </a:ln>
        </p:spPr>
      </p:sp>
      <p:sp>
        <p:nvSpPr>
          <p:cNvPr id="41" name="Shape 39"/>
          <p:cNvSpPr/>
          <p:nvPr/>
        </p:nvSpPr>
        <p:spPr>
          <a:xfrm>
            <a:off x="6080760" y="1545336"/>
            <a:ext cx="2926080" cy="402336"/>
          </a:xfrm>
          <a:prstGeom prst="rect">
            <a:avLst/>
          </a:prstGeom>
          <a:solidFill>
            <a:srgbClr val="103A20"/>
          </a:solidFill>
          <a:ln w="10160">
            <a:solidFill>
              <a:srgbClr val="3A5080"/>
            </a:solidFill>
            <a:prstDash val="solid"/>
          </a:ln>
        </p:spPr>
      </p:sp>
      <p:sp>
        <p:nvSpPr>
          <p:cNvPr id="42" name="Text 40"/>
          <p:cNvSpPr/>
          <p:nvPr/>
        </p:nvSpPr>
        <p:spPr>
          <a:xfrm>
            <a:off x="6080760" y="1545336"/>
            <a:ext cx="2926080" cy="402336"/>
          </a:xfrm>
          <a:prstGeom prst="rect">
            <a:avLst/>
          </a:prstGeom>
          <a:noFill/>
          <a:ln/>
        </p:spPr>
        <p:txBody>
          <a:bodyPr wrap="square" lIns="25400" tIns="25400" rIns="25400" bIns="2540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Soil Moisture Sensor</a:t>
            </a:r>
            <a:endParaRPr lang="en-US" sz="900" dirty="0"/>
          </a:p>
        </p:txBody>
      </p:sp>
      <p:sp>
        <p:nvSpPr>
          <p:cNvPr id="43" name="Shape 41"/>
          <p:cNvSpPr/>
          <p:nvPr/>
        </p:nvSpPr>
        <p:spPr>
          <a:xfrm>
            <a:off x="5989320" y="2286000"/>
            <a:ext cx="91440" cy="0"/>
          </a:xfrm>
          <a:prstGeom prst="line">
            <a:avLst/>
          </a:prstGeom>
          <a:noFill/>
          <a:ln w="12700">
            <a:solidFill>
              <a:srgbClr val="FFC000"/>
            </a:solidFill>
            <a:prstDash val="solid"/>
          </a:ln>
        </p:spPr>
      </p:sp>
      <p:sp>
        <p:nvSpPr>
          <p:cNvPr id="44" name="Shape 42"/>
          <p:cNvSpPr/>
          <p:nvPr/>
        </p:nvSpPr>
        <p:spPr>
          <a:xfrm>
            <a:off x="6080760" y="2084832"/>
            <a:ext cx="2926080" cy="402336"/>
          </a:xfrm>
          <a:prstGeom prst="rect">
            <a:avLst/>
          </a:prstGeom>
          <a:solidFill>
            <a:srgbClr val="103A20"/>
          </a:solidFill>
          <a:ln w="10160">
            <a:solidFill>
              <a:srgbClr val="3A5080"/>
            </a:solidFill>
            <a:prstDash val="solid"/>
          </a:ln>
        </p:spPr>
      </p:sp>
      <p:sp>
        <p:nvSpPr>
          <p:cNvPr id="45" name="Text 43"/>
          <p:cNvSpPr/>
          <p:nvPr/>
        </p:nvSpPr>
        <p:spPr>
          <a:xfrm>
            <a:off x="6080760" y="2084832"/>
            <a:ext cx="2926080" cy="402336"/>
          </a:xfrm>
          <a:prstGeom prst="rect">
            <a:avLst/>
          </a:prstGeom>
          <a:noFill/>
          <a:ln/>
        </p:spPr>
        <p:txBody>
          <a:bodyPr wrap="square" lIns="25400" tIns="25400" rIns="25400" bIns="2540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Rain Water Sensor</a:t>
            </a:r>
            <a:endParaRPr lang="en-US" sz="900" dirty="0"/>
          </a:p>
        </p:txBody>
      </p:sp>
      <p:sp>
        <p:nvSpPr>
          <p:cNvPr id="46" name="Shape 44"/>
          <p:cNvSpPr/>
          <p:nvPr/>
        </p:nvSpPr>
        <p:spPr>
          <a:xfrm>
            <a:off x="5989320" y="2825496"/>
            <a:ext cx="91440" cy="0"/>
          </a:xfrm>
          <a:prstGeom prst="line">
            <a:avLst/>
          </a:prstGeom>
          <a:noFill/>
          <a:ln w="12700">
            <a:solidFill>
              <a:srgbClr val="FFC000"/>
            </a:solidFill>
            <a:prstDash val="solid"/>
          </a:ln>
        </p:spPr>
      </p:sp>
      <p:sp>
        <p:nvSpPr>
          <p:cNvPr id="47" name="Shape 45"/>
          <p:cNvSpPr/>
          <p:nvPr/>
        </p:nvSpPr>
        <p:spPr>
          <a:xfrm>
            <a:off x="6080760" y="2624328"/>
            <a:ext cx="2926080" cy="402336"/>
          </a:xfrm>
          <a:prstGeom prst="rect">
            <a:avLst/>
          </a:prstGeom>
          <a:solidFill>
            <a:srgbClr val="103A20"/>
          </a:solidFill>
          <a:ln w="10160">
            <a:solidFill>
              <a:srgbClr val="3A5080"/>
            </a:solidFill>
            <a:prstDash val="solid"/>
          </a:ln>
        </p:spPr>
      </p:sp>
      <p:sp>
        <p:nvSpPr>
          <p:cNvPr id="48" name="Text 46"/>
          <p:cNvSpPr/>
          <p:nvPr/>
        </p:nvSpPr>
        <p:spPr>
          <a:xfrm>
            <a:off x="6080760" y="2624328"/>
            <a:ext cx="2926080" cy="402336"/>
          </a:xfrm>
          <a:prstGeom prst="rect">
            <a:avLst/>
          </a:prstGeom>
          <a:noFill/>
          <a:ln/>
        </p:spPr>
        <p:txBody>
          <a:bodyPr wrap="square" lIns="25400" tIns="25400" rIns="25400" bIns="2540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LDR Sensor 1 (Light)</a:t>
            </a:r>
            <a:endParaRPr lang="en-US" sz="900" dirty="0"/>
          </a:p>
        </p:txBody>
      </p:sp>
      <p:sp>
        <p:nvSpPr>
          <p:cNvPr id="49" name="Shape 47"/>
          <p:cNvSpPr/>
          <p:nvPr/>
        </p:nvSpPr>
        <p:spPr>
          <a:xfrm>
            <a:off x="5989320" y="3364992"/>
            <a:ext cx="91440" cy="0"/>
          </a:xfrm>
          <a:prstGeom prst="line">
            <a:avLst/>
          </a:prstGeom>
          <a:noFill/>
          <a:ln w="12700">
            <a:solidFill>
              <a:srgbClr val="FFC000"/>
            </a:solidFill>
            <a:prstDash val="solid"/>
          </a:ln>
        </p:spPr>
      </p:sp>
      <p:sp>
        <p:nvSpPr>
          <p:cNvPr id="50" name="Shape 48"/>
          <p:cNvSpPr/>
          <p:nvPr/>
        </p:nvSpPr>
        <p:spPr>
          <a:xfrm>
            <a:off x="6080760" y="3163824"/>
            <a:ext cx="2926080" cy="402336"/>
          </a:xfrm>
          <a:prstGeom prst="rect">
            <a:avLst/>
          </a:prstGeom>
          <a:solidFill>
            <a:srgbClr val="103A20"/>
          </a:solidFill>
          <a:ln w="10160">
            <a:solidFill>
              <a:srgbClr val="3A5080"/>
            </a:solidFill>
            <a:prstDash val="solid"/>
          </a:ln>
        </p:spPr>
      </p:sp>
      <p:sp>
        <p:nvSpPr>
          <p:cNvPr id="51" name="Text 49"/>
          <p:cNvSpPr/>
          <p:nvPr/>
        </p:nvSpPr>
        <p:spPr>
          <a:xfrm>
            <a:off x="6080760" y="3163824"/>
            <a:ext cx="2926080" cy="402336"/>
          </a:xfrm>
          <a:prstGeom prst="rect">
            <a:avLst/>
          </a:prstGeom>
          <a:noFill/>
          <a:ln/>
        </p:spPr>
        <p:txBody>
          <a:bodyPr wrap="square" lIns="25400" tIns="25400" rIns="25400" bIns="2540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LDR Sensor 2 (Direction)</a:t>
            </a:r>
            <a:endParaRPr lang="en-US" sz="900" dirty="0"/>
          </a:p>
        </p:txBody>
      </p:sp>
      <p:sp>
        <p:nvSpPr>
          <p:cNvPr id="52" name="Shape 50"/>
          <p:cNvSpPr/>
          <p:nvPr/>
        </p:nvSpPr>
        <p:spPr>
          <a:xfrm>
            <a:off x="5989320" y="3904488"/>
            <a:ext cx="91440" cy="0"/>
          </a:xfrm>
          <a:prstGeom prst="line">
            <a:avLst/>
          </a:prstGeom>
          <a:noFill/>
          <a:ln w="12700">
            <a:solidFill>
              <a:srgbClr val="FFC000"/>
            </a:solidFill>
            <a:prstDash val="solid"/>
          </a:ln>
        </p:spPr>
      </p:sp>
      <p:sp>
        <p:nvSpPr>
          <p:cNvPr id="53" name="Shape 51"/>
          <p:cNvSpPr/>
          <p:nvPr/>
        </p:nvSpPr>
        <p:spPr>
          <a:xfrm>
            <a:off x="6080760" y="3703320"/>
            <a:ext cx="2926080" cy="402336"/>
          </a:xfrm>
          <a:prstGeom prst="rect">
            <a:avLst/>
          </a:prstGeom>
          <a:solidFill>
            <a:srgbClr val="1A3560"/>
          </a:solidFill>
          <a:ln w="10160">
            <a:solidFill>
              <a:srgbClr val="3A5080"/>
            </a:solidFill>
            <a:prstDash val="solid"/>
          </a:ln>
        </p:spPr>
      </p:sp>
      <p:sp>
        <p:nvSpPr>
          <p:cNvPr id="54" name="Text 52"/>
          <p:cNvSpPr/>
          <p:nvPr/>
        </p:nvSpPr>
        <p:spPr>
          <a:xfrm>
            <a:off x="6080760" y="3703320"/>
            <a:ext cx="2926080" cy="402336"/>
          </a:xfrm>
          <a:prstGeom prst="rect">
            <a:avLst/>
          </a:prstGeom>
          <a:noFill/>
          <a:ln/>
        </p:spPr>
        <p:txBody>
          <a:bodyPr wrap="square" lIns="25400" tIns="25400" rIns="25400" bIns="2540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General PCB / Support Board</a:t>
            </a:r>
            <a:endParaRPr lang="en-US" sz="900" dirty="0"/>
          </a:p>
        </p:txBody>
      </p:sp>
      <p:sp>
        <p:nvSpPr>
          <p:cNvPr id="55" name="Shape 53"/>
          <p:cNvSpPr/>
          <p:nvPr/>
        </p:nvSpPr>
        <p:spPr>
          <a:xfrm>
            <a:off x="5760720" y="2139696"/>
            <a:ext cx="320040" cy="0"/>
          </a:xfrm>
          <a:prstGeom prst="line">
            <a:avLst/>
          </a:prstGeom>
          <a:noFill/>
          <a:ln w="19050">
            <a:solidFill>
              <a:srgbClr val="FFC000"/>
            </a:solidFill>
            <a:prstDash val="solid"/>
          </a:ln>
        </p:spPr>
      </p:sp>
      <p:sp>
        <p:nvSpPr>
          <p:cNvPr id="56" name="Shape 54"/>
          <p:cNvSpPr/>
          <p:nvPr/>
        </p:nvSpPr>
        <p:spPr>
          <a:xfrm>
            <a:off x="137160" y="4636008"/>
            <a:ext cx="8869680" cy="164592"/>
          </a:xfrm>
          <a:prstGeom prst="rect">
            <a:avLst/>
          </a:prstGeom>
          <a:solidFill>
            <a:srgbClr val="FFC000">
              <a:alpha val="20000"/>
            </a:srgbClr>
          </a:solidFill>
          <a:ln/>
        </p:spPr>
      </p:sp>
      <p:sp>
        <p:nvSpPr>
          <p:cNvPr id="57" name="Text 55"/>
          <p:cNvSpPr/>
          <p:nvPr/>
        </p:nvSpPr>
        <p:spPr>
          <a:xfrm>
            <a:off x="137160" y="4636008"/>
            <a:ext cx="8869680" cy="164592"/>
          </a:xfrm>
          <a:prstGeom prst="rect">
            <a:avLst/>
          </a:prstGeom>
          <a:noFill/>
          <a:ln/>
        </p:spPr>
        <p:txBody>
          <a:bodyPr wrap="square" lIns="0" tIns="0" rIns="0" bIns="0" rtlCol="0" anchor="ctr"/>
          <a:lstStyle/>
          <a:p>
            <a:pPr marL="0" indent="0" algn="ctr">
              <a:buNone/>
            </a:pPr>
            <a:r>
              <a:rPr lang="en-US" sz="750" dirty="0">
                <a:solidFill>
                  <a:srgbClr val="FFFFFF"/>
                </a:solidFill>
                <a:latin typeface="Times New Roman" pitchFamily="34" charset="0"/>
                <a:ea typeface="Times New Roman" pitchFamily="34" charset="-122"/>
                <a:cs typeface="Times New Roman" pitchFamily="34" charset="-120"/>
              </a:rPr>
              <a:t>POWER FLOW: Windmill → DC Motor → Buck Converter → BMS → Battery → 5V Buck → ESP32 + Sensors + Relay + OLED</a:t>
            </a:r>
            <a:endParaRPr lang="en-US" sz="750" dirty="0"/>
          </a:p>
        </p:txBody>
      </p:sp>
      <p:sp>
        <p:nvSpPr>
          <p:cNvPr id="58" name="Shape 56"/>
          <p:cNvSpPr/>
          <p:nvPr/>
        </p:nvSpPr>
        <p:spPr>
          <a:xfrm>
            <a:off x="0" y="4818888"/>
            <a:ext cx="9144000" cy="324612"/>
          </a:xfrm>
          <a:prstGeom prst="rect">
            <a:avLst/>
          </a:prstGeom>
          <a:solidFill>
            <a:srgbClr val="0A1040"/>
          </a:solidFill>
          <a:ln w="12700">
            <a:solidFill>
              <a:srgbClr val="0A1040"/>
            </a:solidFill>
            <a:prstDash val="solid"/>
          </a:ln>
        </p:spPr>
      </p:sp>
      <p:sp>
        <p:nvSpPr>
          <p:cNvPr id="59" name="Text 57"/>
          <p:cNvSpPr/>
          <p:nvPr/>
        </p:nvSpPr>
        <p:spPr>
          <a:xfrm>
            <a:off x="182880" y="4818888"/>
            <a:ext cx="8778240" cy="324612"/>
          </a:xfrm>
          <a:prstGeom prst="rect">
            <a:avLst/>
          </a:prstGeom>
          <a:noFill/>
          <a:ln/>
        </p:spPr>
        <p:txBody>
          <a:bodyPr wrap="square" lIns="0" tIns="0" rIns="0" bIns="0" rtlCol="0" anchor="ctr"/>
          <a:lstStyle/>
          <a:p>
            <a:pPr marL="0" indent="0" algn="ctr">
              <a:buNone/>
            </a:pPr>
            <a:endParaRPr lang="en-US" sz="900" dirty="0"/>
          </a:p>
        </p:txBody>
      </p:sp>
      <p:sp>
        <p:nvSpPr>
          <p:cNvPr id="60" name="SlideNum"/>
          <p:cNvSpPr/>
          <p:nvPr/>
        </p:nvSpPr>
        <p:spPr>
          <a:xfrm>
            <a:off x="8500000" y="4840000"/>
            <a:ext cx="600000" cy="250000"/>
          </a:xfrm>
          <a:prstGeom prst="rect">
            <a:avLst/>
          </a:prstGeom>
          <a:noFill/>
          <a:ln/>
        </p:spPr>
        <p:txBody>
          <a:bodyPr wrap="square" lIns="0" tIns="0" rIns="0" bIns="0" rtlCol="0" anchor="ctr"/>
          <a:lstStyle/>
          <a:p>
            <a:pPr marL="0" indent="0" algn="r">
              <a:buNone/>
            </a:pPr>
            <a:r>
              <a:rPr lang="en-US" sz="1100" b="0" dirty="0">
                <a:solidFill>
                  <a:srgbClr val="FFC000"/>
                </a:solidFill>
                <a:latin typeface="Times New Roman" pitchFamily="34" charset="0"/>
              </a:rPr>
              <a:t>7</a:t>
            </a:r>
          </a:p>
        </p:txBody>
      </p:sp>
      <p:pic>
        <p:nvPicPr>
          <p:cNvPr id="61" name="Picture 60">
            <a:extLst>
              <a:ext uri="{FF2B5EF4-FFF2-40B4-BE49-F238E27FC236}">
                <a16:creationId xmlns:a16="http://schemas.microsoft.com/office/drawing/2014/main" id="{F8CB7EA7-4A4D-4370-DDE2-EF22801EEAD0}"/>
              </a:ext>
            </a:extLst>
          </p:cNvPr>
          <p:cNvPicPr/>
          <p:nvPr/>
        </p:nvPicPr>
        <p:blipFill>
          <a:blip r:embed="rId3"/>
          <a:stretch>
            <a:fillRect/>
          </a:stretch>
        </p:blipFill>
        <p:spPr>
          <a:xfrm>
            <a:off x="109728" y="713232"/>
            <a:ext cx="8897111" cy="4073268"/>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A1628"/>
          </a:solidFill>
          <a:ln/>
        </p:spPr>
        <p:txBody>
          <a:bodyPr/>
          <a:lstStyle/>
          <a:p>
            <a:endParaRPr lang="en-IN" dirty="0"/>
          </a:p>
        </p:txBody>
      </p:sp>
      <p:sp>
        <p:nvSpPr>
          <p:cNvPr id="3" name="Shape 1"/>
          <p:cNvSpPr/>
          <p:nvPr/>
        </p:nvSpPr>
        <p:spPr>
          <a:xfrm>
            <a:off x="0" y="0"/>
            <a:ext cx="9144000" cy="658368"/>
          </a:xfrm>
          <a:prstGeom prst="rect">
            <a:avLst/>
          </a:prstGeom>
          <a:solidFill>
            <a:srgbClr val="0A1628"/>
          </a:solidFill>
          <a:ln/>
        </p:spPr>
      </p:sp>
      <p:sp>
        <p:nvSpPr>
          <p:cNvPr id="4" name="Shape 2"/>
          <p:cNvSpPr/>
          <p:nvPr/>
        </p:nvSpPr>
        <p:spPr>
          <a:xfrm>
            <a:off x="0" y="0"/>
            <a:ext cx="109728" cy="658368"/>
          </a:xfrm>
          <a:prstGeom prst="rect">
            <a:avLst/>
          </a:prstGeom>
          <a:solidFill>
            <a:srgbClr val="FFC000"/>
          </a:solidFill>
          <a:ln/>
        </p:spPr>
      </p:sp>
      <p:sp>
        <p:nvSpPr>
          <p:cNvPr id="5" name="Text 3"/>
          <p:cNvSpPr/>
          <p:nvPr/>
        </p:nvSpPr>
        <p:spPr>
          <a:xfrm>
            <a:off x="201168" y="0"/>
            <a:ext cx="8778240" cy="658368"/>
          </a:xfrm>
          <a:prstGeom prst="rect">
            <a:avLst/>
          </a:prstGeom>
          <a:noFill/>
          <a:ln/>
        </p:spPr>
        <p:txBody>
          <a:bodyPr wrap="square" lIns="0" tIns="0" rIns="0" bIns="0" rtlCol="0" anchor="ctr"/>
          <a:lstStyle/>
          <a:p>
            <a:pPr marL="0" indent="0">
              <a:buNone/>
            </a:pPr>
            <a:r>
              <a:rPr lang="en-US" sz="3600" b="1" dirty="0">
                <a:solidFill>
                  <a:srgbClr val="FFFFFF"/>
                </a:solidFill>
                <a:latin typeface="Times New Roman" pitchFamily="34" charset="0"/>
                <a:ea typeface="Times New Roman" pitchFamily="34" charset="-122"/>
                <a:cs typeface="Times New Roman" pitchFamily="34" charset="-120"/>
              </a:rPr>
              <a:t>Description of Proposed Work</a:t>
            </a:r>
            <a:endParaRPr lang="en-US" sz="3600" dirty="0"/>
          </a:p>
        </p:txBody>
      </p:sp>
      <p:sp>
        <p:nvSpPr>
          <p:cNvPr id="6" name="Shape 4"/>
          <p:cNvSpPr/>
          <p:nvPr/>
        </p:nvSpPr>
        <p:spPr>
          <a:xfrm>
            <a:off x="274320" y="777240"/>
            <a:ext cx="8595360" cy="566928"/>
          </a:xfrm>
          <a:prstGeom prst="rect">
            <a:avLst/>
          </a:prstGeom>
          <a:solidFill>
            <a:srgbClr val="1A2744"/>
          </a:solidFill>
          <a:ln/>
        </p:spPr>
      </p:sp>
      <p:sp>
        <p:nvSpPr>
          <p:cNvPr id="7" name="Shape 5"/>
          <p:cNvSpPr/>
          <p:nvPr/>
        </p:nvSpPr>
        <p:spPr>
          <a:xfrm>
            <a:off x="274320" y="777240"/>
            <a:ext cx="54864" cy="566928"/>
          </a:xfrm>
          <a:prstGeom prst="rect">
            <a:avLst/>
          </a:prstGeom>
          <a:solidFill>
            <a:srgbClr val="FFC000"/>
          </a:solidFill>
          <a:ln/>
        </p:spPr>
      </p:sp>
      <p:sp>
        <p:nvSpPr>
          <p:cNvPr id="8" name="Text 6"/>
          <p:cNvSpPr/>
          <p:nvPr/>
        </p:nvSpPr>
        <p:spPr>
          <a:xfrm>
            <a:off x="411480" y="813816"/>
            <a:ext cx="1920240" cy="256032"/>
          </a:xfrm>
          <a:prstGeom prst="rect">
            <a:avLst/>
          </a:prstGeom>
          <a:noFill/>
          <a:ln/>
        </p:spPr>
        <p:txBody>
          <a:bodyPr wrap="square" lIns="0" tIns="0" rIns="0" bIns="0" rtlCol="0" anchor="ctr"/>
          <a:lstStyle/>
          <a:p>
            <a:pPr marL="0" indent="0">
              <a:buNone/>
            </a:pPr>
            <a:r>
              <a:rPr lang="en-US" sz="1300" b="1" dirty="0">
                <a:solidFill>
                  <a:srgbClr val="FFC000"/>
                </a:solidFill>
                <a:latin typeface="Times New Roman" pitchFamily="34" charset="0"/>
                <a:ea typeface="Times New Roman" pitchFamily="34" charset="-122"/>
                <a:cs typeface="Times New Roman" pitchFamily="34" charset="-120"/>
              </a:rPr>
              <a:t>Wind Energy Capture</a:t>
            </a:r>
            <a:endParaRPr lang="en-US" sz="1300" dirty="0"/>
          </a:p>
        </p:txBody>
      </p:sp>
      <p:sp>
        <p:nvSpPr>
          <p:cNvPr id="9" name="Text 7"/>
          <p:cNvSpPr/>
          <p:nvPr/>
        </p:nvSpPr>
        <p:spPr>
          <a:xfrm>
            <a:off x="411480" y="1069848"/>
            <a:ext cx="8321040" cy="237744"/>
          </a:xfrm>
          <a:prstGeom prst="rect">
            <a:avLst/>
          </a:prstGeom>
          <a:noFill/>
          <a:ln/>
        </p:spPr>
        <p:txBody>
          <a:bodyPr wrap="square" lIns="0" tIns="0" rIns="0" bIns="0" rtlCol="0" anchor="ctr"/>
          <a:lstStyle/>
          <a:p>
            <a:pPr marL="0" indent="0">
              <a:buNone/>
            </a:pPr>
            <a:r>
              <a:rPr lang="en-US" sz="1400" dirty="0">
                <a:solidFill>
                  <a:srgbClr val="FFFFFF"/>
                </a:solidFill>
                <a:latin typeface="Times New Roman" pitchFamily="34" charset="0"/>
                <a:ea typeface="Times New Roman" pitchFamily="34" charset="-122"/>
                <a:cs typeface="Times New Roman" pitchFamily="34" charset="-120"/>
              </a:rPr>
              <a:t>Artificial windmill blades rotate when wind flows, producing mechanical energy via the DC generator</a:t>
            </a:r>
            <a:endParaRPr lang="en-US" sz="1400" dirty="0"/>
          </a:p>
        </p:txBody>
      </p:sp>
      <p:sp>
        <p:nvSpPr>
          <p:cNvPr id="10" name="Shape 8"/>
          <p:cNvSpPr/>
          <p:nvPr/>
        </p:nvSpPr>
        <p:spPr>
          <a:xfrm>
            <a:off x="274320" y="1389888"/>
            <a:ext cx="8595360" cy="566928"/>
          </a:xfrm>
          <a:prstGeom prst="rect">
            <a:avLst/>
          </a:prstGeom>
          <a:solidFill>
            <a:srgbClr val="0D1B3E"/>
          </a:solidFill>
          <a:ln/>
        </p:spPr>
      </p:sp>
      <p:sp>
        <p:nvSpPr>
          <p:cNvPr id="11" name="Shape 9"/>
          <p:cNvSpPr/>
          <p:nvPr/>
        </p:nvSpPr>
        <p:spPr>
          <a:xfrm>
            <a:off x="274320" y="1389888"/>
            <a:ext cx="54864" cy="566928"/>
          </a:xfrm>
          <a:prstGeom prst="rect">
            <a:avLst/>
          </a:prstGeom>
          <a:solidFill>
            <a:srgbClr val="FFC000"/>
          </a:solidFill>
          <a:ln/>
        </p:spPr>
      </p:sp>
      <p:sp>
        <p:nvSpPr>
          <p:cNvPr id="12" name="Text 10"/>
          <p:cNvSpPr/>
          <p:nvPr/>
        </p:nvSpPr>
        <p:spPr>
          <a:xfrm>
            <a:off x="411480" y="1426464"/>
            <a:ext cx="1920240" cy="256032"/>
          </a:xfrm>
          <a:prstGeom prst="rect">
            <a:avLst/>
          </a:prstGeom>
          <a:noFill/>
          <a:ln/>
        </p:spPr>
        <p:txBody>
          <a:bodyPr wrap="square" lIns="0" tIns="0" rIns="0" bIns="0" rtlCol="0" anchor="ctr"/>
          <a:lstStyle/>
          <a:p>
            <a:pPr marL="0" indent="0">
              <a:buNone/>
            </a:pPr>
            <a:r>
              <a:rPr lang="en-US" sz="1300" b="1" dirty="0">
                <a:solidFill>
                  <a:srgbClr val="FFC000"/>
                </a:solidFill>
                <a:latin typeface="Times New Roman" pitchFamily="34" charset="0"/>
                <a:ea typeface="Times New Roman" pitchFamily="34" charset="-122"/>
                <a:cs typeface="Times New Roman" pitchFamily="34" charset="-120"/>
              </a:rPr>
              <a:t>Voltage Regulation</a:t>
            </a:r>
            <a:endParaRPr lang="en-US" sz="1300" dirty="0"/>
          </a:p>
        </p:txBody>
      </p:sp>
      <p:sp>
        <p:nvSpPr>
          <p:cNvPr id="13" name="Text 11"/>
          <p:cNvSpPr/>
          <p:nvPr/>
        </p:nvSpPr>
        <p:spPr>
          <a:xfrm>
            <a:off x="411480" y="1682496"/>
            <a:ext cx="8321040" cy="237744"/>
          </a:xfrm>
          <a:prstGeom prst="rect">
            <a:avLst/>
          </a:prstGeom>
          <a:noFill/>
          <a:ln/>
        </p:spPr>
        <p:txBody>
          <a:bodyPr wrap="square" lIns="0" tIns="0" rIns="0" bIns="0" rtlCol="0" anchor="ctr"/>
          <a:lstStyle/>
          <a:p>
            <a:pPr marL="0" indent="0">
              <a:buNone/>
            </a:pPr>
            <a:r>
              <a:rPr lang="en-US" sz="1400" dirty="0">
                <a:solidFill>
                  <a:srgbClr val="FFFFFF"/>
                </a:solidFill>
                <a:latin typeface="Times New Roman" pitchFamily="34" charset="0"/>
                <a:ea typeface="Times New Roman" pitchFamily="34" charset="-122"/>
                <a:cs typeface="Times New Roman" pitchFamily="34" charset="-120"/>
              </a:rPr>
              <a:t>DC-DC Buck Converter stabilises generated voltage; BMS protects battery from overcharge/discharge</a:t>
            </a:r>
            <a:endParaRPr lang="en-US" sz="1400" dirty="0"/>
          </a:p>
        </p:txBody>
      </p:sp>
      <p:sp>
        <p:nvSpPr>
          <p:cNvPr id="14" name="Shape 12"/>
          <p:cNvSpPr/>
          <p:nvPr/>
        </p:nvSpPr>
        <p:spPr>
          <a:xfrm>
            <a:off x="274320" y="2002536"/>
            <a:ext cx="8595360" cy="566928"/>
          </a:xfrm>
          <a:prstGeom prst="rect">
            <a:avLst/>
          </a:prstGeom>
          <a:solidFill>
            <a:srgbClr val="1A2744"/>
          </a:solidFill>
          <a:ln/>
        </p:spPr>
      </p:sp>
      <p:sp>
        <p:nvSpPr>
          <p:cNvPr id="15" name="Shape 13"/>
          <p:cNvSpPr/>
          <p:nvPr/>
        </p:nvSpPr>
        <p:spPr>
          <a:xfrm>
            <a:off x="274320" y="2002536"/>
            <a:ext cx="54864" cy="566928"/>
          </a:xfrm>
          <a:prstGeom prst="rect">
            <a:avLst/>
          </a:prstGeom>
          <a:solidFill>
            <a:srgbClr val="FFC000"/>
          </a:solidFill>
          <a:ln/>
        </p:spPr>
      </p:sp>
      <p:sp>
        <p:nvSpPr>
          <p:cNvPr id="16" name="Text 14"/>
          <p:cNvSpPr/>
          <p:nvPr/>
        </p:nvSpPr>
        <p:spPr>
          <a:xfrm>
            <a:off x="411480" y="2039112"/>
            <a:ext cx="1920240" cy="256032"/>
          </a:xfrm>
          <a:prstGeom prst="rect">
            <a:avLst/>
          </a:prstGeom>
          <a:noFill/>
          <a:ln/>
        </p:spPr>
        <p:txBody>
          <a:bodyPr wrap="square" lIns="0" tIns="0" rIns="0" bIns="0" rtlCol="0" anchor="ctr"/>
          <a:lstStyle/>
          <a:p>
            <a:pPr marL="0" indent="0">
              <a:buNone/>
            </a:pPr>
            <a:r>
              <a:rPr lang="en-US" sz="1300" b="1" dirty="0">
                <a:solidFill>
                  <a:srgbClr val="FFC000"/>
                </a:solidFill>
                <a:latin typeface="Times New Roman" pitchFamily="34" charset="0"/>
                <a:ea typeface="Times New Roman" pitchFamily="34" charset="-122"/>
                <a:cs typeface="Times New Roman" pitchFamily="34" charset="-120"/>
              </a:rPr>
              <a:t>Energy Storage</a:t>
            </a:r>
            <a:endParaRPr lang="en-US" sz="1300" dirty="0"/>
          </a:p>
        </p:txBody>
      </p:sp>
      <p:sp>
        <p:nvSpPr>
          <p:cNvPr id="17" name="Text 15"/>
          <p:cNvSpPr/>
          <p:nvPr/>
        </p:nvSpPr>
        <p:spPr>
          <a:xfrm>
            <a:off x="411480" y="2295144"/>
            <a:ext cx="8321040" cy="237744"/>
          </a:xfrm>
          <a:prstGeom prst="rect">
            <a:avLst/>
          </a:prstGeom>
          <a:noFill/>
          <a:ln/>
        </p:spPr>
        <p:txBody>
          <a:bodyPr wrap="square" lIns="0" tIns="0" rIns="0" bIns="0" rtlCol="0" anchor="ctr"/>
          <a:lstStyle/>
          <a:p>
            <a:pPr marL="0" indent="0">
              <a:buNone/>
            </a:pPr>
            <a:r>
              <a:rPr lang="en-US" sz="1400" dirty="0">
                <a:solidFill>
                  <a:srgbClr val="FFFFFF"/>
                </a:solidFill>
                <a:latin typeface="Times New Roman" pitchFamily="34" charset="0"/>
                <a:ea typeface="Times New Roman" pitchFamily="34" charset="-122"/>
                <a:cs typeface="Times New Roman" pitchFamily="34" charset="-120"/>
              </a:rPr>
              <a:t>Lithium battery stores excess energy for continuous use even when wind is low or absent</a:t>
            </a:r>
            <a:endParaRPr lang="en-US" sz="1400" dirty="0"/>
          </a:p>
        </p:txBody>
      </p:sp>
      <p:sp>
        <p:nvSpPr>
          <p:cNvPr id="18" name="Shape 16"/>
          <p:cNvSpPr/>
          <p:nvPr/>
        </p:nvSpPr>
        <p:spPr>
          <a:xfrm>
            <a:off x="274320" y="2615184"/>
            <a:ext cx="8595360" cy="566928"/>
          </a:xfrm>
          <a:prstGeom prst="rect">
            <a:avLst/>
          </a:prstGeom>
          <a:solidFill>
            <a:srgbClr val="0D1B3E"/>
          </a:solidFill>
          <a:ln/>
        </p:spPr>
      </p:sp>
      <p:sp>
        <p:nvSpPr>
          <p:cNvPr id="19" name="Shape 17"/>
          <p:cNvSpPr/>
          <p:nvPr/>
        </p:nvSpPr>
        <p:spPr>
          <a:xfrm>
            <a:off x="274320" y="2615184"/>
            <a:ext cx="54864" cy="566928"/>
          </a:xfrm>
          <a:prstGeom prst="rect">
            <a:avLst/>
          </a:prstGeom>
          <a:solidFill>
            <a:srgbClr val="FFC000"/>
          </a:solidFill>
          <a:ln/>
        </p:spPr>
      </p:sp>
      <p:sp>
        <p:nvSpPr>
          <p:cNvPr id="20" name="Text 18"/>
          <p:cNvSpPr/>
          <p:nvPr/>
        </p:nvSpPr>
        <p:spPr>
          <a:xfrm>
            <a:off x="411480" y="2651760"/>
            <a:ext cx="1920240" cy="256032"/>
          </a:xfrm>
          <a:prstGeom prst="rect">
            <a:avLst/>
          </a:prstGeom>
          <a:noFill/>
          <a:ln/>
        </p:spPr>
        <p:txBody>
          <a:bodyPr wrap="square" lIns="0" tIns="0" rIns="0" bIns="0" rtlCol="0" anchor="ctr"/>
          <a:lstStyle/>
          <a:p>
            <a:pPr marL="0" indent="0">
              <a:buNone/>
            </a:pPr>
            <a:r>
              <a:rPr lang="en-US" sz="1300" b="1" dirty="0">
                <a:solidFill>
                  <a:srgbClr val="FFC000"/>
                </a:solidFill>
                <a:latin typeface="Times New Roman" pitchFamily="34" charset="0"/>
                <a:ea typeface="Times New Roman" pitchFamily="34" charset="-122"/>
                <a:cs typeface="Times New Roman" pitchFamily="34" charset="-120"/>
              </a:rPr>
              <a:t>Smart Monitoring</a:t>
            </a:r>
            <a:endParaRPr lang="en-US" sz="1300" dirty="0"/>
          </a:p>
        </p:txBody>
      </p:sp>
      <p:sp>
        <p:nvSpPr>
          <p:cNvPr id="21" name="Text 19"/>
          <p:cNvSpPr/>
          <p:nvPr/>
        </p:nvSpPr>
        <p:spPr>
          <a:xfrm>
            <a:off x="411480" y="2907792"/>
            <a:ext cx="8321040" cy="237744"/>
          </a:xfrm>
          <a:prstGeom prst="rect">
            <a:avLst/>
          </a:prstGeom>
          <a:noFill/>
          <a:ln/>
        </p:spPr>
        <p:txBody>
          <a:bodyPr wrap="square" lIns="0" tIns="0" rIns="0" bIns="0" rtlCol="0" anchor="ctr"/>
          <a:lstStyle/>
          <a:p>
            <a:pPr marL="0" indent="0">
              <a:buNone/>
            </a:pPr>
            <a:r>
              <a:rPr lang="en-US" sz="1400" dirty="0">
                <a:solidFill>
                  <a:srgbClr val="FFFFFF"/>
                </a:solidFill>
                <a:latin typeface="Times New Roman" pitchFamily="34" charset="0"/>
                <a:ea typeface="Times New Roman" pitchFamily="34" charset="-122"/>
                <a:cs typeface="Times New Roman" pitchFamily="34" charset="-120"/>
              </a:rPr>
              <a:t>ESP32 reads soil moisture, rain, and LDR sensors — all connected via analog GPIO pins</a:t>
            </a:r>
            <a:endParaRPr lang="en-US" sz="1400" dirty="0"/>
          </a:p>
        </p:txBody>
      </p:sp>
      <p:sp>
        <p:nvSpPr>
          <p:cNvPr id="22" name="Shape 20"/>
          <p:cNvSpPr/>
          <p:nvPr/>
        </p:nvSpPr>
        <p:spPr>
          <a:xfrm>
            <a:off x="274320" y="3227832"/>
            <a:ext cx="8595360" cy="566928"/>
          </a:xfrm>
          <a:prstGeom prst="rect">
            <a:avLst/>
          </a:prstGeom>
          <a:solidFill>
            <a:srgbClr val="1A2744"/>
          </a:solidFill>
          <a:ln/>
        </p:spPr>
      </p:sp>
      <p:sp>
        <p:nvSpPr>
          <p:cNvPr id="23" name="Shape 21"/>
          <p:cNvSpPr/>
          <p:nvPr/>
        </p:nvSpPr>
        <p:spPr>
          <a:xfrm>
            <a:off x="274320" y="3227832"/>
            <a:ext cx="54864" cy="566928"/>
          </a:xfrm>
          <a:prstGeom prst="rect">
            <a:avLst/>
          </a:prstGeom>
          <a:solidFill>
            <a:srgbClr val="FFC000"/>
          </a:solidFill>
          <a:ln/>
        </p:spPr>
      </p:sp>
      <p:sp>
        <p:nvSpPr>
          <p:cNvPr id="24" name="Text 22"/>
          <p:cNvSpPr/>
          <p:nvPr/>
        </p:nvSpPr>
        <p:spPr>
          <a:xfrm>
            <a:off x="411480" y="3264408"/>
            <a:ext cx="1920240" cy="256032"/>
          </a:xfrm>
          <a:prstGeom prst="rect">
            <a:avLst/>
          </a:prstGeom>
          <a:noFill/>
          <a:ln/>
        </p:spPr>
        <p:txBody>
          <a:bodyPr wrap="square" lIns="0" tIns="0" rIns="0" bIns="0" rtlCol="0" anchor="ctr"/>
          <a:lstStyle/>
          <a:p>
            <a:pPr marL="0" indent="0">
              <a:buNone/>
            </a:pPr>
            <a:r>
              <a:rPr lang="en-US" sz="1300" b="1" dirty="0">
                <a:solidFill>
                  <a:srgbClr val="FFC000"/>
                </a:solidFill>
                <a:latin typeface="Times New Roman" pitchFamily="34" charset="0"/>
                <a:ea typeface="Times New Roman" pitchFamily="34" charset="-122"/>
                <a:cs typeface="Times New Roman" pitchFamily="34" charset="-120"/>
              </a:rPr>
              <a:t>Auto Irrigation</a:t>
            </a:r>
            <a:endParaRPr lang="en-US" sz="1300" dirty="0"/>
          </a:p>
        </p:txBody>
      </p:sp>
      <p:sp>
        <p:nvSpPr>
          <p:cNvPr id="25" name="Text 23"/>
          <p:cNvSpPr/>
          <p:nvPr/>
        </p:nvSpPr>
        <p:spPr>
          <a:xfrm>
            <a:off x="411480" y="3520440"/>
            <a:ext cx="8321040" cy="237744"/>
          </a:xfrm>
          <a:prstGeom prst="rect">
            <a:avLst/>
          </a:prstGeom>
          <a:noFill/>
          <a:ln/>
        </p:spPr>
        <p:txBody>
          <a:bodyPr wrap="square" lIns="0" tIns="0" rIns="0" bIns="0" rtlCol="0" anchor="ctr"/>
          <a:lstStyle/>
          <a:p>
            <a:pPr marL="0" indent="0">
              <a:buNone/>
            </a:pPr>
            <a:r>
              <a:rPr lang="en-US" sz="1400" dirty="0">
                <a:solidFill>
                  <a:srgbClr val="FFFFFF"/>
                </a:solidFill>
                <a:latin typeface="Times New Roman" pitchFamily="34" charset="0"/>
                <a:ea typeface="Times New Roman" pitchFamily="34" charset="-122"/>
                <a:cs typeface="Times New Roman" pitchFamily="34" charset="-120"/>
              </a:rPr>
              <a:t>Relay module activates water pump when soil is dry; rain sensor stops pump during rainfall</a:t>
            </a:r>
            <a:endParaRPr lang="en-US" sz="1400" dirty="0"/>
          </a:p>
        </p:txBody>
      </p:sp>
      <p:sp>
        <p:nvSpPr>
          <p:cNvPr id="26" name="Shape 24"/>
          <p:cNvSpPr/>
          <p:nvPr/>
        </p:nvSpPr>
        <p:spPr>
          <a:xfrm>
            <a:off x="274320" y="3840480"/>
            <a:ext cx="8595360" cy="566928"/>
          </a:xfrm>
          <a:prstGeom prst="rect">
            <a:avLst/>
          </a:prstGeom>
          <a:solidFill>
            <a:srgbClr val="0D1B3E"/>
          </a:solidFill>
          <a:ln/>
        </p:spPr>
      </p:sp>
      <p:sp>
        <p:nvSpPr>
          <p:cNvPr id="27" name="Shape 25"/>
          <p:cNvSpPr/>
          <p:nvPr/>
        </p:nvSpPr>
        <p:spPr>
          <a:xfrm>
            <a:off x="274320" y="3840480"/>
            <a:ext cx="54864" cy="566928"/>
          </a:xfrm>
          <a:prstGeom prst="rect">
            <a:avLst/>
          </a:prstGeom>
          <a:solidFill>
            <a:srgbClr val="FFC000"/>
          </a:solidFill>
          <a:ln/>
        </p:spPr>
      </p:sp>
      <p:sp>
        <p:nvSpPr>
          <p:cNvPr id="28" name="Text 26"/>
          <p:cNvSpPr/>
          <p:nvPr/>
        </p:nvSpPr>
        <p:spPr>
          <a:xfrm>
            <a:off x="411480" y="3877056"/>
            <a:ext cx="1920240" cy="256032"/>
          </a:xfrm>
          <a:prstGeom prst="rect">
            <a:avLst/>
          </a:prstGeom>
          <a:noFill/>
          <a:ln/>
        </p:spPr>
        <p:txBody>
          <a:bodyPr wrap="square" lIns="0" tIns="0" rIns="0" bIns="0" rtlCol="0" anchor="ctr"/>
          <a:lstStyle/>
          <a:p>
            <a:pPr marL="0" indent="0">
              <a:buNone/>
            </a:pPr>
            <a:r>
              <a:rPr lang="en-US" sz="1300" b="1" dirty="0">
                <a:solidFill>
                  <a:srgbClr val="FFC000"/>
                </a:solidFill>
                <a:latin typeface="Times New Roman" pitchFamily="34" charset="0"/>
                <a:ea typeface="Times New Roman" pitchFamily="34" charset="-122"/>
                <a:cs typeface="Times New Roman" pitchFamily="34" charset="-120"/>
              </a:rPr>
              <a:t>Display &amp; Control</a:t>
            </a:r>
            <a:endParaRPr lang="en-US" sz="1300" dirty="0"/>
          </a:p>
        </p:txBody>
      </p:sp>
      <p:sp>
        <p:nvSpPr>
          <p:cNvPr id="29" name="Text 27"/>
          <p:cNvSpPr/>
          <p:nvPr/>
        </p:nvSpPr>
        <p:spPr>
          <a:xfrm>
            <a:off x="411480" y="4133088"/>
            <a:ext cx="8321040" cy="237744"/>
          </a:xfrm>
          <a:prstGeom prst="rect">
            <a:avLst/>
          </a:prstGeom>
          <a:noFill/>
          <a:ln/>
        </p:spPr>
        <p:txBody>
          <a:bodyPr wrap="square" lIns="0" tIns="0" rIns="0" bIns="0" rtlCol="0" anchor="ctr"/>
          <a:lstStyle/>
          <a:p>
            <a:pPr marL="0" indent="0">
              <a:buNone/>
            </a:pPr>
            <a:r>
              <a:rPr lang="en-US" sz="1400" dirty="0">
                <a:solidFill>
                  <a:srgbClr val="FFFFFF"/>
                </a:solidFill>
                <a:latin typeface="Times New Roman" pitchFamily="34" charset="0"/>
                <a:ea typeface="Times New Roman" pitchFamily="34" charset="-122"/>
                <a:cs typeface="Times New Roman" pitchFamily="34" charset="-120"/>
              </a:rPr>
              <a:t>OLED display shows moisture level, rain status, and system power in real time</a:t>
            </a:r>
            <a:endParaRPr lang="en-US" sz="1400" dirty="0"/>
          </a:p>
        </p:txBody>
      </p:sp>
      <p:sp>
        <p:nvSpPr>
          <p:cNvPr id="30" name="Shape 28"/>
          <p:cNvSpPr/>
          <p:nvPr/>
        </p:nvSpPr>
        <p:spPr>
          <a:xfrm>
            <a:off x="137160" y="4453128"/>
            <a:ext cx="8595360" cy="566928"/>
          </a:xfrm>
          <a:prstGeom prst="rect">
            <a:avLst/>
          </a:prstGeom>
          <a:solidFill>
            <a:srgbClr val="1A2744"/>
          </a:solidFill>
          <a:ln/>
        </p:spPr>
      </p:sp>
      <p:sp>
        <p:nvSpPr>
          <p:cNvPr id="32" name="Text 30"/>
          <p:cNvSpPr/>
          <p:nvPr/>
        </p:nvSpPr>
        <p:spPr>
          <a:xfrm>
            <a:off x="411480" y="4489704"/>
            <a:ext cx="1920240" cy="256032"/>
          </a:xfrm>
          <a:prstGeom prst="rect">
            <a:avLst/>
          </a:prstGeom>
          <a:noFill/>
          <a:ln/>
        </p:spPr>
        <p:txBody>
          <a:bodyPr wrap="square" lIns="0" tIns="0" rIns="0" bIns="0" rtlCol="0" anchor="ctr"/>
          <a:lstStyle/>
          <a:p>
            <a:pPr marL="0" indent="0">
              <a:buNone/>
            </a:pPr>
            <a:endParaRPr lang="en-US" sz="1300" dirty="0"/>
          </a:p>
        </p:txBody>
      </p:sp>
      <p:sp>
        <p:nvSpPr>
          <p:cNvPr id="33" name="Text 31"/>
          <p:cNvSpPr/>
          <p:nvPr/>
        </p:nvSpPr>
        <p:spPr>
          <a:xfrm>
            <a:off x="411480" y="4745736"/>
            <a:ext cx="8321040" cy="237744"/>
          </a:xfrm>
          <a:prstGeom prst="rect">
            <a:avLst/>
          </a:prstGeom>
          <a:noFill/>
          <a:ln/>
        </p:spPr>
        <p:txBody>
          <a:bodyPr wrap="square" lIns="0" tIns="0" rIns="0" bIns="0" rtlCol="0" anchor="ctr"/>
          <a:lstStyle/>
          <a:p>
            <a:pPr marL="0" indent="0">
              <a:buNone/>
            </a:pPr>
            <a:endParaRPr lang="en-US" sz="1400" dirty="0"/>
          </a:p>
        </p:txBody>
      </p:sp>
      <p:sp>
        <p:nvSpPr>
          <p:cNvPr id="34" name="Shape 32"/>
          <p:cNvSpPr/>
          <p:nvPr/>
        </p:nvSpPr>
        <p:spPr>
          <a:xfrm>
            <a:off x="1061445" y="4574286"/>
            <a:ext cx="6746789" cy="324612"/>
          </a:xfrm>
          <a:prstGeom prst="rect">
            <a:avLst/>
          </a:prstGeom>
          <a:solidFill>
            <a:srgbClr val="0A1040"/>
          </a:solidFill>
          <a:ln w="12700">
            <a:solidFill>
              <a:srgbClr val="0A1040"/>
            </a:solidFill>
            <a:prstDash val="solid"/>
          </a:ln>
        </p:spPr>
        <p:txBody>
          <a:bodyPr/>
          <a:lstStyle/>
          <a:p>
            <a:endParaRPr lang="en-IN" dirty="0"/>
          </a:p>
        </p:txBody>
      </p:sp>
      <p:sp>
        <p:nvSpPr>
          <p:cNvPr id="35" name="Text 33"/>
          <p:cNvSpPr/>
          <p:nvPr/>
        </p:nvSpPr>
        <p:spPr>
          <a:xfrm>
            <a:off x="182880" y="4818888"/>
            <a:ext cx="8778240" cy="324612"/>
          </a:xfrm>
          <a:prstGeom prst="rect">
            <a:avLst/>
          </a:prstGeom>
          <a:noFill/>
          <a:ln/>
        </p:spPr>
        <p:txBody>
          <a:bodyPr wrap="square" lIns="0" tIns="0" rIns="0" bIns="0" rtlCol="0" anchor="ctr"/>
          <a:lstStyle/>
          <a:p>
            <a:pPr marL="0" indent="0" algn="ctr">
              <a:buNone/>
            </a:pPr>
            <a:endParaRPr lang="en-US" sz="900" dirty="0"/>
          </a:p>
        </p:txBody>
      </p:sp>
      <p:sp>
        <p:nvSpPr>
          <p:cNvPr id="36" name="SlideNum"/>
          <p:cNvSpPr/>
          <p:nvPr/>
        </p:nvSpPr>
        <p:spPr>
          <a:xfrm>
            <a:off x="8500000" y="4840000"/>
            <a:ext cx="600000" cy="250000"/>
          </a:xfrm>
          <a:prstGeom prst="rect">
            <a:avLst/>
          </a:prstGeom>
          <a:noFill/>
          <a:ln/>
        </p:spPr>
        <p:txBody>
          <a:bodyPr wrap="square" lIns="0" tIns="0" rIns="0" bIns="0" rtlCol="0" anchor="ctr"/>
          <a:lstStyle/>
          <a:p>
            <a:pPr marL="0" indent="0" algn="r">
              <a:buNone/>
            </a:pPr>
            <a:r>
              <a:rPr lang="en-US" sz="1100" b="0" dirty="0">
                <a:solidFill>
                  <a:srgbClr val="FFC000"/>
                </a:solidFill>
                <a:latin typeface="Times New Roman" pitchFamily="34" charset="0"/>
              </a:rPr>
              <a:t>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A1628"/>
          </a:solidFill>
          <a:ln/>
        </p:spPr>
      </p:sp>
      <p:sp>
        <p:nvSpPr>
          <p:cNvPr id="3" name="Shape 1"/>
          <p:cNvSpPr/>
          <p:nvPr/>
        </p:nvSpPr>
        <p:spPr>
          <a:xfrm>
            <a:off x="0" y="0"/>
            <a:ext cx="9144000" cy="658368"/>
          </a:xfrm>
          <a:prstGeom prst="rect">
            <a:avLst/>
          </a:prstGeom>
          <a:solidFill>
            <a:srgbClr val="0A1628"/>
          </a:solidFill>
          <a:ln/>
        </p:spPr>
      </p:sp>
      <p:sp>
        <p:nvSpPr>
          <p:cNvPr id="4" name="Shape 2"/>
          <p:cNvSpPr/>
          <p:nvPr/>
        </p:nvSpPr>
        <p:spPr>
          <a:xfrm>
            <a:off x="0" y="0"/>
            <a:ext cx="109728" cy="658368"/>
          </a:xfrm>
          <a:prstGeom prst="rect">
            <a:avLst/>
          </a:prstGeom>
          <a:solidFill>
            <a:srgbClr val="FFC000"/>
          </a:solidFill>
          <a:ln/>
        </p:spPr>
      </p:sp>
      <p:sp>
        <p:nvSpPr>
          <p:cNvPr id="5" name="Text 3"/>
          <p:cNvSpPr/>
          <p:nvPr/>
        </p:nvSpPr>
        <p:spPr>
          <a:xfrm>
            <a:off x="201168" y="0"/>
            <a:ext cx="8778240" cy="658368"/>
          </a:xfrm>
          <a:prstGeom prst="rect">
            <a:avLst/>
          </a:prstGeom>
          <a:noFill/>
          <a:ln/>
        </p:spPr>
        <p:txBody>
          <a:bodyPr wrap="square" lIns="0" tIns="0" rIns="0" bIns="0" rtlCol="0" anchor="ctr"/>
          <a:lstStyle/>
          <a:p>
            <a:pPr marL="0" indent="0">
              <a:buNone/>
            </a:pPr>
            <a:r>
              <a:rPr lang="en-US" sz="3600" b="1" dirty="0">
                <a:solidFill>
                  <a:srgbClr val="FFFFFF"/>
                </a:solidFill>
                <a:latin typeface="Times New Roman" pitchFamily="34" charset="0"/>
                <a:ea typeface="Times New Roman" pitchFamily="34" charset="-122"/>
                <a:cs typeface="Times New Roman" pitchFamily="34" charset="-120"/>
              </a:rPr>
              <a:t>Working of the Prototype</a:t>
            </a:r>
            <a:endParaRPr lang="en-US" sz="36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274320" y="749808"/>
          <a:ext cx="8595360" cy="4187952"/>
        </p:xfrm>
        <a:graphic>
          <a:graphicData uri="http://schemas.openxmlformats.org/drawingml/2006/table">
            <a:tbl>
              <a:tblPr/>
              <a:tblGrid>
                <a:gridCol w="45720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gridCol w="3566160">
                  <a:extLst>
                    <a:ext uri="{9D8B030D-6E8A-4147-A177-3AD203B41FA5}">
                      <a16:colId xmlns:a16="http://schemas.microsoft.com/office/drawing/2014/main" val="20003"/>
                    </a:ext>
                  </a:extLst>
                </a:gridCol>
              </a:tblGrid>
              <a:tr h="384048">
                <a:tc>
                  <a:txBody>
                    <a:bodyPr/>
                    <a:lstStyle/>
                    <a:p>
                      <a:pPr marL="0" indent="0" algn="ctr">
                        <a:buNone/>
                      </a:pPr>
                      <a:r>
                        <a:rPr lang="en-US" sz="1000" b="1" dirty="0">
                          <a:solidFill>
                            <a:srgbClr val="0A1628"/>
                          </a:solidFill>
                          <a:latin typeface="Times New Roman" pitchFamily="34" charset="0"/>
                          <a:ea typeface="Times New Roman" pitchFamily="34" charset="-122"/>
                          <a:cs typeface="Times New Roman" pitchFamily="34" charset="-120"/>
                        </a:rPr>
                        <a:t>S.No</a:t>
                      </a:r>
                      <a:endParaRPr lang="en-US" sz="1000" dirty="0">
                        <a:latin typeface="Times New Roman" charset="0"/>
                        <a:ea typeface="Times New Roman" charset="0"/>
                        <a:cs typeface="Times New Roman" charset="0"/>
                      </a:endParaRPr>
                    </a:p>
                  </a:txBody>
                  <a:tcPr>
                    <a:lnL w="6350" cap="flat" cmpd="sng" algn="ctr">
                      <a:solidFill>
                        <a:srgbClr val="2A3A6A"/>
                      </a:solidFill>
                      <a:prstDash val="solid"/>
                      <a:round/>
                      <a:headEnd type="none" w="med" len="med"/>
                      <a:tailEnd type="none" w="med" len="med"/>
                    </a:lnL>
                    <a:lnR w="6350" cap="flat" cmpd="sng" algn="ctr">
                      <a:solidFill>
                        <a:srgbClr val="2A3A6A"/>
                      </a:solidFill>
                      <a:prstDash val="solid"/>
                      <a:round/>
                      <a:headEnd type="none" w="med" len="med"/>
                      <a:tailEnd type="none" w="med" len="med"/>
                    </a:lnR>
                    <a:lnT w="6350" cap="flat" cmpd="sng" algn="ctr">
                      <a:solidFill>
                        <a:srgbClr val="2A3A6A"/>
                      </a:solidFill>
                      <a:prstDash val="solid"/>
                      <a:round/>
                      <a:headEnd type="none" w="med" len="med"/>
                      <a:tailEnd type="none" w="med" len="med"/>
                    </a:lnT>
                    <a:lnB w="6350" cap="flat" cmpd="sng" algn="ctr">
                      <a:solidFill>
                        <a:srgbClr val="2A3A6A"/>
                      </a:solidFill>
                      <a:prstDash val="solid"/>
                      <a:round/>
                      <a:headEnd type="none" w="med" len="med"/>
                      <a:tailEnd type="none" w="med" len="med"/>
                    </a:lnB>
                    <a:solidFill>
                      <a:srgbClr val="FFC000"/>
                    </a:solidFill>
                  </a:tcPr>
                </a:tc>
                <a:tc>
                  <a:txBody>
                    <a:bodyPr/>
                    <a:lstStyle/>
                    <a:p>
                      <a:pPr marL="0" indent="0">
                        <a:buNone/>
                      </a:pPr>
                      <a:r>
                        <a:rPr lang="en-US" sz="1000" b="1" dirty="0">
                          <a:solidFill>
                            <a:srgbClr val="0A1628"/>
                          </a:solidFill>
                          <a:latin typeface="Times New Roman" pitchFamily="34" charset="0"/>
                          <a:ea typeface="Times New Roman" pitchFamily="34" charset="-122"/>
                          <a:cs typeface="Times New Roman" pitchFamily="34" charset="-120"/>
                        </a:rPr>
                        <a:t>Component</a:t>
                      </a:r>
                      <a:endParaRPr lang="en-US" sz="1000" dirty="0">
                        <a:latin typeface="Times New Roman" charset="0"/>
                        <a:ea typeface="Times New Roman" charset="0"/>
                        <a:cs typeface="Times New Roman" charset="0"/>
                      </a:endParaRPr>
                    </a:p>
                  </a:txBody>
                  <a:tcPr>
                    <a:lnL w="6350" cap="flat" cmpd="sng" algn="ctr">
                      <a:solidFill>
                        <a:srgbClr val="2A3A6A"/>
                      </a:solidFill>
                      <a:prstDash val="solid"/>
                      <a:round/>
                      <a:headEnd type="none" w="med" len="med"/>
                      <a:tailEnd type="none" w="med" len="med"/>
                    </a:lnL>
                    <a:lnR w="6350" cap="flat" cmpd="sng" algn="ctr">
                      <a:solidFill>
                        <a:srgbClr val="2A3A6A"/>
                      </a:solidFill>
                      <a:prstDash val="solid"/>
                      <a:round/>
                      <a:headEnd type="none" w="med" len="med"/>
                      <a:tailEnd type="none" w="med" len="med"/>
                    </a:lnR>
                    <a:lnT w="6350" cap="flat" cmpd="sng" algn="ctr">
                      <a:solidFill>
                        <a:srgbClr val="2A3A6A"/>
                      </a:solidFill>
                      <a:prstDash val="solid"/>
                      <a:round/>
                      <a:headEnd type="none" w="med" len="med"/>
                      <a:tailEnd type="none" w="med" len="med"/>
                    </a:lnT>
                    <a:lnB w="6350" cap="flat" cmpd="sng" algn="ctr">
                      <a:solidFill>
                        <a:srgbClr val="2A3A6A"/>
                      </a:solidFill>
                      <a:prstDash val="solid"/>
                      <a:round/>
                      <a:headEnd type="none" w="med" len="med"/>
                      <a:tailEnd type="none" w="med" len="med"/>
                    </a:lnB>
                    <a:solidFill>
                      <a:srgbClr val="FFC000"/>
                    </a:solidFill>
                  </a:tcPr>
                </a:tc>
                <a:tc>
                  <a:txBody>
                    <a:bodyPr/>
                    <a:lstStyle/>
                    <a:p>
                      <a:pPr marL="0" indent="0">
                        <a:buNone/>
                      </a:pPr>
                      <a:r>
                        <a:rPr lang="en-US" sz="1000" b="1" dirty="0">
                          <a:solidFill>
                            <a:srgbClr val="0A1628"/>
                          </a:solidFill>
                          <a:latin typeface="Times New Roman" pitchFamily="34" charset="0"/>
                          <a:ea typeface="Times New Roman" pitchFamily="34" charset="-122"/>
                          <a:cs typeface="Times New Roman" pitchFamily="34" charset="-120"/>
                        </a:rPr>
                        <a:t>Function</a:t>
                      </a:r>
                      <a:endParaRPr lang="en-US" sz="1000" dirty="0">
                        <a:latin typeface="Times New Roman" charset="0"/>
                        <a:ea typeface="Times New Roman" charset="0"/>
                        <a:cs typeface="Times New Roman" charset="0"/>
                      </a:endParaRPr>
                    </a:p>
                  </a:txBody>
                  <a:tcPr>
                    <a:lnL w="6350" cap="flat" cmpd="sng" algn="ctr">
                      <a:solidFill>
                        <a:srgbClr val="2A3A6A"/>
                      </a:solidFill>
                      <a:prstDash val="solid"/>
                      <a:round/>
                      <a:headEnd type="none" w="med" len="med"/>
                      <a:tailEnd type="none" w="med" len="med"/>
                    </a:lnL>
                    <a:lnR w="6350" cap="flat" cmpd="sng" algn="ctr">
                      <a:solidFill>
                        <a:srgbClr val="2A3A6A"/>
                      </a:solidFill>
                      <a:prstDash val="solid"/>
                      <a:round/>
                      <a:headEnd type="none" w="med" len="med"/>
                      <a:tailEnd type="none" w="med" len="med"/>
                    </a:lnR>
                    <a:lnT w="6350" cap="flat" cmpd="sng" algn="ctr">
                      <a:solidFill>
                        <a:srgbClr val="2A3A6A"/>
                      </a:solidFill>
                      <a:prstDash val="solid"/>
                      <a:round/>
                      <a:headEnd type="none" w="med" len="med"/>
                      <a:tailEnd type="none" w="med" len="med"/>
                    </a:lnT>
                    <a:lnB w="6350" cap="flat" cmpd="sng" algn="ctr">
                      <a:solidFill>
                        <a:srgbClr val="2A3A6A"/>
                      </a:solidFill>
                      <a:prstDash val="solid"/>
                      <a:round/>
                      <a:headEnd type="none" w="med" len="med"/>
                      <a:tailEnd type="none" w="med" len="med"/>
                    </a:lnB>
                    <a:solidFill>
                      <a:srgbClr val="FFC000"/>
                    </a:solidFill>
                  </a:tcPr>
                </a:tc>
                <a:tc>
                  <a:txBody>
                    <a:bodyPr/>
                    <a:lstStyle/>
                    <a:p>
                      <a:pPr marL="0" indent="0">
                        <a:buNone/>
                      </a:pPr>
                      <a:r>
                        <a:rPr lang="en-US" sz="1000" b="1" dirty="0">
                          <a:solidFill>
                            <a:srgbClr val="0A1628"/>
                          </a:solidFill>
                          <a:latin typeface="Times New Roman" pitchFamily="34" charset="0"/>
                          <a:ea typeface="Times New Roman" pitchFamily="34" charset="-122"/>
                          <a:cs typeface="Times New Roman" pitchFamily="34" charset="-120"/>
                        </a:rPr>
                        <a:t>Working in System</a:t>
                      </a:r>
                      <a:endParaRPr lang="en-US" sz="1000" dirty="0">
                        <a:latin typeface="Times New Roman" charset="0"/>
                        <a:ea typeface="Times New Roman" charset="0"/>
                        <a:cs typeface="Times New Roman" charset="0"/>
                      </a:endParaRPr>
                    </a:p>
                  </a:txBody>
                  <a:tcPr>
                    <a:lnL w="6350" cap="flat" cmpd="sng" algn="ctr">
                      <a:solidFill>
                        <a:srgbClr val="2A3A6A"/>
                      </a:solidFill>
                      <a:prstDash val="solid"/>
                      <a:round/>
                      <a:headEnd type="none" w="med" len="med"/>
                      <a:tailEnd type="none" w="med" len="med"/>
                    </a:lnL>
                    <a:lnR w="6350" cap="flat" cmpd="sng" algn="ctr">
                      <a:solidFill>
                        <a:srgbClr val="2A3A6A"/>
                      </a:solidFill>
                      <a:prstDash val="solid"/>
                      <a:round/>
                      <a:headEnd type="none" w="med" len="med"/>
                      <a:tailEnd type="none" w="med" len="med"/>
                    </a:lnR>
                    <a:lnT w="6350" cap="flat" cmpd="sng" algn="ctr">
                      <a:solidFill>
                        <a:srgbClr val="2A3A6A"/>
                      </a:solidFill>
                      <a:prstDash val="solid"/>
                      <a:round/>
                      <a:headEnd type="none" w="med" len="med"/>
                      <a:tailEnd type="none" w="med" len="med"/>
                    </a:lnT>
                    <a:lnB w="6350" cap="flat" cmpd="sng" algn="ctr">
                      <a:solidFill>
                        <a:srgbClr val="2A3A6A"/>
                      </a:solidFill>
                      <a:prstDash val="solid"/>
                      <a:round/>
                      <a:headEnd type="none" w="med" len="med"/>
                      <a:tailEnd type="none" w="med" len="med"/>
                    </a:lnB>
                    <a:solidFill>
                      <a:srgbClr val="FFC000"/>
                    </a:solidFill>
                  </a:tcPr>
                </a:tc>
                <a:extLst>
                  <a:ext uri="{0D108BD9-81ED-4DB2-BD59-A6C34878D82A}">
                    <a16:rowId xmlns:a16="http://schemas.microsoft.com/office/drawing/2014/main" val="10000"/>
                  </a:ext>
                </a:extLst>
              </a:tr>
              <a:tr h="475488">
                <a:tc>
                  <a:txBody>
                    <a:bodyPr/>
                    <a:lstStyle/>
                    <a:p>
                      <a:pPr marL="0" indent="0" algn="ctr">
                        <a:buNone/>
                      </a:pPr>
                      <a:r>
                        <a:rPr lang="en-US" sz="950" dirty="0">
                          <a:solidFill>
                            <a:srgbClr val="FFC000"/>
                          </a:solidFill>
                          <a:latin typeface="Times New Roman" pitchFamily="34" charset="0"/>
                          <a:ea typeface="Times New Roman" pitchFamily="34" charset="-122"/>
                          <a:cs typeface="Times New Roman" pitchFamily="34" charset="-120"/>
                        </a:rPr>
                        <a:t>1</a:t>
                      </a:r>
                      <a:endParaRPr lang="en-US" sz="950" dirty="0">
                        <a:latin typeface="Times New Roman" charset="0"/>
                        <a:ea typeface="Times New Roman" charset="0"/>
                        <a:cs typeface="Times New Roman" charset="0"/>
                      </a:endParaRPr>
                    </a:p>
                  </a:txBody>
                  <a:tcPr>
                    <a:lnL w="6350" cap="flat" cmpd="sng" algn="ctr">
                      <a:solidFill>
                        <a:srgbClr val="2A3A6A"/>
                      </a:solidFill>
                      <a:prstDash val="solid"/>
                      <a:round/>
                      <a:headEnd type="none" w="med" len="med"/>
                      <a:tailEnd type="none" w="med" len="med"/>
                    </a:lnL>
                    <a:lnR w="6350" cap="flat" cmpd="sng" algn="ctr">
                      <a:solidFill>
                        <a:srgbClr val="2A3A6A"/>
                      </a:solidFill>
                      <a:prstDash val="solid"/>
                      <a:round/>
                      <a:headEnd type="none" w="med" len="med"/>
                      <a:tailEnd type="none" w="med" len="med"/>
                    </a:lnR>
                    <a:lnT w="6350" cap="flat" cmpd="sng" algn="ctr">
                      <a:solidFill>
                        <a:srgbClr val="2A3A6A"/>
                      </a:solidFill>
                      <a:prstDash val="solid"/>
                      <a:round/>
                      <a:headEnd type="none" w="med" len="med"/>
                      <a:tailEnd type="none" w="med" len="med"/>
                    </a:lnT>
                    <a:lnB w="6350" cap="flat" cmpd="sng" algn="ctr">
                      <a:solidFill>
                        <a:srgbClr val="2A3A6A"/>
                      </a:solidFill>
                      <a:prstDash val="solid"/>
                      <a:round/>
                      <a:headEnd type="none" w="med" len="med"/>
                      <a:tailEnd type="none" w="med" len="med"/>
                    </a:lnB>
                    <a:solidFill>
                      <a:srgbClr val="0D1B3E"/>
                    </a:solidFill>
                  </a:tcPr>
                </a:tc>
                <a:tc>
                  <a:txBody>
                    <a:bodyPr/>
                    <a:lstStyle/>
                    <a:p>
                      <a:pPr marL="0" indent="0" algn="l">
                        <a:buNone/>
                      </a:pPr>
                      <a:r>
                        <a:rPr lang="en-US" sz="950" dirty="0">
                          <a:solidFill>
                            <a:srgbClr val="FFFFFF"/>
                          </a:solidFill>
                          <a:latin typeface="Times New Roman" pitchFamily="34" charset="0"/>
                          <a:ea typeface="Times New Roman" pitchFamily="34" charset="-122"/>
                          <a:cs typeface="Times New Roman" pitchFamily="34" charset="-120"/>
                        </a:rPr>
                        <a:t>Wind Turbine</a:t>
                      </a:r>
                      <a:endParaRPr lang="en-US" sz="950" dirty="0">
                        <a:latin typeface="Times New Roman" charset="0"/>
                        <a:ea typeface="Times New Roman" charset="0"/>
                        <a:cs typeface="Times New Roman" charset="0"/>
                      </a:endParaRPr>
                    </a:p>
                  </a:txBody>
                  <a:tcPr>
                    <a:lnL w="6350" cap="flat" cmpd="sng" algn="ctr">
                      <a:solidFill>
                        <a:srgbClr val="2A3A6A"/>
                      </a:solidFill>
                      <a:prstDash val="solid"/>
                      <a:round/>
                      <a:headEnd type="none" w="med" len="med"/>
                      <a:tailEnd type="none" w="med" len="med"/>
                    </a:lnL>
                    <a:lnR w="6350" cap="flat" cmpd="sng" algn="ctr">
                      <a:solidFill>
                        <a:srgbClr val="2A3A6A"/>
                      </a:solidFill>
                      <a:prstDash val="solid"/>
                      <a:round/>
                      <a:headEnd type="none" w="med" len="med"/>
                      <a:tailEnd type="none" w="med" len="med"/>
                    </a:lnR>
                    <a:lnT w="6350" cap="flat" cmpd="sng" algn="ctr">
                      <a:solidFill>
                        <a:srgbClr val="2A3A6A"/>
                      </a:solidFill>
                      <a:prstDash val="solid"/>
                      <a:round/>
                      <a:headEnd type="none" w="med" len="med"/>
                      <a:tailEnd type="none" w="med" len="med"/>
                    </a:lnT>
                    <a:lnB w="6350" cap="flat" cmpd="sng" algn="ctr">
                      <a:solidFill>
                        <a:srgbClr val="2A3A6A"/>
                      </a:solidFill>
                      <a:prstDash val="solid"/>
                      <a:round/>
                      <a:headEnd type="none" w="med" len="med"/>
                      <a:tailEnd type="none" w="med" len="med"/>
                    </a:lnB>
                    <a:solidFill>
                      <a:srgbClr val="0D1B3E"/>
                    </a:solidFill>
                  </a:tcPr>
                </a:tc>
                <a:tc>
                  <a:txBody>
                    <a:bodyPr/>
                    <a:lstStyle/>
                    <a:p>
                      <a:pPr marL="0" indent="0" algn="l">
                        <a:buNone/>
                      </a:pPr>
                      <a:r>
                        <a:rPr lang="en-US" sz="950" dirty="0">
                          <a:solidFill>
                            <a:srgbClr val="FFFFFF"/>
                          </a:solidFill>
                          <a:latin typeface="Times New Roman" pitchFamily="34" charset="0"/>
                          <a:ea typeface="Times New Roman" pitchFamily="34" charset="-122"/>
                          <a:cs typeface="Times New Roman" pitchFamily="34" charset="-120"/>
                        </a:rPr>
                        <a:t>Converts wind energy to mechanical rotation</a:t>
                      </a:r>
                      <a:endParaRPr lang="en-US" sz="950" dirty="0">
                        <a:latin typeface="Times New Roman" charset="0"/>
                        <a:ea typeface="Times New Roman" charset="0"/>
                        <a:cs typeface="Times New Roman" charset="0"/>
                      </a:endParaRPr>
                    </a:p>
                  </a:txBody>
                  <a:tcPr>
                    <a:lnL w="6350" cap="flat" cmpd="sng" algn="ctr">
                      <a:solidFill>
                        <a:srgbClr val="2A3A6A"/>
                      </a:solidFill>
                      <a:prstDash val="solid"/>
                      <a:round/>
                      <a:headEnd type="none" w="med" len="med"/>
                      <a:tailEnd type="none" w="med" len="med"/>
                    </a:lnL>
                    <a:lnR w="6350" cap="flat" cmpd="sng" algn="ctr">
                      <a:solidFill>
                        <a:srgbClr val="2A3A6A"/>
                      </a:solidFill>
                      <a:prstDash val="solid"/>
                      <a:round/>
                      <a:headEnd type="none" w="med" len="med"/>
                      <a:tailEnd type="none" w="med" len="med"/>
                    </a:lnR>
                    <a:lnT w="6350" cap="flat" cmpd="sng" algn="ctr">
                      <a:solidFill>
                        <a:srgbClr val="2A3A6A"/>
                      </a:solidFill>
                      <a:prstDash val="solid"/>
                      <a:round/>
                      <a:headEnd type="none" w="med" len="med"/>
                      <a:tailEnd type="none" w="med" len="med"/>
                    </a:lnT>
                    <a:lnB w="6350" cap="flat" cmpd="sng" algn="ctr">
                      <a:solidFill>
                        <a:srgbClr val="2A3A6A"/>
                      </a:solidFill>
                      <a:prstDash val="solid"/>
                      <a:round/>
                      <a:headEnd type="none" w="med" len="med"/>
                      <a:tailEnd type="none" w="med" len="med"/>
                    </a:lnB>
                    <a:solidFill>
                      <a:srgbClr val="0D1B3E"/>
                    </a:solidFill>
                  </a:tcPr>
                </a:tc>
                <a:tc>
                  <a:txBody>
                    <a:bodyPr/>
                    <a:lstStyle/>
                    <a:p>
                      <a:pPr marL="0" indent="0" algn="l">
                        <a:buNone/>
                      </a:pPr>
                      <a:r>
                        <a:rPr lang="en-US" sz="950" dirty="0">
                          <a:solidFill>
                            <a:srgbClr val="FFFFFF"/>
                          </a:solidFill>
                          <a:latin typeface="Times New Roman" pitchFamily="34" charset="0"/>
                          <a:ea typeface="Times New Roman" pitchFamily="34" charset="-122"/>
                          <a:cs typeface="Times New Roman" pitchFamily="34" charset="-120"/>
                        </a:rPr>
                        <a:t>Rotates due to wind; produces rotational energy</a:t>
                      </a:r>
                      <a:endParaRPr lang="en-US" sz="950" dirty="0">
                        <a:latin typeface="Times New Roman" charset="0"/>
                        <a:ea typeface="Times New Roman" charset="0"/>
                        <a:cs typeface="Times New Roman" charset="0"/>
                      </a:endParaRPr>
                    </a:p>
                  </a:txBody>
                  <a:tcPr>
                    <a:lnL w="6350" cap="flat" cmpd="sng" algn="ctr">
                      <a:solidFill>
                        <a:srgbClr val="2A3A6A"/>
                      </a:solidFill>
                      <a:prstDash val="solid"/>
                      <a:round/>
                      <a:headEnd type="none" w="med" len="med"/>
                      <a:tailEnd type="none" w="med" len="med"/>
                    </a:lnL>
                    <a:lnR w="6350" cap="flat" cmpd="sng" algn="ctr">
                      <a:solidFill>
                        <a:srgbClr val="2A3A6A"/>
                      </a:solidFill>
                      <a:prstDash val="solid"/>
                      <a:round/>
                      <a:headEnd type="none" w="med" len="med"/>
                      <a:tailEnd type="none" w="med" len="med"/>
                    </a:lnR>
                    <a:lnT w="6350" cap="flat" cmpd="sng" algn="ctr">
                      <a:solidFill>
                        <a:srgbClr val="2A3A6A"/>
                      </a:solidFill>
                      <a:prstDash val="solid"/>
                      <a:round/>
                      <a:headEnd type="none" w="med" len="med"/>
                      <a:tailEnd type="none" w="med" len="med"/>
                    </a:lnT>
                    <a:lnB w="6350" cap="flat" cmpd="sng" algn="ctr">
                      <a:solidFill>
                        <a:srgbClr val="2A3A6A"/>
                      </a:solidFill>
                      <a:prstDash val="solid"/>
                      <a:round/>
                      <a:headEnd type="none" w="med" len="med"/>
                      <a:tailEnd type="none" w="med" len="med"/>
                    </a:lnB>
                    <a:solidFill>
                      <a:srgbClr val="0D1B3E"/>
                    </a:solidFill>
                  </a:tcPr>
                </a:tc>
                <a:extLst>
                  <a:ext uri="{0D108BD9-81ED-4DB2-BD59-A6C34878D82A}">
                    <a16:rowId xmlns:a16="http://schemas.microsoft.com/office/drawing/2014/main" val="10001"/>
                  </a:ext>
                </a:extLst>
              </a:tr>
              <a:tr h="475488">
                <a:tc>
                  <a:txBody>
                    <a:bodyPr/>
                    <a:lstStyle/>
                    <a:p>
                      <a:pPr marL="0" indent="0" algn="ctr">
                        <a:buNone/>
                      </a:pPr>
                      <a:r>
                        <a:rPr lang="en-US" sz="950" dirty="0">
                          <a:solidFill>
                            <a:srgbClr val="FFC000"/>
                          </a:solidFill>
                          <a:latin typeface="Times New Roman" pitchFamily="34" charset="0"/>
                          <a:ea typeface="Times New Roman" pitchFamily="34" charset="-122"/>
                          <a:cs typeface="Times New Roman" pitchFamily="34" charset="-120"/>
                        </a:rPr>
                        <a:t>2</a:t>
                      </a:r>
                      <a:endParaRPr lang="en-US" sz="950" dirty="0">
                        <a:latin typeface="Times New Roman" charset="0"/>
                        <a:ea typeface="Times New Roman" charset="0"/>
                        <a:cs typeface="Times New Roman" charset="0"/>
                      </a:endParaRPr>
                    </a:p>
                  </a:txBody>
                  <a:tcPr>
                    <a:lnL w="6350" cap="flat" cmpd="sng" algn="ctr">
                      <a:solidFill>
                        <a:srgbClr val="2A3A6A"/>
                      </a:solidFill>
                      <a:prstDash val="solid"/>
                      <a:round/>
                      <a:headEnd type="none" w="med" len="med"/>
                      <a:tailEnd type="none" w="med" len="med"/>
                    </a:lnL>
                    <a:lnR w="6350" cap="flat" cmpd="sng" algn="ctr">
                      <a:solidFill>
                        <a:srgbClr val="2A3A6A"/>
                      </a:solidFill>
                      <a:prstDash val="solid"/>
                      <a:round/>
                      <a:headEnd type="none" w="med" len="med"/>
                      <a:tailEnd type="none" w="med" len="med"/>
                    </a:lnR>
                    <a:lnT w="6350" cap="flat" cmpd="sng" algn="ctr">
                      <a:solidFill>
                        <a:srgbClr val="2A3A6A"/>
                      </a:solidFill>
                      <a:prstDash val="solid"/>
                      <a:round/>
                      <a:headEnd type="none" w="med" len="med"/>
                      <a:tailEnd type="none" w="med" len="med"/>
                    </a:lnT>
                    <a:lnB w="6350" cap="flat" cmpd="sng" algn="ctr">
                      <a:solidFill>
                        <a:srgbClr val="2A3A6A"/>
                      </a:solidFill>
                      <a:prstDash val="solid"/>
                      <a:round/>
                      <a:headEnd type="none" w="med" len="med"/>
                      <a:tailEnd type="none" w="med" len="med"/>
                    </a:lnB>
                    <a:solidFill>
                      <a:srgbClr val="1A2744"/>
                    </a:solidFill>
                  </a:tcPr>
                </a:tc>
                <a:tc>
                  <a:txBody>
                    <a:bodyPr/>
                    <a:lstStyle/>
                    <a:p>
                      <a:pPr marL="0" indent="0" algn="l">
                        <a:buNone/>
                      </a:pPr>
                      <a:r>
                        <a:rPr lang="en-US" sz="950" dirty="0">
                          <a:solidFill>
                            <a:srgbClr val="FFFFFF"/>
                          </a:solidFill>
                          <a:latin typeface="Times New Roman" pitchFamily="34" charset="0"/>
                          <a:ea typeface="Times New Roman" pitchFamily="34" charset="-122"/>
                          <a:cs typeface="Times New Roman" pitchFamily="34" charset="-120"/>
                        </a:rPr>
                        <a:t>DC Generator</a:t>
                      </a:r>
                      <a:endParaRPr lang="en-US" sz="950" dirty="0">
                        <a:latin typeface="Times New Roman" charset="0"/>
                        <a:ea typeface="Times New Roman" charset="0"/>
                        <a:cs typeface="Times New Roman" charset="0"/>
                      </a:endParaRPr>
                    </a:p>
                  </a:txBody>
                  <a:tcPr>
                    <a:lnL w="6350" cap="flat" cmpd="sng" algn="ctr">
                      <a:solidFill>
                        <a:srgbClr val="2A3A6A"/>
                      </a:solidFill>
                      <a:prstDash val="solid"/>
                      <a:round/>
                      <a:headEnd type="none" w="med" len="med"/>
                      <a:tailEnd type="none" w="med" len="med"/>
                    </a:lnL>
                    <a:lnR w="6350" cap="flat" cmpd="sng" algn="ctr">
                      <a:solidFill>
                        <a:srgbClr val="2A3A6A"/>
                      </a:solidFill>
                      <a:prstDash val="solid"/>
                      <a:round/>
                      <a:headEnd type="none" w="med" len="med"/>
                      <a:tailEnd type="none" w="med" len="med"/>
                    </a:lnR>
                    <a:lnT w="6350" cap="flat" cmpd="sng" algn="ctr">
                      <a:solidFill>
                        <a:srgbClr val="2A3A6A"/>
                      </a:solidFill>
                      <a:prstDash val="solid"/>
                      <a:round/>
                      <a:headEnd type="none" w="med" len="med"/>
                      <a:tailEnd type="none" w="med" len="med"/>
                    </a:lnT>
                    <a:lnB w="6350" cap="flat" cmpd="sng" algn="ctr">
                      <a:solidFill>
                        <a:srgbClr val="2A3A6A"/>
                      </a:solidFill>
                      <a:prstDash val="solid"/>
                      <a:round/>
                      <a:headEnd type="none" w="med" len="med"/>
                      <a:tailEnd type="none" w="med" len="med"/>
                    </a:lnB>
                    <a:solidFill>
                      <a:srgbClr val="1A2744"/>
                    </a:solidFill>
                  </a:tcPr>
                </a:tc>
                <a:tc>
                  <a:txBody>
                    <a:bodyPr/>
                    <a:lstStyle/>
                    <a:p>
                      <a:pPr marL="0" indent="0" algn="l">
                        <a:buNone/>
                      </a:pPr>
                      <a:r>
                        <a:rPr lang="en-US" sz="950" dirty="0">
                          <a:solidFill>
                            <a:srgbClr val="FFFFFF"/>
                          </a:solidFill>
                          <a:latin typeface="Times New Roman" pitchFamily="34" charset="0"/>
                          <a:ea typeface="Times New Roman" pitchFamily="34" charset="-122"/>
                          <a:cs typeface="Times New Roman" pitchFamily="34" charset="-120"/>
                        </a:rPr>
                        <a:t>Generates electricity from rotation</a:t>
                      </a:r>
                      <a:endParaRPr lang="en-US" sz="950" dirty="0">
                        <a:latin typeface="Times New Roman" charset="0"/>
                        <a:ea typeface="Times New Roman" charset="0"/>
                        <a:cs typeface="Times New Roman" charset="0"/>
                      </a:endParaRPr>
                    </a:p>
                  </a:txBody>
                  <a:tcPr>
                    <a:lnL w="6350" cap="flat" cmpd="sng" algn="ctr">
                      <a:solidFill>
                        <a:srgbClr val="2A3A6A"/>
                      </a:solidFill>
                      <a:prstDash val="solid"/>
                      <a:round/>
                      <a:headEnd type="none" w="med" len="med"/>
                      <a:tailEnd type="none" w="med" len="med"/>
                    </a:lnL>
                    <a:lnR w="6350" cap="flat" cmpd="sng" algn="ctr">
                      <a:solidFill>
                        <a:srgbClr val="2A3A6A"/>
                      </a:solidFill>
                      <a:prstDash val="solid"/>
                      <a:round/>
                      <a:headEnd type="none" w="med" len="med"/>
                      <a:tailEnd type="none" w="med" len="med"/>
                    </a:lnR>
                    <a:lnT w="6350" cap="flat" cmpd="sng" algn="ctr">
                      <a:solidFill>
                        <a:srgbClr val="2A3A6A"/>
                      </a:solidFill>
                      <a:prstDash val="solid"/>
                      <a:round/>
                      <a:headEnd type="none" w="med" len="med"/>
                      <a:tailEnd type="none" w="med" len="med"/>
                    </a:lnT>
                    <a:lnB w="6350" cap="flat" cmpd="sng" algn="ctr">
                      <a:solidFill>
                        <a:srgbClr val="2A3A6A"/>
                      </a:solidFill>
                      <a:prstDash val="solid"/>
                      <a:round/>
                      <a:headEnd type="none" w="med" len="med"/>
                      <a:tailEnd type="none" w="med" len="med"/>
                    </a:lnB>
                    <a:solidFill>
                      <a:srgbClr val="1A2744"/>
                    </a:solidFill>
                  </a:tcPr>
                </a:tc>
                <a:tc>
                  <a:txBody>
                    <a:bodyPr/>
                    <a:lstStyle/>
                    <a:p>
                      <a:pPr marL="0" indent="0" algn="l">
                        <a:buNone/>
                      </a:pPr>
                      <a:r>
                        <a:rPr lang="en-US" sz="950" dirty="0">
                          <a:solidFill>
                            <a:srgbClr val="FFFFFF"/>
                          </a:solidFill>
                          <a:latin typeface="Times New Roman" pitchFamily="34" charset="0"/>
                          <a:ea typeface="Times New Roman" pitchFamily="34" charset="-122"/>
                          <a:cs typeface="Times New Roman" pitchFamily="34" charset="-120"/>
                        </a:rPr>
                        <a:t>Converts mechanical rotation into DC power</a:t>
                      </a:r>
                      <a:endParaRPr lang="en-US" sz="950" dirty="0">
                        <a:latin typeface="Times New Roman" charset="0"/>
                        <a:ea typeface="Times New Roman" charset="0"/>
                        <a:cs typeface="Times New Roman" charset="0"/>
                      </a:endParaRPr>
                    </a:p>
                  </a:txBody>
                  <a:tcPr>
                    <a:lnL w="6350" cap="flat" cmpd="sng" algn="ctr">
                      <a:solidFill>
                        <a:srgbClr val="2A3A6A"/>
                      </a:solidFill>
                      <a:prstDash val="solid"/>
                      <a:round/>
                      <a:headEnd type="none" w="med" len="med"/>
                      <a:tailEnd type="none" w="med" len="med"/>
                    </a:lnL>
                    <a:lnR w="6350" cap="flat" cmpd="sng" algn="ctr">
                      <a:solidFill>
                        <a:srgbClr val="2A3A6A"/>
                      </a:solidFill>
                      <a:prstDash val="solid"/>
                      <a:round/>
                      <a:headEnd type="none" w="med" len="med"/>
                      <a:tailEnd type="none" w="med" len="med"/>
                    </a:lnR>
                    <a:lnT w="6350" cap="flat" cmpd="sng" algn="ctr">
                      <a:solidFill>
                        <a:srgbClr val="2A3A6A"/>
                      </a:solidFill>
                      <a:prstDash val="solid"/>
                      <a:round/>
                      <a:headEnd type="none" w="med" len="med"/>
                      <a:tailEnd type="none" w="med" len="med"/>
                    </a:lnT>
                    <a:lnB w="6350" cap="flat" cmpd="sng" algn="ctr">
                      <a:solidFill>
                        <a:srgbClr val="2A3A6A"/>
                      </a:solidFill>
                      <a:prstDash val="solid"/>
                      <a:round/>
                      <a:headEnd type="none" w="med" len="med"/>
                      <a:tailEnd type="none" w="med" len="med"/>
                    </a:lnB>
                    <a:solidFill>
                      <a:srgbClr val="1A2744"/>
                    </a:solidFill>
                  </a:tcPr>
                </a:tc>
                <a:extLst>
                  <a:ext uri="{0D108BD9-81ED-4DB2-BD59-A6C34878D82A}">
                    <a16:rowId xmlns:a16="http://schemas.microsoft.com/office/drawing/2014/main" val="10002"/>
                  </a:ext>
                </a:extLst>
              </a:tr>
              <a:tr h="475488">
                <a:tc>
                  <a:txBody>
                    <a:bodyPr/>
                    <a:lstStyle/>
                    <a:p>
                      <a:pPr marL="0" indent="0" algn="ctr">
                        <a:buNone/>
                      </a:pPr>
                      <a:r>
                        <a:rPr lang="en-US" sz="950" dirty="0">
                          <a:solidFill>
                            <a:srgbClr val="FFC000"/>
                          </a:solidFill>
                          <a:latin typeface="Times New Roman" pitchFamily="34" charset="0"/>
                          <a:ea typeface="Times New Roman" pitchFamily="34" charset="-122"/>
                          <a:cs typeface="Times New Roman" pitchFamily="34" charset="-120"/>
                        </a:rPr>
                        <a:t>3</a:t>
                      </a:r>
                      <a:endParaRPr lang="en-US" sz="950" dirty="0">
                        <a:latin typeface="Times New Roman" charset="0"/>
                        <a:ea typeface="Times New Roman" charset="0"/>
                        <a:cs typeface="Times New Roman" charset="0"/>
                      </a:endParaRPr>
                    </a:p>
                  </a:txBody>
                  <a:tcPr>
                    <a:lnL w="6350" cap="flat" cmpd="sng" algn="ctr">
                      <a:solidFill>
                        <a:srgbClr val="2A3A6A"/>
                      </a:solidFill>
                      <a:prstDash val="solid"/>
                      <a:round/>
                      <a:headEnd type="none" w="med" len="med"/>
                      <a:tailEnd type="none" w="med" len="med"/>
                    </a:lnL>
                    <a:lnR w="6350" cap="flat" cmpd="sng" algn="ctr">
                      <a:solidFill>
                        <a:srgbClr val="2A3A6A"/>
                      </a:solidFill>
                      <a:prstDash val="solid"/>
                      <a:round/>
                      <a:headEnd type="none" w="med" len="med"/>
                      <a:tailEnd type="none" w="med" len="med"/>
                    </a:lnR>
                    <a:lnT w="6350" cap="flat" cmpd="sng" algn="ctr">
                      <a:solidFill>
                        <a:srgbClr val="2A3A6A"/>
                      </a:solidFill>
                      <a:prstDash val="solid"/>
                      <a:round/>
                      <a:headEnd type="none" w="med" len="med"/>
                      <a:tailEnd type="none" w="med" len="med"/>
                    </a:lnT>
                    <a:lnB w="6350" cap="flat" cmpd="sng" algn="ctr">
                      <a:solidFill>
                        <a:srgbClr val="2A3A6A"/>
                      </a:solidFill>
                      <a:prstDash val="solid"/>
                      <a:round/>
                      <a:headEnd type="none" w="med" len="med"/>
                      <a:tailEnd type="none" w="med" len="med"/>
                    </a:lnB>
                    <a:solidFill>
                      <a:srgbClr val="0D1B3E"/>
                    </a:solidFill>
                  </a:tcPr>
                </a:tc>
                <a:tc>
                  <a:txBody>
                    <a:bodyPr/>
                    <a:lstStyle/>
                    <a:p>
                      <a:pPr marL="0" indent="0" algn="l">
                        <a:buNone/>
                      </a:pPr>
                      <a:r>
                        <a:rPr lang="en-US" sz="950" dirty="0">
                          <a:solidFill>
                            <a:srgbClr val="FFFFFF"/>
                          </a:solidFill>
                          <a:latin typeface="Times New Roman" pitchFamily="34" charset="0"/>
                          <a:ea typeface="Times New Roman" pitchFamily="34" charset="-122"/>
                          <a:cs typeface="Times New Roman" pitchFamily="34" charset="-120"/>
                        </a:rPr>
                        <a:t>Buck Converter</a:t>
                      </a:r>
                      <a:endParaRPr lang="en-US" sz="950" dirty="0">
                        <a:latin typeface="Times New Roman" charset="0"/>
                        <a:ea typeface="Times New Roman" charset="0"/>
                        <a:cs typeface="Times New Roman" charset="0"/>
                      </a:endParaRPr>
                    </a:p>
                  </a:txBody>
                  <a:tcPr>
                    <a:lnL w="6350" cap="flat" cmpd="sng" algn="ctr">
                      <a:solidFill>
                        <a:srgbClr val="2A3A6A"/>
                      </a:solidFill>
                      <a:prstDash val="solid"/>
                      <a:round/>
                      <a:headEnd type="none" w="med" len="med"/>
                      <a:tailEnd type="none" w="med" len="med"/>
                    </a:lnL>
                    <a:lnR w="6350" cap="flat" cmpd="sng" algn="ctr">
                      <a:solidFill>
                        <a:srgbClr val="2A3A6A"/>
                      </a:solidFill>
                      <a:prstDash val="solid"/>
                      <a:round/>
                      <a:headEnd type="none" w="med" len="med"/>
                      <a:tailEnd type="none" w="med" len="med"/>
                    </a:lnR>
                    <a:lnT w="6350" cap="flat" cmpd="sng" algn="ctr">
                      <a:solidFill>
                        <a:srgbClr val="2A3A6A"/>
                      </a:solidFill>
                      <a:prstDash val="solid"/>
                      <a:round/>
                      <a:headEnd type="none" w="med" len="med"/>
                      <a:tailEnd type="none" w="med" len="med"/>
                    </a:lnT>
                    <a:lnB w="6350" cap="flat" cmpd="sng" algn="ctr">
                      <a:solidFill>
                        <a:srgbClr val="2A3A6A"/>
                      </a:solidFill>
                      <a:prstDash val="solid"/>
                      <a:round/>
                      <a:headEnd type="none" w="med" len="med"/>
                      <a:tailEnd type="none" w="med" len="med"/>
                    </a:lnB>
                    <a:solidFill>
                      <a:srgbClr val="0D1B3E"/>
                    </a:solidFill>
                  </a:tcPr>
                </a:tc>
                <a:tc>
                  <a:txBody>
                    <a:bodyPr/>
                    <a:lstStyle/>
                    <a:p>
                      <a:pPr marL="0" indent="0" algn="l">
                        <a:buNone/>
                      </a:pPr>
                      <a:r>
                        <a:rPr lang="en-US" sz="950" dirty="0">
                          <a:solidFill>
                            <a:srgbClr val="FFFFFF"/>
                          </a:solidFill>
                          <a:latin typeface="Times New Roman" pitchFamily="34" charset="0"/>
                          <a:ea typeface="Times New Roman" pitchFamily="34" charset="-122"/>
                          <a:cs typeface="Times New Roman" pitchFamily="34" charset="-120"/>
                        </a:rPr>
                        <a:t>Regulates generated voltage</a:t>
                      </a:r>
                      <a:endParaRPr lang="en-US" sz="950" dirty="0">
                        <a:latin typeface="Times New Roman" charset="0"/>
                        <a:ea typeface="Times New Roman" charset="0"/>
                        <a:cs typeface="Times New Roman" charset="0"/>
                      </a:endParaRPr>
                    </a:p>
                  </a:txBody>
                  <a:tcPr>
                    <a:lnL w="6350" cap="flat" cmpd="sng" algn="ctr">
                      <a:solidFill>
                        <a:srgbClr val="2A3A6A"/>
                      </a:solidFill>
                      <a:prstDash val="solid"/>
                      <a:round/>
                      <a:headEnd type="none" w="med" len="med"/>
                      <a:tailEnd type="none" w="med" len="med"/>
                    </a:lnL>
                    <a:lnR w="6350" cap="flat" cmpd="sng" algn="ctr">
                      <a:solidFill>
                        <a:srgbClr val="2A3A6A"/>
                      </a:solidFill>
                      <a:prstDash val="solid"/>
                      <a:round/>
                      <a:headEnd type="none" w="med" len="med"/>
                      <a:tailEnd type="none" w="med" len="med"/>
                    </a:lnR>
                    <a:lnT w="6350" cap="flat" cmpd="sng" algn="ctr">
                      <a:solidFill>
                        <a:srgbClr val="2A3A6A"/>
                      </a:solidFill>
                      <a:prstDash val="solid"/>
                      <a:round/>
                      <a:headEnd type="none" w="med" len="med"/>
                      <a:tailEnd type="none" w="med" len="med"/>
                    </a:lnT>
                    <a:lnB w="6350" cap="flat" cmpd="sng" algn="ctr">
                      <a:solidFill>
                        <a:srgbClr val="2A3A6A"/>
                      </a:solidFill>
                      <a:prstDash val="solid"/>
                      <a:round/>
                      <a:headEnd type="none" w="med" len="med"/>
                      <a:tailEnd type="none" w="med" len="med"/>
                    </a:lnB>
                    <a:solidFill>
                      <a:srgbClr val="0D1B3E"/>
                    </a:solidFill>
                  </a:tcPr>
                </a:tc>
                <a:tc>
                  <a:txBody>
                    <a:bodyPr/>
                    <a:lstStyle/>
                    <a:p>
                      <a:pPr marL="0" indent="0" algn="l">
                        <a:buNone/>
                      </a:pPr>
                      <a:r>
                        <a:rPr lang="en-US" sz="950" dirty="0">
                          <a:solidFill>
                            <a:srgbClr val="FFFFFF"/>
                          </a:solidFill>
                          <a:latin typeface="Times New Roman" pitchFamily="34" charset="0"/>
                          <a:ea typeface="Times New Roman" pitchFamily="34" charset="-122"/>
                          <a:cs typeface="Times New Roman" pitchFamily="34" charset="-120"/>
                        </a:rPr>
                        <a:t>Stabilises voltage for safe battery charging</a:t>
                      </a:r>
                      <a:endParaRPr lang="en-US" sz="950" dirty="0">
                        <a:latin typeface="Times New Roman" charset="0"/>
                        <a:ea typeface="Times New Roman" charset="0"/>
                        <a:cs typeface="Times New Roman" charset="0"/>
                      </a:endParaRPr>
                    </a:p>
                  </a:txBody>
                  <a:tcPr>
                    <a:lnL w="6350" cap="flat" cmpd="sng" algn="ctr">
                      <a:solidFill>
                        <a:srgbClr val="2A3A6A"/>
                      </a:solidFill>
                      <a:prstDash val="solid"/>
                      <a:round/>
                      <a:headEnd type="none" w="med" len="med"/>
                      <a:tailEnd type="none" w="med" len="med"/>
                    </a:lnL>
                    <a:lnR w="6350" cap="flat" cmpd="sng" algn="ctr">
                      <a:solidFill>
                        <a:srgbClr val="2A3A6A"/>
                      </a:solidFill>
                      <a:prstDash val="solid"/>
                      <a:round/>
                      <a:headEnd type="none" w="med" len="med"/>
                      <a:tailEnd type="none" w="med" len="med"/>
                    </a:lnR>
                    <a:lnT w="6350" cap="flat" cmpd="sng" algn="ctr">
                      <a:solidFill>
                        <a:srgbClr val="2A3A6A"/>
                      </a:solidFill>
                      <a:prstDash val="solid"/>
                      <a:round/>
                      <a:headEnd type="none" w="med" len="med"/>
                      <a:tailEnd type="none" w="med" len="med"/>
                    </a:lnT>
                    <a:lnB w="6350" cap="flat" cmpd="sng" algn="ctr">
                      <a:solidFill>
                        <a:srgbClr val="2A3A6A"/>
                      </a:solidFill>
                      <a:prstDash val="solid"/>
                      <a:round/>
                      <a:headEnd type="none" w="med" len="med"/>
                      <a:tailEnd type="none" w="med" len="med"/>
                    </a:lnB>
                    <a:solidFill>
                      <a:srgbClr val="0D1B3E"/>
                    </a:solidFill>
                  </a:tcPr>
                </a:tc>
                <a:extLst>
                  <a:ext uri="{0D108BD9-81ED-4DB2-BD59-A6C34878D82A}">
                    <a16:rowId xmlns:a16="http://schemas.microsoft.com/office/drawing/2014/main" val="10003"/>
                  </a:ext>
                </a:extLst>
              </a:tr>
              <a:tr h="475488">
                <a:tc>
                  <a:txBody>
                    <a:bodyPr/>
                    <a:lstStyle/>
                    <a:p>
                      <a:pPr marL="0" indent="0" algn="ctr">
                        <a:buNone/>
                      </a:pPr>
                      <a:r>
                        <a:rPr lang="en-US" sz="950" dirty="0">
                          <a:solidFill>
                            <a:srgbClr val="FFC000"/>
                          </a:solidFill>
                          <a:latin typeface="Times New Roman" pitchFamily="34" charset="0"/>
                          <a:ea typeface="Times New Roman" pitchFamily="34" charset="-122"/>
                          <a:cs typeface="Times New Roman" pitchFamily="34" charset="-120"/>
                        </a:rPr>
                        <a:t>4</a:t>
                      </a:r>
                      <a:endParaRPr lang="en-US" sz="950" dirty="0">
                        <a:latin typeface="Times New Roman" charset="0"/>
                        <a:ea typeface="Times New Roman" charset="0"/>
                        <a:cs typeface="Times New Roman" charset="0"/>
                      </a:endParaRPr>
                    </a:p>
                  </a:txBody>
                  <a:tcPr>
                    <a:lnL w="6350" cap="flat" cmpd="sng" algn="ctr">
                      <a:solidFill>
                        <a:srgbClr val="2A3A6A"/>
                      </a:solidFill>
                      <a:prstDash val="solid"/>
                      <a:round/>
                      <a:headEnd type="none" w="med" len="med"/>
                      <a:tailEnd type="none" w="med" len="med"/>
                    </a:lnL>
                    <a:lnR w="6350" cap="flat" cmpd="sng" algn="ctr">
                      <a:solidFill>
                        <a:srgbClr val="2A3A6A"/>
                      </a:solidFill>
                      <a:prstDash val="solid"/>
                      <a:round/>
                      <a:headEnd type="none" w="med" len="med"/>
                      <a:tailEnd type="none" w="med" len="med"/>
                    </a:lnR>
                    <a:lnT w="6350" cap="flat" cmpd="sng" algn="ctr">
                      <a:solidFill>
                        <a:srgbClr val="2A3A6A"/>
                      </a:solidFill>
                      <a:prstDash val="solid"/>
                      <a:round/>
                      <a:headEnd type="none" w="med" len="med"/>
                      <a:tailEnd type="none" w="med" len="med"/>
                    </a:lnT>
                    <a:lnB w="6350" cap="flat" cmpd="sng" algn="ctr">
                      <a:solidFill>
                        <a:srgbClr val="2A3A6A"/>
                      </a:solidFill>
                      <a:prstDash val="solid"/>
                      <a:round/>
                      <a:headEnd type="none" w="med" len="med"/>
                      <a:tailEnd type="none" w="med" len="med"/>
                    </a:lnB>
                    <a:solidFill>
                      <a:srgbClr val="1A2744"/>
                    </a:solidFill>
                  </a:tcPr>
                </a:tc>
                <a:tc>
                  <a:txBody>
                    <a:bodyPr/>
                    <a:lstStyle/>
                    <a:p>
                      <a:pPr marL="0" indent="0" algn="l">
                        <a:buNone/>
                      </a:pPr>
                      <a:r>
                        <a:rPr lang="en-US" sz="950" dirty="0">
                          <a:solidFill>
                            <a:srgbClr val="FFFFFF"/>
                          </a:solidFill>
                          <a:latin typeface="Times New Roman" pitchFamily="34" charset="0"/>
                          <a:ea typeface="Times New Roman" pitchFamily="34" charset="-122"/>
                          <a:cs typeface="Times New Roman" pitchFamily="34" charset="-120"/>
                        </a:rPr>
                        <a:t>Lithium Battery + BMS</a:t>
                      </a:r>
                      <a:endParaRPr lang="en-US" sz="950" dirty="0">
                        <a:latin typeface="Times New Roman" charset="0"/>
                        <a:ea typeface="Times New Roman" charset="0"/>
                        <a:cs typeface="Times New Roman" charset="0"/>
                      </a:endParaRPr>
                    </a:p>
                  </a:txBody>
                  <a:tcPr>
                    <a:lnL w="6350" cap="flat" cmpd="sng" algn="ctr">
                      <a:solidFill>
                        <a:srgbClr val="2A3A6A"/>
                      </a:solidFill>
                      <a:prstDash val="solid"/>
                      <a:round/>
                      <a:headEnd type="none" w="med" len="med"/>
                      <a:tailEnd type="none" w="med" len="med"/>
                    </a:lnL>
                    <a:lnR w="6350" cap="flat" cmpd="sng" algn="ctr">
                      <a:solidFill>
                        <a:srgbClr val="2A3A6A"/>
                      </a:solidFill>
                      <a:prstDash val="solid"/>
                      <a:round/>
                      <a:headEnd type="none" w="med" len="med"/>
                      <a:tailEnd type="none" w="med" len="med"/>
                    </a:lnR>
                    <a:lnT w="6350" cap="flat" cmpd="sng" algn="ctr">
                      <a:solidFill>
                        <a:srgbClr val="2A3A6A"/>
                      </a:solidFill>
                      <a:prstDash val="solid"/>
                      <a:round/>
                      <a:headEnd type="none" w="med" len="med"/>
                      <a:tailEnd type="none" w="med" len="med"/>
                    </a:lnT>
                    <a:lnB w="6350" cap="flat" cmpd="sng" algn="ctr">
                      <a:solidFill>
                        <a:srgbClr val="2A3A6A"/>
                      </a:solidFill>
                      <a:prstDash val="solid"/>
                      <a:round/>
                      <a:headEnd type="none" w="med" len="med"/>
                      <a:tailEnd type="none" w="med" len="med"/>
                    </a:lnB>
                    <a:solidFill>
                      <a:srgbClr val="1A2744"/>
                    </a:solidFill>
                  </a:tcPr>
                </a:tc>
                <a:tc>
                  <a:txBody>
                    <a:bodyPr/>
                    <a:lstStyle/>
                    <a:p>
                      <a:pPr marL="0" indent="0" algn="l">
                        <a:buNone/>
                      </a:pPr>
                      <a:r>
                        <a:rPr lang="en-US" sz="950" dirty="0">
                          <a:solidFill>
                            <a:srgbClr val="FFFFFF"/>
                          </a:solidFill>
                          <a:latin typeface="Times New Roman" pitchFamily="34" charset="0"/>
                          <a:ea typeface="Times New Roman" pitchFamily="34" charset="-122"/>
                          <a:cs typeface="Times New Roman" pitchFamily="34" charset="-120"/>
                        </a:rPr>
                        <a:t>Stores energy; prevents overcharge</a:t>
                      </a:r>
                      <a:endParaRPr lang="en-US" sz="950" dirty="0">
                        <a:latin typeface="Times New Roman" charset="0"/>
                        <a:ea typeface="Times New Roman" charset="0"/>
                        <a:cs typeface="Times New Roman" charset="0"/>
                      </a:endParaRPr>
                    </a:p>
                  </a:txBody>
                  <a:tcPr>
                    <a:lnL w="6350" cap="flat" cmpd="sng" algn="ctr">
                      <a:solidFill>
                        <a:srgbClr val="2A3A6A"/>
                      </a:solidFill>
                      <a:prstDash val="solid"/>
                      <a:round/>
                      <a:headEnd type="none" w="med" len="med"/>
                      <a:tailEnd type="none" w="med" len="med"/>
                    </a:lnL>
                    <a:lnR w="6350" cap="flat" cmpd="sng" algn="ctr">
                      <a:solidFill>
                        <a:srgbClr val="2A3A6A"/>
                      </a:solidFill>
                      <a:prstDash val="solid"/>
                      <a:round/>
                      <a:headEnd type="none" w="med" len="med"/>
                      <a:tailEnd type="none" w="med" len="med"/>
                    </a:lnR>
                    <a:lnT w="6350" cap="flat" cmpd="sng" algn="ctr">
                      <a:solidFill>
                        <a:srgbClr val="2A3A6A"/>
                      </a:solidFill>
                      <a:prstDash val="solid"/>
                      <a:round/>
                      <a:headEnd type="none" w="med" len="med"/>
                      <a:tailEnd type="none" w="med" len="med"/>
                    </a:lnT>
                    <a:lnB w="6350" cap="flat" cmpd="sng" algn="ctr">
                      <a:solidFill>
                        <a:srgbClr val="2A3A6A"/>
                      </a:solidFill>
                      <a:prstDash val="solid"/>
                      <a:round/>
                      <a:headEnd type="none" w="med" len="med"/>
                      <a:tailEnd type="none" w="med" len="med"/>
                    </a:lnB>
                    <a:solidFill>
                      <a:srgbClr val="1A2744"/>
                    </a:solidFill>
                  </a:tcPr>
                </a:tc>
                <a:tc>
                  <a:txBody>
                    <a:bodyPr/>
                    <a:lstStyle/>
                    <a:p>
                      <a:pPr marL="0" indent="0" algn="l">
                        <a:buNone/>
                      </a:pPr>
                      <a:r>
                        <a:rPr lang="en-US" sz="950" dirty="0">
                          <a:solidFill>
                            <a:srgbClr val="FFFFFF"/>
                          </a:solidFill>
                          <a:latin typeface="Times New Roman" pitchFamily="34" charset="0"/>
                          <a:ea typeface="Times New Roman" pitchFamily="34" charset="-122"/>
                          <a:cs typeface="Times New Roman" pitchFamily="34" charset="-120"/>
                        </a:rPr>
                        <a:t>Supplies stored renewable energy to system</a:t>
                      </a:r>
                      <a:endParaRPr lang="en-US" sz="950" dirty="0">
                        <a:latin typeface="Times New Roman" charset="0"/>
                        <a:ea typeface="Times New Roman" charset="0"/>
                        <a:cs typeface="Times New Roman" charset="0"/>
                      </a:endParaRPr>
                    </a:p>
                  </a:txBody>
                  <a:tcPr>
                    <a:lnL w="6350" cap="flat" cmpd="sng" algn="ctr">
                      <a:solidFill>
                        <a:srgbClr val="2A3A6A"/>
                      </a:solidFill>
                      <a:prstDash val="solid"/>
                      <a:round/>
                      <a:headEnd type="none" w="med" len="med"/>
                      <a:tailEnd type="none" w="med" len="med"/>
                    </a:lnL>
                    <a:lnR w="6350" cap="flat" cmpd="sng" algn="ctr">
                      <a:solidFill>
                        <a:srgbClr val="2A3A6A"/>
                      </a:solidFill>
                      <a:prstDash val="solid"/>
                      <a:round/>
                      <a:headEnd type="none" w="med" len="med"/>
                      <a:tailEnd type="none" w="med" len="med"/>
                    </a:lnR>
                    <a:lnT w="6350" cap="flat" cmpd="sng" algn="ctr">
                      <a:solidFill>
                        <a:srgbClr val="2A3A6A"/>
                      </a:solidFill>
                      <a:prstDash val="solid"/>
                      <a:round/>
                      <a:headEnd type="none" w="med" len="med"/>
                      <a:tailEnd type="none" w="med" len="med"/>
                    </a:lnT>
                    <a:lnB w="6350" cap="flat" cmpd="sng" algn="ctr">
                      <a:solidFill>
                        <a:srgbClr val="2A3A6A"/>
                      </a:solidFill>
                      <a:prstDash val="solid"/>
                      <a:round/>
                      <a:headEnd type="none" w="med" len="med"/>
                      <a:tailEnd type="none" w="med" len="med"/>
                    </a:lnB>
                    <a:solidFill>
                      <a:srgbClr val="1A2744"/>
                    </a:solidFill>
                  </a:tcPr>
                </a:tc>
                <a:extLst>
                  <a:ext uri="{0D108BD9-81ED-4DB2-BD59-A6C34878D82A}">
                    <a16:rowId xmlns:a16="http://schemas.microsoft.com/office/drawing/2014/main" val="10004"/>
                  </a:ext>
                </a:extLst>
              </a:tr>
              <a:tr h="475488">
                <a:tc>
                  <a:txBody>
                    <a:bodyPr/>
                    <a:lstStyle/>
                    <a:p>
                      <a:pPr marL="0" indent="0" algn="ctr">
                        <a:buNone/>
                      </a:pPr>
                      <a:r>
                        <a:rPr lang="en-US" sz="950" dirty="0">
                          <a:solidFill>
                            <a:srgbClr val="FFC000"/>
                          </a:solidFill>
                          <a:latin typeface="Times New Roman" pitchFamily="34" charset="0"/>
                          <a:ea typeface="Times New Roman" pitchFamily="34" charset="-122"/>
                          <a:cs typeface="Times New Roman" pitchFamily="34" charset="-120"/>
                        </a:rPr>
                        <a:t>5</a:t>
                      </a:r>
                      <a:endParaRPr lang="en-US" sz="950" dirty="0">
                        <a:latin typeface="Times New Roman" charset="0"/>
                        <a:ea typeface="Times New Roman" charset="0"/>
                        <a:cs typeface="Times New Roman" charset="0"/>
                      </a:endParaRPr>
                    </a:p>
                  </a:txBody>
                  <a:tcPr>
                    <a:lnL w="6350" cap="flat" cmpd="sng" algn="ctr">
                      <a:solidFill>
                        <a:srgbClr val="2A3A6A"/>
                      </a:solidFill>
                      <a:prstDash val="solid"/>
                      <a:round/>
                      <a:headEnd type="none" w="med" len="med"/>
                      <a:tailEnd type="none" w="med" len="med"/>
                    </a:lnL>
                    <a:lnR w="6350" cap="flat" cmpd="sng" algn="ctr">
                      <a:solidFill>
                        <a:srgbClr val="2A3A6A"/>
                      </a:solidFill>
                      <a:prstDash val="solid"/>
                      <a:round/>
                      <a:headEnd type="none" w="med" len="med"/>
                      <a:tailEnd type="none" w="med" len="med"/>
                    </a:lnR>
                    <a:lnT w="6350" cap="flat" cmpd="sng" algn="ctr">
                      <a:solidFill>
                        <a:srgbClr val="2A3A6A"/>
                      </a:solidFill>
                      <a:prstDash val="solid"/>
                      <a:round/>
                      <a:headEnd type="none" w="med" len="med"/>
                      <a:tailEnd type="none" w="med" len="med"/>
                    </a:lnT>
                    <a:lnB w="6350" cap="flat" cmpd="sng" algn="ctr">
                      <a:solidFill>
                        <a:srgbClr val="2A3A6A"/>
                      </a:solidFill>
                      <a:prstDash val="solid"/>
                      <a:round/>
                      <a:headEnd type="none" w="med" len="med"/>
                      <a:tailEnd type="none" w="med" len="med"/>
                    </a:lnB>
                    <a:solidFill>
                      <a:srgbClr val="0D1B3E"/>
                    </a:solidFill>
                  </a:tcPr>
                </a:tc>
                <a:tc>
                  <a:txBody>
                    <a:bodyPr/>
                    <a:lstStyle/>
                    <a:p>
                      <a:pPr marL="0" indent="0" algn="l">
                        <a:buNone/>
                      </a:pPr>
                      <a:r>
                        <a:rPr lang="en-US" sz="950" dirty="0">
                          <a:solidFill>
                            <a:srgbClr val="FFFFFF"/>
                          </a:solidFill>
                          <a:latin typeface="Times New Roman" pitchFamily="34" charset="0"/>
                          <a:ea typeface="Times New Roman" pitchFamily="34" charset="-122"/>
                          <a:cs typeface="Times New Roman" pitchFamily="34" charset="-120"/>
                        </a:rPr>
                        <a:t>ESP32 Controller</a:t>
                      </a:r>
                      <a:endParaRPr lang="en-US" sz="950" dirty="0">
                        <a:latin typeface="Times New Roman" charset="0"/>
                        <a:ea typeface="Times New Roman" charset="0"/>
                        <a:cs typeface="Times New Roman" charset="0"/>
                      </a:endParaRPr>
                    </a:p>
                  </a:txBody>
                  <a:tcPr>
                    <a:lnL w="6350" cap="flat" cmpd="sng" algn="ctr">
                      <a:solidFill>
                        <a:srgbClr val="2A3A6A"/>
                      </a:solidFill>
                      <a:prstDash val="solid"/>
                      <a:round/>
                      <a:headEnd type="none" w="med" len="med"/>
                      <a:tailEnd type="none" w="med" len="med"/>
                    </a:lnL>
                    <a:lnR w="6350" cap="flat" cmpd="sng" algn="ctr">
                      <a:solidFill>
                        <a:srgbClr val="2A3A6A"/>
                      </a:solidFill>
                      <a:prstDash val="solid"/>
                      <a:round/>
                      <a:headEnd type="none" w="med" len="med"/>
                      <a:tailEnd type="none" w="med" len="med"/>
                    </a:lnR>
                    <a:lnT w="6350" cap="flat" cmpd="sng" algn="ctr">
                      <a:solidFill>
                        <a:srgbClr val="2A3A6A"/>
                      </a:solidFill>
                      <a:prstDash val="solid"/>
                      <a:round/>
                      <a:headEnd type="none" w="med" len="med"/>
                      <a:tailEnd type="none" w="med" len="med"/>
                    </a:lnT>
                    <a:lnB w="6350" cap="flat" cmpd="sng" algn="ctr">
                      <a:solidFill>
                        <a:srgbClr val="2A3A6A"/>
                      </a:solidFill>
                      <a:prstDash val="solid"/>
                      <a:round/>
                      <a:headEnd type="none" w="med" len="med"/>
                      <a:tailEnd type="none" w="med" len="med"/>
                    </a:lnB>
                    <a:solidFill>
                      <a:srgbClr val="0D1B3E"/>
                    </a:solidFill>
                  </a:tcPr>
                </a:tc>
                <a:tc>
                  <a:txBody>
                    <a:bodyPr/>
                    <a:lstStyle/>
                    <a:p>
                      <a:pPr marL="0" indent="0" algn="l">
                        <a:buNone/>
                      </a:pPr>
                      <a:r>
                        <a:rPr lang="en-US" sz="950" dirty="0">
                          <a:solidFill>
                            <a:srgbClr val="FFFFFF"/>
                          </a:solidFill>
                          <a:latin typeface="Times New Roman" pitchFamily="34" charset="0"/>
                          <a:ea typeface="Times New Roman" pitchFamily="34" charset="-122"/>
                          <a:cs typeface="Times New Roman" pitchFamily="34" charset="-120"/>
                        </a:rPr>
                        <a:t>Central automation unit</a:t>
                      </a:r>
                      <a:endParaRPr lang="en-US" sz="950" dirty="0">
                        <a:latin typeface="Times New Roman" charset="0"/>
                        <a:ea typeface="Times New Roman" charset="0"/>
                        <a:cs typeface="Times New Roman" charset="0"/>
                      </a:endParaRPr>
                    </a:p>
                  </a:txBody>
                  <a:tcPr>
                    <a:lnL w="6350" cap="flat" cmpd="sng" algn="ctr">
                      <a:solidFill>
                        <a:srgbClr val="2A3A6A"/>
                      </a:solidFill>
                      <a:prstDash val="solid"/>
                      <a:round/>
                      <a:headEnd type="none" w="med" len="med"/>
                      <a:tailEnd type="none" w="med" len="med"/>
                    </a:lnL>
                    <a:lnR w="6350" cap="flat" cmpd="sng" algn="ctr">
                      <a:solidFill>
                        <a:srgbClr val="2A3A6A"/>
                      </a:solidFill>
                      <a:prstDash val="solid"/>
                      <a:round/>
                      <a:headEnd type="none" w="med" len="med"/>
                      <a:tailEnd type="none" w="med" len="med"/>
                    </a:lnR>
                    <a:lnT w="6350" cap="flat" cmpd="sng" algn="ctr">
                      <a:solidFill>
                        <a:srgbClr val="2A3A6A"/>
                      </a:solidFill>
                      <a:prstDash val="solid"/>
                      <a:round/>
                      <a:headEnd type="none" w="med" len="med"/>
                      <a:tailEnd type="none" w="med" len="med"/>
                    </a:lnT>
                    <a:lnB w="6350" cap="flat" cmpd="sng" algn="ctr">
                      <a:solidFill>
                        <a:srgbClr val="2A3A6A"/>
                      </a:solidFill>
                      <a:prstDash val="solid"/>
                      <a:round/>
                      <a:headEnd type="none" w="med" len="med"/>
                      <a:tailEnd type="none" w="med" len="med"/>
                    </a:lnB>
                    <a:solidFill>
                      <a:srgbClr val="0D1B3E"/>
                    </a:solidFill>
                  </a:tcPr>
                </a:tc>
                <a:tc>
                  <a:txBody>
                    <a:bodyPr/>
                    <a:lstStyle/>
                    <a:p>
                      <a:pPr marL="0" indent="0" algn="l">
                        <a:buNone/>
                      </a:pPr>
                      <a:r>
                        <a:rPr lang="en-US" sz="950" dirty="0">
                          <a:solidFill>
                            <a:srgbClr val="FFFFFF"/>
                          </a:solidFill>
                          <a:latin typeface="Times New Roman" pitchFamily="34" charset="0"/>
                          <a:ea typeface="Times New Roman" pitchFamily="34" charset="-122"/>
                          <a:cs typeface="Times New Roman" pitchFamily="34" charset="-120"/>
                        </a:rPr>
                        <a:t>Monitors sensors, controls relay and OLED</a:t>
                      </a:r>
                      <a:endParaRPr lang="en-US" sz="950" dirty="0">
                        <a:latin typeface="Times New Roman" charset="0"/>
                        <a:ea typeface="Times New Roman" charset="0"/>
                        <a:cs typeface="Times New Roman" charset="0"/>
                      </a:endParaRPr>
                    </a:p>
                  </a:txBody>
                  <a:tcPr>
                    <a:lnL w="6350" cap="flat" cmpd="sng" algn="ctr">
                      <a:solidFill>
                        <a:srgbClr val="2A3A6A"/>
                      </a:solidFill>
                      <a:prstDash val="solid"/>
                      <a:round/>
                      <a:headEnd type="none" w="med" len="med"/>
                      <a:tailEnd type="none" w="med" len="med"/>
                    </a:lnL>
                    <a:lnR w="6350" cap="flat" cmpd="sng" algn="ctr">
                      <a:solidFill>
                        <a:srgbClr val="2A3A6A"/>
                      </a:solidFill>
                      <a:prstDash val="solid"/>
                      <a:round/>
                      <a:headEnd type="none" w="med" len="med"/>
                      <a:tailEnd type="none" w="med" len="med"/>
                    </a:lnR>
                    <a:lnT w="6350" cap="flat" cmpd="sng" algn="ctr">
                      <a:solidFill>
                        <a:srgbClr val="2A3A6A"/>
                      </a:solidFill>
                      <a:prstDash val="solid"/>
                      <a:round/>
                      <a:headEnd type="none" w="med" len="med"/>
                      <a:tailEnd type="none" w="med" len="med"/>
                    </a:lnT>
                    <a:lnB w="6350" cap="flat" cmpd="sng" algn="ctr">
                      <a:solidFill>
                        <a:srgbClr val="2A3A6A"/>
                      </a:solidFill>
                      <a:prstDash val="solid"/>
                      <a:round/>
                      <a:headEnd type="none" w="med" len="med"/>
                      <a:tailEnd type="none" w="med" len="med"/>
                    </a:lnB>
                    <a:solidFill>
                      <a:srgbClr val="0D1B3E"/>
                    </a:solidFill>
                  </a:tcPr>
                </a:tc>
                <a:extLst>
                  <a:ext uri="{0D108BD9-81ED-4DB2-BD59-A6C34878D82A}">
                    <a16:rowId xmlns:a16="http://schemas.microsoft.com/office/drawing/2014/main" val="10005"/>
                  </a:ext>
                </a:extLst>
              </a:tr>
              <a:tr h="475488">
                <a:tc>
                  <a:txBody>
                    <a:bodyPr/>
                    <a:lstStyle/>
                    <a:p>
                      <a:pPr marL="0" indent="0" algn="ctr">
                        <a:buNone/>
                      </a:pPr>
                      <a:r>
                        <a:rPr lang="en-US" sz="950" dirty="0">
                          <a:solidFill>
                            <a:srgbClr val="FFC000"/>
                          </a:solidFill>
                          <a:latin typeface="Times New Roman" pitchFamily="34" charset="0"/>
                          <a:ea typeface="Times New Roman" pitchFamily="34" charset="-122"/>
                          <a:cs typeface="Times New Roman" pitchFamily="34" charset="-120"/>
                        </a:rPr>
                        <a:t>6</a:t>
                      </a:r>
                      <a:endParaRPr lang="en-US" sz="950" dirty="0">
                        <a:latin typeface="Times New Roman" charset="0"/>
                        <a:ea typeface="Times New Roman" charset="0"/>
                        <a:cs typeface="Times New Roman" charset="0"/>
                      </a:endParaRPr>
                    </a:p>
                  </a:txBody>
                  <a:tcPr>
                    <a:lnL w="6350" cap="flat" cmpd="sng" algn="ctr">
                      <a:solidFill>
                        <a:srgbClr val="2A3A6A"/>
                      </a:solidFill>
                      <a:prstDash val="solid"/>
                      <a:round/>
                      <a:headEnd type="none" w="med" len="med"/>
                      <a:tailEnd type="none" w="med" len="med"/>
                    </a:lnL>
                    <a:lnR w="6350" cap="flat" cmpd="sng" algn="ctr">
                      <a:solidFill>
                        <a:srgbClr val="2A3A6A"/>
                      </a:solidFill>
                      <a:prstDash val="solid"/>
                      <a:round/>
                      <a:headEnd type="none" w="med" len="med"/>
                      <a:tailEnd type="none" w="med" len="med"/>
                    </a:lnR>
                    <a:lnT w="6350" cap="flat" cmpd="sng" algn="ctr">
                      <a:solidFill>
                        <a:srgbClr val="2A3A6A"/>
                      </a:solidFill>
                      <a:prstDash val="solid"/>
                      <a:round/>
                      <a:headEnd type="none" w="med" len="med"/>
                      <a:tailEnd type="none" w="med" len="med"/>
                    </a:lnT>
                    <a:lnB w="6350" cap="flat" cmpd="sng" algn="ctr">
                      <a:solidFill>
                        <a:srgbClr val="2A3A6A"/>
                      </a:solidFill>
                      <a:prstDash val="solid"/>
                      <a:round/>
                      <a:headEnd type="none" w="med" len="med"/>
                      <a:tailEnd type="none" w="med" len="med"/>
                    </a:lnB>
                    <a:solidFill>
                      <a:srgbClr val="1A2744"/>
                    </a:solidFill>
                  </a:tcPr>
                </a:tc>
                <a:tc>
                  <a:txBody>
                    <a:bodyPr/>
                    <a:lstStyle/>
                    <a:p>
                      <a:pPr marL="0" indent="0" algn="l">
                        <a:buNone/>
                      </a:pPr>
                      <a:r>
                        <a:rPr lang="en-US" sz="950" dirty="0">
                          <a:solidFill>
                            <a:srgbClr val="FFFFFF"/>
                          </a:solidFill>
                          <a:latin typeface="Times New Roman" pitchFamily="34" charset="0"/>
                          <a:ea typeface="Times New Roman" pitchFamily="34" charset="-122"/>
                          <a:cs typeface="Times New Roman" pitchFamily="34" charset="-120"/>
                        </a:rPr>
                        <a:t>Soil Moisture Sensor</a:t>
                      </a:r>
                      <a:endParaRPr lang="en-US" sz="950" dirty="0">
                        <a:latin typeface="Times New Roman" charset="0"/>
                        <a:ea typeface="Times New Roman" charset="0"/>
                        <a:cs typeface="Times New Roman" charset="0"/>
                      </a:endParaRPr>
                    </a:p>
                  </a:txBody>
                  <a:tcPr>
                    <a:lnL w="6350" cap="flat" cmpd="sng" algn="ctr">
                      <a:solidFill>
                        <a:srgbClr val="2A3A6A"/>
                      </a:solidFill>
                      <a:prstDash val="solid"/>
                      <a:round/>
                      <a:headEnd type="none" w="med" len="med"/>
                      <a:tailEnd type="none" w="med" len="med"/>
                    </a:lnL>
                    <a:lnR w="6350" cap="flat" cmpd="sng" algn="ctr">
                      <a:solidFill>
                        <a:srgbClr val="2A3A6A"/>
                      </a:solidFill>
                      <a:prstDash val="solid"/>
                      <a:round/>
                      <a:headEnd type="none" w="med" len="med"/>
                      <a:tailEnd type="none" w="med" len="med"/>
                    </a:lnR>
                    <a:lnT w="6350" cap="flat" cmpd="sng" algn="ctr">
                      <a:solidFill>
                        <a:srgbClr val="2A3A6A"/>
                      </a:solidFill>
                      <a:prstDash val="solid"/>
                      <a:round/>
                      <a:headEnd type="none" w="med" len="med"/>
                      <a:tailEnd type="none" w="med" len="med"/>
                    </a:lnT>
                    <a:lnB w="6350" cap="flat" cmpd="sng" algn="ctr">
                      <a:solidFill>
                        <a:srgbClr val="2A3A6A"/>
                      </a:solidFill>
                      <a:prstDash val="solid"/>
                      <a:round/>
                      <a:headEnd type="none" w="med" len="med"/>
                      <a:tailEnd type="none" w="med" len="med"/>
                    </a:lnB>
                    <a:solidFill>
                      <a:srgbClr val="1A2744"/>
                    </a:solidFill>
                  </a:tcPr>
                </a:tc>
                <a:tc>
                  <a:txBody>
                    <a:bodyPr/>
                    <a:lstStyle/>
                    <a:p>
                      <a:pPr marL="0" indent="0" algn="l">
                        <a:buNone/>
                      </a:pPr>
                      <a:r>
                        <a:rPr lang="en-US" sz="950" dirty="0">
                          <a:solidFill>
                            <a:srgbClr val="FFFFFF"/>
                          </a:solidFill>
                          <a:latin typeface="Times New Roman" pitchFamily="34" charset="0"/>
                          <a:ea typeface="Times New Roman" pitchFamily="34" charset="-122"/>
                          <a:cs typeface="Times New Roman" pitchFamily="34" charset="-120"/>
                        </a:rPr>
                        <a:t>Detects soil dryness</a:t>
                      </a:r>
                      <a:endParaRPr lang="en-US" sz="950" dirty="0">
                        <a:latin typeface="Times New Roman" charset="0"/>
                        <a:ea typeface="Times New Roman" charset="0"/>
                        <a:cs typeface="Times New Roman" charset="0"/>
                      </a:endParaRPr>
                    </a:p>
                  </a:txBody>
                  <a:tcPr>
                    <a:lnL w="6350" cap="flat" cmpd="sng" algn="ctr">
                      <a:solidFill>
                        <a:srgbClr val="2A3A6A"/>
                      </a:solidFill>
                      <a:prstDash val="solid"/>
                      <a:round/>
                      <a:headEnd type="none" w="med" len="med"/>
                      <a:tailEnd type="none" w="med" len="med"/>
                    </a:lnL>
                    <a:lnR w="6350" cap="flat" cmpd="sng" algn="ctr">
                      <a:solidFill>
                        <a:srgbClr val="2A3A6A"/>
                      </a:solidFill>
                      <a:prstDash val="solid"/>
                      <a:round/>
                      <a:headEnd type="none" w="med" len="med"/>
                      <a:tailEnd type="none" w="med" len="med"/>
                    </a:lnR>
                    <a:lnT w="6350" cap="flat" cmpd="sng" algn="ctr">
                      <a:solidFill>
                        <a:srgbClr val="2A3A6A"/>
                      </a:solidFill>
                      <a:prstDash val="solid"/>
                      <a:round/>
                      <a:headEnd type="none" w="med" len="med"/>
                      <a:tailEnd type="none" w="med" len="med"/>
                    </a:lnT>
                    <a:lnB w="6350" cap="flat" cmpd="sng" algn="ctr">
                      <a:solidFill>
                        <a:srgbClr val="2A3A6A"/>
                      </a:solidFill>
                      <a:prstDash val="solid"/>
                      <a:round/>
                      <a:headEnd type="none" w="med" len="med"/>
                      <a:tailEnd type="none" w="med" len="med"/>
                    </a:lnB>
                    <a:solidFill>
                      <a:srgbClr val="1A2744"/>
                    </a:solidFill>
                  </a:tcPr>
                </a:tc>
                <a:tc>
                  <a:txBody>
                    <a:bodyPr/>
                    <a:lstStyle/>
                    <a:p>
                      <a:pPr marL="0" indent="0" algn="l">
                        <a:buNone/>
                      </a:pPr>
                      <a:r>
                        <a:rPr lang="en-US" sz="950" dirty="0">
                          <a:solidFill>
                            <a:srgbClr val="FFFFFF"/>
                          </a:solidFill>
                          <a:latin typeface="Times New Roman" pitchFamily="34" charset="0"/>
                          <a:ea typeface="Times New Roman" pitchFamily="34" charset="-122"/>
                          <a:cs typeface="Times New Roman" pitchFamily="34" charset="-120"/>
                        </a:rPr>
                        <a:t>Triggers irrigation when moisture level is low</a:t>
                      </a:r>
                      <a:endParaRPr lang="en-US" sz="950" dirty="0">
                        <a:latin typeface="Times New Roman" charset="0"/>
                        <a:ea typeface="Times New Roman" charset="0"/>
                        <a:cs typeface="Times New Roman" charset="0"/>
                      </a:endParaRPr>
                    </a:p>
                  </a:txBody>
                  <a:tcPr>
                    <a:lnL w="6350" cap="flat" cmpd="sng" algn="ctr">
                      <a:solidFill>
                        <a:srgbClr val="2A3A6A"/>
                      </a:solidFill>
                      <a:prstDash val="solid"/>
                      <a:round/>
                      <a:headEnd type="none" w="med" len="med"/>
                      <a:tailEnd type="none" w="med" len="med"/>
                    </a:lnL>
                    <a:lnR w="6350" cap="flat" cmpd="sng" algn="ctr">
                      <a:solidFill>
                        <a:srgbClr val="2A3A6A"/>
                      </a:solidFill>
                      <a:prstDash val="solid"/>
                      <a:round/>
                      <a:headEnd type="none" w="med" len="med"/>
                      <a:tailEnd type="none" w="med" len="med"/>
                    </a:lnR>
                    <a:lnT w="6350" cap="flat" cmpd="sng" algn="ctr">
                      <a:solidFill>
                        <a:srgbClr val="2A3A6A"/>
                      </a:solidFill>
                      <a:prstDash val="solid"/>
                      <a:round/>
                      <a:headEnd type="none" w="med" len="med"/>
                      <a:tailEnd type="none" w="med" len="med"/>
                    </a:lnT>
                    <a:lnB w="6350" cap="flat" cmpd="sng" algn="ctr">
                      <a:solidFill>
                        <a:srgbClr val="2A3A6A"/>
                      </a:solidFill>
                      <a:prstDash val="solid"/>
                      <a:round/>
                      <a:headEnd type="none" w="med" len="med"/>
                      <a:tailEnd type="none" w="med" len="med"/>
                    </a:lnB>
                    <a:solidFill>
                      <a:srgbClr val="1A2744"/>
                    </a:solidFill>
                  </a:tcPr>
                </a:tc>
                <a:extLst>
                  <a:ext uri="{0D108BD9-81ED-4DB2-BD59-A6C34878D82A}">
                    <a16:rowId xmlns:a16="http://schemas.microsoft.com/office/drawing/2014/main" val="10006"/>
                  </a:ext>
                </a:extLst>
              </a:tr>
              <a:tr h="475488">
                <a:tc>
                  <a:txBody>
                    <a:bodyPr/>
                    <a:lstStyle/>
                    <a:p>
                      <a:pPr marL="0" indent="0" algn="ctr">
                        <a:buNone/>
                      </a:pPr>
                      <a:r>
                        <a:rPr lang="en-US" sz="950" dirty="0">
                          <a:solidFill>
                            <a:srgbClr val="FFC000"/>
                          </a:solidFill>
                          <a:latin typeface="Times New Roman" pitchFamily="34" charset="0"/>
                          <a:ea typeface="Times New Roman" pitchFamily="34" charset="-122"/>
                          <a:cs typeface="Times New Roman" pitchFamily="34" charset="-120"/>
                        </a:rPr>
                        <a:t>7</a:t>
                      </a:r>
                      <a:endParaRPr lang="en-US" sz="950" dirty="0">
                        <a:latin typeface="Times New Roman" charset="0"/>
                        <a:ea typeface="Times New Roman" charset="0"/>
                        <a:cs typeface="Times New Roman" charset="0"/>
                      </a:endParaRPr>
                    </a:p>
                  </a:txBody>
                  <a:tcPr>
                    <a:lnL w="6350" cap="flat" cmpd="sng" algn="ctr">
                      <a:solidFill>
                        <a:srgbClr val="2A3A6A"/>
                      </a:solidFill>
                      <a:prstDash val="solid"/>
                      <a:round/>
                      <a:headEnd type="none" w="med" len="med"/>
                      <a:tailEnd type="none" w="med" len="med"/>
                    </a:lnL>
                    <a:lnR w="6350" cap="flat" cmpd="sng" algn="ctr">
                      <a:solidFill>
                        <a:srgbClr val="2A3A6A"/>
                      </a:solidFill>
                      <a:prstDash val="solid"/>
                      <a:round/>
                      <a:headEnd type="none" w="med" len="med"/>
                      <a:tailEnd type="none" w="med" len="med"/>
                    </a:lnR>
                    <a:lnT w="6350" cap="flat" cmpd="sng" algn="ctr">
                      <a:solidFill>
                        <a:srgbClr val="2A3A6A"/>
                      </a:solidFill>
                      <a:prstDash val="solid"/>
                      <a:round/>
                      <a:headEnd type="none" w="med" len="med"/>
                      <a:tailEnd type="none" w="med" len="med"/>
                    </a:lnT>
                    <a:lnB w="6350" cap="flat" cmpd="sng" algn="ctr">
                      <a:solidFill>
                        <a:srgbClr val="2A3A6A"/>
                      </a:solidFill>
                      <a:prstDash val="solid"/>
                      <a:round/>
                      <a:headEnd type="none" w="med" len="med"/>
                      <a:tailEnd type="none" w="med" len="med"/>
                    </a:lnB>
                    <a:solidFill>
                      <a:srgbClr val="0D1B3E"/>
                    </a:solidFill>
                  </a:tcPr>
                </a:tc>
                <a:tc>
                  <a:txBody>
                    <a:bodyPr/>
                    <a:lstStyle/>
                    <a:p>
                      <a:pPr marL="0" indent="0" algn="l">
                        <a:buNone/>
                      </a:pPr>
                      <a:r>
                        <a:rPr lang="en-US" sz="950" dirty="0">
                          <a:solidFill>
                            <a:srgbClr val="FFFFFF"/>
                          </a:solidFill>
                          <a:latin typeface="Times New Roman" pitchFamily="34" charset="0"/>
                          <a:ea typeface="Times New Roman" pitchFamily="34" charset="-122"/>
                          <a:cs typeface="Times New Roman" pitchFamily="34" charset="-120"/>
                        </a:rPr>
                        <a:t>Rain Sensor</a:t>
                      </a:r>
                      <a:endParaRPr lang="en-US" sz="950" dirty="0">
                        <a:latin typeface="Times New Roman" charset="0"/>
                        <a:ea typeface="Times New Roman" charset="0"/>
                        <a:cs typeface="Times New Roman" charset="0"/>
                      </a:endParaRPr>
                    </a:p>
                  </a:txBody>
                  <a:tcPr>
                    <a:lnL w="6350" cap="flat" cmpd="sng" algn="ctr">
                      <a:solidFill>
                        <a:srgbClr val="2A3A6A"/>
                      </a:solidFill>
                      <a:prstDash val="solid"/>
                      <a:round/>
                      <a:headEnd type="none" w="med" len="med"/>
                      <a:tailEnd type="none" w="med" len="med"/>
                    </a:lnL>
                    <a:lnR w="6350" cap="flat" cmpd="sng" algn="ctr">
                      <a:solidFill>
                        <a:srgbClr val="2A3A6A"/>
                      </a:solidFill>
                      <a:prstDash val="solid"/>
                      <a:round/>
                      <a:headEnd type="none" w="med" len="med"/>
                      <a:tailEnd type="none" w="med" len="med"/>
                    </a:lnR>
                    <a:lnT w="6350" cap="flat" cmpd="sng" algn="ctr">
                      <a:solidFill>
                        <a:srgbClr val="2A3A6A"/>
                      </a:solidFill>
                      <a:prstDash val="solid"/>
                      <a:round/>
                      <a:headEnd type="none" w="med" len="med"/>
                      <a:tailEnd type="none" w="med" len="med"/>
                    </a:lnT>
                    <a:lnB w="6350" cap="flat" cmpd="sng" algn="ctr">
                      <a:solidFill>
                        <a:srgbClr val="2A3A6A"/>
                      </a:solidFill>
                      <a:prstDash val="solid"/>
                      <a:round/>
                      <a:headEnd type="none" w="med" len="med"/>
                      <a:tailEnd type="none" w="med" len="med"/>
                    </a:lnB>
                    <a:solidFill>
                      <a:srgbClr val="0D1B3E"/>
                    </a:solidFill>
                  </a:tcPr>
                </a:tc>
                <a:tc>
                  <a:txBody>
                    <a:bodyPr/>
                    <a:lstStyle/>
                    <a:p>
                      <a:pPr marL="0" indent="0" algn="l">
                        <a:buNone/>
                      </a:pPr>
                      <a:r>
                        <a:rPr lang="en-US" sz="950" dirty="0">
                          <a:solidFill>
                            <a:srgbClr val="FFFFFF"/>
                          </a:solidFill>
                          <a:latin typeface="Times New Roman" pitchFamily="34" charset="0"/>
                          <a:ea typeface="Times New Roman" pitchFamily="34" charset="-122"/>
                          <a:cs typeface="Times New Roman" pitchFamily="34" charset="-120"/>
                        </a:rPr>
                        <a:t>Detects rainfall</a:t>
                      </a:r>
                      <a:endParaRPr lang="en-US" sz="950" dirty="0">
                        <a:latin typeface="Times New Roman" charset="0"/>
                        <a:ea typeface="Times New Roman" charset="0"/>
                        <a:cs typeface="Times New Roman" charset="0"/>
                      </a:endParaRPr>
                    </a:p>
                  </a:txBody>
                  <a:tcPr>
                    <a:lnL w="6350" cap="flat" cmpd="sng" algn="ctr">
                      <a:solidFill>
                        <a:srgbClr val="2A3A6A"/>
                      </a:solidFill>
                      <a:prstDash val="solid"/>
                      <a:round/>
                      <a:headEnd type="none" w="med" len="med"/>
                      <a:tailEnd type="none" w="med" len="med"/>
                    </a:lnL>
                    <a:lnR w="6350" cap="flat" cmpd="sng" algn="ctr">
                      <a:solidFill>
                        <a:srgbClr val="2A3A6A"/>
                      </a:solidFill>
                      <a:prstDash val="solid"/>
                      <a:round/>
                      <a:headEnd type="none" w="med" len="med"/>
                      <a:tailEnd type="none" w="med" len="med"/>
                    </a:lnR>
                    <a:lnT w="6350" cap="flat" cmpd="sng" algn="ctr">
                      <a:solidFill>
                        <a:srgbClr val="2A3A6A"/>
                      </a:solidFill>
                      <a:prstDash val="solid"/>
                      <a:round/>
                      <a:headEnd type="none" w="med" len="med"/>
                      <a:tailEnd type="none" w="med" len="med"/>
                    </a:lnT>
                    <a:lnB w="6350" cap="flat" cmpd="sng" algn="ctr">
                      <a:solidFill>
                        <a:srgbClr val="2A3A6A"/>
                      </a:solidFill>
                      <a:prstDash val="solid"/>
                      <a:round/>
                      <a:headEnd type="none" w="med" len="med"/>
                      <a:tailEnd type="none" w="med" len="med"/>
                    </a:lnB>
                    <a:solidFill>
                      <a:srgbClr val="0D1B3E"/>
                    </a:solidFill>
                  </a:tcPr>
                </a:tc>
                <a:tc>
                  <a:txBody>
                    <a:bodyPr/>
                    <a:lstStyle/>
                    <a:p>
                      <a:pPr marL="0" indent="0" algn="l">
                        <a:buNone/>
                      </a:pPr>
                      <a:r>
                        <a:rPr lang="en-US" sz="950" dirty="0">
                          <a:solidFill>
                            <a:srgbClr val="FFFFFF"/>
                          </a:solidFill>
                          <a:latin typeface="Times New Roman" pitchFamily="34" charset="0"/>
                          <a:ea typeface="Times New Roman" pitchFamily="34" charset="-122"/>
                          <a:cs typeface="Times New Roman" pitchFamily="34" charset="-120"/>
                        </a:rPr>
                        <a:t>Automatically stops irrigation during rain</a:t>
                      </a:r>
                      <a:endParaRPr lang="en-US" sz="950" dirty="0">
                        <a:latin typeface="Times New Roman" charset="0"/>
                        <a:ea typeface="Times New Roman" charset="0"/>
                        <a:cs typeface="Times New Roman" charset="0"/>
                      </a:endParaRPr>
                    </a:p>
                  </a:txBody>
                  <a:tcPr>
                    <a:lnL w="6350" cap="flat" cmpd="sng" algn="ctr">
                      <a:solidFill>
                        <a:srgbClr val="2A3A6A"/>
                      </a:solidFill>
                      <a:prstDash val="solid"/>
                      <a:round/>
                      <a:headEnd type="none" w="med" len="med"/>
                      <a:tailEnd type="none" w="med" len="med"/>
                    </a:lnL>
                    <a:lnR w="6350" cap="flat" cmpd="sng" algn="ctr">
                      <a:solidFill>
                        <a:srgbClr val="2A3A6A"/>
                      </a:solidFill>
                      <a:prstDash val="solid"/>
                      <a:round/>
                      <a:headEnd type="none" w="med" len="med"/>
                      <a:tailEnd type="none" w="med" len="med"/>
                    </a:lnR>
                    <a:lnT w="6350" cap="flat" cmpd="sng" algn="ctr">
                      <a:solidFill>
                        <a:srgbClr val="2A3A6A"/>
                      </a:solidFill>
                      <a:prstDash val="solid"/>
                      <a:round/>
                      <a:headEnd type="none" w="med" len="med"/>
                      <a:tailEnd type="none" w="med" len="med"/>
                    </a:lnT>
                    <a:lnB w="6350" cap="flat" cmpd="sng" algn="ctr">
                      <a:solidFill>
                        <a:srgbClr val="2A3A6A"/>
                      </a:solidFill>
                      <a:prstDash val="solid"/>
                      <a:round/>
                      <a:headEnd type="none" w="med" len="med"/>
                      <a:tailEnd type="none" w="med" len="med"/>
                    </a:lnB>
                    <a:solidFill>
                      <a:srgbClr val="0D1B3E"/>
                    </a:solidFill>
                  </a:tcPr>
                </a:tc>
                <a:extLst>
                  <a:ext uri="{0D108BD9-81ED-4DB2-BD59-A6C34878D82A}">
                    <a16:rowId xmlns:a16="http://schemas.microsoft.com/office/drawing/2014/main" val="10007"/>
                  </a:ext>
                </a:extLst>
              </a:tr>
              <a:tr h="475488">
                <a:tc>
                  <a:txBody>
                    <a:bodyPr/>
                    <a:lstStyle/>
                    <a:p>
                      <a:pPr marL="0" indent="0" algn="ctr">
                        <a:buNone/>
                      </a:pPr>
                      <a:r>
                        <a:rPr lang="en-US" sz="950" dirty="0">
                          <a:solidFill>
                            <a:srgbClr val="FFC000"/>
                          </a:solidFill>
                          <a:latin typeface="Times New Roman" pitchFamily="34" charset="0"/>
                          <a:ea typeface="Times New Roman" pitchFamily="34" charset="-122"/>
                          <a:cs typeface="Times New Roman" pitchFamily="34" charset="-120"/>
                        </a:rPr>
                        <a:t>8</a:t>
                      </a:r>
                      <a:endParaRPr lang="en-US" sz="950" dirty="0">
                        <a:latin typeface="Times New Roman" charset="0"/>
                        <a:ea typeface="Times New Roman" charset="0"/>
                        <a:cs typeface="Times New Roman" charset="0"/>
                      </a:endParaRPr>
                    </a:p>
                  </a:txBody>
                  <a:tcPr>
                    <a:lnL w="6350" cap="flat" cmpd="sng" algn="ctr">
                      <a:solidFill>
                        <a:srgbClr val="2A3A6A"/>
                      </a:solidFill>
                      <a:prstDash val="solid"/>
                      <a:round/>
                      <a:headEnd type="none" w="med" len="med"/>
                      <a:tailEnd type="none" w="med" len="med"/>
                    </a:lnL>
                    <a:lnR w="6350" cap="flat" cmpd="sng" algn="ctr">
                      <a:solidFill>
                        <a:srgbClr val="2A3A6A"/>
                      </a:solidFill>
                      <a:prstDash val="solid"/>
                      <a:round/>
                      <a:headEnd type="none" w="med" len="med"/>
                      <a:tailEnd type="none" w="med" len="med"/>
                    </a:lnR>
                    <a:lnT w="6350" cap="flat" cmpd="sng" algn="ctr">
                      <a:solidFill>
                        <a:srgbClr val="2A3A6A"/>
                      </a:solidFill>
                      <a:prstDash val="solid"/>
                      <a:round/>
                      <a:headEnd type="none" w="med" len="med"/>
                      <a:tailEnd type="none" w="med" len="med"/>
                    </a:lnT>
                    <a:lnB w="6350" cap="flat" cmpd="sng" algn="ctr">
                      <a:solidFill>
                        <a:srgbClr val="2A3A6A"/>
                      </a:solidFill>
                      <a:prstDash val="solid"/>
                      <a:round/>
                      <a:headEnd type="none" w="med" len="med"/>
                      <a:tailEnd type="none" w="med" len="med"/>
                    </a:lnB>
                    <a:solidFill>
                      <a:srgbClr val="1A2744"/>
                    </a:solidFill>
                  </a:tcPr>
                </a:tc>
                <a:tc>
                  <a:txBody>
                    <a:bodyPr/>
                    <a:lstStyle/>
                    <a:p>
                      <a:pPr marL="0" indent="0" algn="l">
                        <a:buNone/>
                      </a:pPr>
                      <a:r>
                        <a:rPr lang="en-US" sz="950" dirty="0">
                          <a:solidFill>
                            <a:srgbClr val="FFFFFF"/>
                          </a:solidFill>
                          <a:latin typeface="Times New Roman" pitchFamily="34" charset="0"/>
                          <a:ea typeface="Times New Roman" pitchFamily="34" charset="-122"/>
                          <a:cs typeface="Times New Roman" pitchFamily="34" charset="-120"/>
                        </a:rPr>
                        <a:t>Relay + Water Pump</a:t>
                      </a:r>
                      <a:endParaRPr lang="en-US" sz="950" dirty="0">
                        <a:latin typeface="Times New Roman" charset="0"/>
                        <a:ea typeface="Times New Roman" charset="0"/>
                        <a:cs typeface="Times New Roman" charset="0"/>
                      </a:endParaRPr>
                    </a:p>
                  </a:txBody>
                  <a:tcPr>
                    <a:lnL w="6350" cap="flat" cmpd="sng" algn="ctr">
                      <a:solidFill>
                        <a:srgbClr val="2A3A6A"/>
                      </a:solidFill>
                      <a:prstDash val="solid"/>
                      <a:round/>
                      <a:headEnd type="none" w="med" len="med"/>
                      <a:tailEnd type="none" w="med" len="med"/>
                    </a:lnL>
                    <a:lnR w="6350" cap="flat" cmpd="sng" algn="ctr">
                      <a:solidFill>
                        <a:srgbClr val="2A3A6A"/>
                      </a:solidFill>
                      <a:prstDash val="solid"/>
                      <a:round/>
                      <a:headEnd type="none" w="med" len="med"/>
                      <a:tailEnd type="none" w="med" len="med"/>
                    </a:lnR>
                    <a:lnT w="6350" cap="flat" cmpd="sng" algn="ctr">
                      <a:solidFill>
                        <a:srgbClr val="2A3A6A"/>
                      </a:solidFill>
                      <a:prstDash val="solid"/>
                      <a:round/>
                      <a:headEnd type="none" w="med" len="med"/>
                      <a:tailEnd type="none" w="med" len="med"/>
                    </a:lnT>
                    <a:lnB w="6350" cap="flat" cmpd="sng" algn="ctr">
                      <a:solidFill>
                        <a:srgbClr val="2A3A6A"/>
                      </a:solidFill>
                      <a:prstDash val="solid"/>
                      <a:round/>
                      <a:headEnd type="none" w="med" len="med"/>
                      <a:tailEnd type="none" w="med" len="med"/>
                    </a:lnB>
                    <a:solidFill>
                      <a:srgbClr val="1A2744"/>
                    </a:solidFill>
                  </a:tcPr>
                </a:tc>
                <a:tc>
                  <a:txBody>
                    <a:bodyPr/>
                    <a:lstStyle/>
                    <a:p>
                      <a:pPr marL="0" indent="0" algn="l">
                        <a:buNone/>
                      </a:pPr>
                      <a:r>
                        <a:rPr lang="en-US" sz="950" dirty="0">
                          <a:solidFill>
                            <a:srgbClr val="FFFFFF"/>
                          </a:solidFill>
                          <a:latin typeface="Times New Roman" pitchFamily="34" charset="0"/>
                          <a:ea typeface="Times New Roman" pitchFamily="34" charset="-122"/>
                          <a:cs typeface="Times New Roman" pitchFamily="34" charset="-120"/>
                        </a:rPr>
                        <a:t>Controls water flow</a:t>
                      </a:r>
                      <a:endParaRPr lang="en-US" sz="950" dirty="0">
                        <a:latin typeface="Times New Roman" charset="0"/>
                        <a:ea typeface="Times New Roman" charset="0"/>
                        <a:cs typeface="Times New Roman" charset="0"/>
                      </a:endParaRPr>
                    </a:p>
                  </a:txBody>
                  <a:tcPr>
                    <a:lnL w="6350" cap="flat" cmpd="sng" algn="ctr">
                      <a:solidFill>
                        <a:srgbClr val="2A3A6A"/>
                      </a:solidFill>
                      <a:prstDash val="solid"/>
                      <a:round/>
                      <a:headEnd type="none" w="med" len="med"/>
                      <a:tailEnd type="none" w="med" len="med"/>
                    </a:lnL>
                    <a:lnR w="6350" cap="flat" cmpd="sng" algn="ctr">
                      <a:solidFill>
                        <a:srgbClr val="2A3A6A"/>
                      </a:solidFill>
                      <a:prstDash val="solid"/>
                      <a:round/>
                      <a:headEnd type="none" w="med" len="med"/>
                      <a:tailEnd type="none" w="med" len="med"/>
                    </a:lnR>
                    <a:lnT w="6350" cap="flat" cmpd="sng" algn="ctr">
                      <a:solidFill>
                        <a:srgbClr val="2A3A6A"/>
                      </a:solidFill>
                      <a:prstDash val="solid"/>
                      <a:round/>
                      <a:headEnd type="none" w="med" len="med"/>
                      <a:tailEnd type="none" w="med" len="med"/>
                    </a:lnT>
                    <a:lnB w="6350" cap="flat" cmpd="sng" algn="ctr">
                      <a:solidFill>
                        <a:srgbClr val="2A3A6A"/>
                      </a:solidFill>
                      <a:prstDash val="solid"/>
                      <a:round/>
                      <a:headEnd type="none" w="med" len="med"/>
                      <a:tailEnd type="none" w="med" len="med"/>
                    </a:lnB>
                    <a:solidFill>
                      <a:srgbClr val="1A2744"/>
                    </a:solidFill>
                  </a:tcPr>
                </a:tc>
                <a:tc>
                  <a:txBody>
                    <a:bodyPr/>
                    <a:lstStyle/>
                    <a:p>
                      <a:pPr marL="0" indent="0" algn="l">
                        <a:buNone/>
                      </a:pPr>
                      <a:r>
                        <a:rPr lang="en-US" sz="950" dirty="0">
                          <a:solidFill>
                            <a:srgbClr val="FFFFFF"/>
                          </a:solidFill>
                          <a:latin typeface="Times New Roman" pitchFamily="34" charset="0"/>
                          <a:ea typeface="Times New Roman" pitchFamily="34" charset="-122"/>
                          <a:cs typeface="Times New Roman" pitchFamily="34" charset="-120"/>
                        </a:rPr>
                        <a:t>Pump switches ON/OFF based on ESP32 signal</a:t>
                      </a:r>
                      <a:endParaRPr lang="en-US" sz="950" dirty="0">
                        <a:latin typeface="Times New Roman" charset="0"/>
                        <a:ea typeface="Times New Roman" charset="0"/>
                        <a:cs typeface="Times New Roman" charset="0"/>
                      </a:endParaRPr>
                    </a:p>
                  </a:txBody>
                  <a:tcPr>
                    <a:lnL w="6350" cap="flat" cmpd="sng" algn="ctr">
                      <a:solidFill>
                        <a:srgbClr val="2A3A6A"/>
                      </a:solidFill>
                      <a:prstDash val="solid"/>
                      <a:round/>
                      <a:headEnd type="none" w="med" len="med"/>
                      <a:tailEnd type="none" w="med" len="med"/>
                    </a:lnL>
                    <a:lnR w="6350" cap="flat" cmpd="sng" algn="ctr">
                      <a:solidFill>
                        <a:srgbClr val="2A3A6A"/>
                      </a:solidFill>
                      <a:prstDash val="solid"/>
                      <a:round/>
                      <a:headEnd type="none" w="med" len="med"/>
                      <a:tailEnd type="none" w="med" len="med"/>
                    </a:lnR>
                    <a:lnT w="6350" cap="flat" cmpd="sng" algn="ctr">
                      <a:solidFill>
                        <a:srgbClr val="2A3A6A"/>
                      </a:solidFill>
                      <a:prstDash val="solid"/>
                      <a:round/>
                      <a:headEnd type="none" w="med" len="med"/>
                      <a:tailEnd type="none" w="med" len="med"/>
                    </a:lnT>
                    <a:lnB w="6350" cap="flat" cmpd="sng" algn="ctr">
                      <a:solidFill>
                        <a:srgbClr val="2A3A6A"/>
                      </a:solidFill>
                      <a:prstDash val="solid"/>
                      <a:round/>
                      <a:headEnd type="none" w="med" len="med"/>
                      <a:tailEnd type="none" w="med" len="med"/>
                    </a:lnB>
                    <a:solidFill>
                      <a:srgbClr val="1A2744"/>
                    </a:solidFill>
                  </a:tcPr>
                </a:tc>
                <a:extLst>
                  <a:ext uri="{0D108BD9-81ED-4DB2-BD59-A6C34878D82A}">
                    <a16:rowId xmlns:a16="http://schemas.microsoft.com/office/drawing/2014/main" val="10008"/>
                  </a:ext>
                </a:extLst>
              </a:tr>
            </a:tbl>
          </a:graphicData>
        </a:graphic>
      </p:graphicFrame>
      <p:sp>
        <p:nvSpPr>
          <p:cNvPr id="7" name="Shape 4"/>
          <p:cNvSpPr/>
          <p:nvPr/>
        </p:nvSpPr>
        <p:spPr>
          <a:xfrm>
            <a:off x="0" y="4818888"/>
            <a:ext cx="9144000" cy="324612"/>
          </a:xfrm>
          <a:prstGeom prst="rect">
            <a:avLst/>
          </a:prstGeom>
          <a:solidFill>
            <a:srgbClr val="0A1040"/>
          </a:solidFill>
          <a:ln w="12700">
            <a:solidFill>
              <a:srgbClr val="0A1040"/>
            </a:solidFill>
            <a:prstDash val="solid"/>
          </a:ln>
        </p:spPr>
      </p:sp>
      <p:sp>
        <p:nvSpPr>
          <p:cNvPr id="8" name="Text 5"/>
          <p:cNvSpPr/>
          <p:nvPr/>
        </p:nvSpPr>
        <p:spPr>
          <a:xfrm>
            <a:off x="182880" y="4818888"/>
            <a:ext cx="8778240" cy="324612"/>
          </a:xfrm>
          <a:prstGeom prst="rect">
            <a:avLst/>
          </a:prstGeom>
          <a:noFill/>
          <a:ln/>
        </p:spPr>
        <p:txBody>
          <a:bodyPr wrap="square" lIns="0" tIns="0" rIns="0" bIns="0" rtlCol="0" anchor="ctr"/>
          <a:lstStyle/>
          <a:p>
            <a:pPr marL="0" indent="0" algn="ctr">
              <a:buNone/>
            </a:pPr>
            <a:endParaRPr lang="en-US" sz="900" dirty="0"/>
          </a:p>
        </p:txBody>
      </p:sp>
      <p:sp>
        <p:nvSpPr>
          <p:cNvPr id="10" name="SlideNum"/>
          <p:cNvSpPr/>
          <p:nvPr/>
        </p:nvSpPr>
        <p:spPr>
          <a:xfrm>
            <a:off x="8500000" y="4840000"/>
            <a:ext cx="600000" cy="250000"/>
          </a:xfrm>
          <a:prstGeom prst="rect">
            <a:avLst/>
          </a:prstGeom>
          <a:noFill/>
          <a:ln/>
        </p:spPr>
        <p:txBody>
          <a:bodyPr wrap="square" lIns="0" tIns="0" rIns="0" bIns="0" rtlCol="0" anchor="ctr"/>
          <a:lstStyle/>
          <a:p>
            <a:pPr marL="0" indent="0" algn="r">
              <a:buNone/>
            </a:pPr>
            <a:r>
              <a:rPr lang="en-US" sz="1100" b="0" dirty="0">
                <a:solidFill>
                  <a:srgbClr val="FFC000"/>
                </a:solidFill>
                <a:latin typeface="Times New Roman" pitchFamily="34" charset="0"/>
              </a:rPr>
              <a:t>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home/claude/bg_slide13.jp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0A1628">
              <a:alpha val="70000"/>
            </a:srgbClr>
          </a:solidFill>
          <a:ln/>
        </p:spPr>
      </p:sp>
      <p:sp>
        <p:nvSpPr>
          <p:cNvPr id="4" name="Shape 1"/>
          <p:cNvSpPr/>
          <p:nvPr/>
        </p:nvSpPr>
        <p:spPr>
          <a:xfrm>
            <a:off x="0" y="0"/>
            <a:ext cx="9144000" cy="658368"/>
          </a:xfrm>
          <a:prstGeom prst="rect">
            <a:avLst/>
          </a:prstGeom>
          <a:solidFill>
            <a:srgbClr val="0A1628"/>
          </a:solidFill>
          <a:ln/>
        </p:spPr>
      </p:sp>
      <p:sp>
        <p:nvSpPr>
          <p:cNvPr id="5" name="Shape 2"/>
          <p:cNvSpPr/>
          <p:nvPr/>
        </p:nvSpPr>
        <p:spPr>
          <a:xfrm>
            <a:off x="0" y="0"/>
            <a:ext cx="109728" cy="658368"/>
          </a:xfrm>
          <a:prstGeom prst="rect">
            <a:avLst/>
          </a:prstGeom>
          <a:solidFill>
            <a:srgbClr val="FFC000"/>
          </a:solidFill>
          <a:ln/>
        </p:spPr>
      </p:sp>
      <p:sp>
        <p:nvSpPr>
          <p:cNvPr id="6" name="Text 3"/>
          <p:cNvSpPr/>
          <p:nvPr/>
        </p:nvSpPr>
        <p:spPr>
          <a:xfrm>
            <a:off x="201168" y="0"/>
            <a:ext cx="8778240" cy="658368"/>
          </a:xfrm>
          <a:prstGeom prst="rect">
            <a:avLst/>
          </a:prstGeom>
          <a:noFill/>
          <a:ln/>
        </p:spPr>
        <p:txBody>
          <a:bodyPr wrap="square" lIns="0" tIns="0" rIns="0" bIns="0" rtlCol="0" anchor="ctr"/>
          <a:lstStyle/>
          <a:p>
            <a:pPr marL="0" indent="0">
              <a:buNone/>
            </a:pPr>
            <a:r>
              <a:rPr lang="en-US" sz="3600" b="1" dirty="0">
                <a:solidFill>
                  <a:srgbClr val="FFFFFF"/>
                </a:solidFill>
                <a:latin typeface="Times New Roman" pitchFamily="34" charset="0"/>
                <a:ea typeface="Times New Roman" pitchFamily="34" charset="-122"/>
                <a:cs typeface="Times New Roman" pitchFamily="34" charset="-120"/>
              </a:rPr>
              <a:t>Work Plan: Implementation Roadmap</a:t>
            </a:r>
            <a:endParaRPr lang="en-US" sz="3600" dirty="0"/>
          </a:p>
        </p:txBody>
      </p:sp>
      <p:sp>
        <p:nvSpPr>
          <p:cNvPr id="7" name="Shape 4"/>
          <p:cNvSpPr/>
          <p:nvPr/>
        </p:nvSpPr>
        <p:spPr>
          <a:xfrm>
            <a:off x="274320" y="804672"/>
            <a:ext cx="4206240" cy="1691640"/>
          </a:xfrm>
          <a:prstGeom prst="rect">
            <a:avLst/>
          </a:prstGeom>
          <a:solidFill>
            <a:srgbClr val="0D1B3E"/>
          </a:solidFill>
          <a:ln w="12700">
            <a:solidFill>
              <a:srgbClr val="FFC000"/>
            </a:solidFill>
            <a:prstDash val="solid"/>
          </a:ln>
        </p:spPr>
      </p:sp>
      <p:sp>
        <p:nvSpPr>
          <p:cNvPr id="8" name="Shape 5"/>
          <p:cNvSpPr/>
          <p:nvPr/>
        </p:nvSpPr>
        <p:spPr>
          <a:xfrm>
            <a:off x="384048" y="914400"/>
            <a:ext cx="438912" cy="438912"/>
          </a:xfrm>
          <a:prstGeom prst="ellipse">
            <a:avLst/>
          </a:prstGeom>
          <a:solidFill>
            <a:srgbClr val="FFC000"/>
          </a:solidFill>
          <a:ln/>
        </p:spPr>
      </p:sp>
      <p:sp>
        <p:nvSpPr>
          <p:cNvPr id="9" name="Text 6"/>
          <p:cNvSpPr/>
          <p:nvPr/>
        </p:nvSpPr>
        <p:spPr>
          <a:xfrm>
            <a:off x="384048" y="914400"/>
            <a:ext cx="438912" cy="438912"/>
          </a:xfrm>
          <a:prstGeom prst="rect">
            <a:avLst/>
          </a:prstGeom>
          <a:noFill/>
          <a:ln/>
        </p:spPr>
        <p:txBody>
          <a:bodyPr wrap="square" lIns="0" tIns="0" rIns="0" bIns="0" rtlCol="0" anchor="ctr"/>
          <a:lstStyle/>
          <a:p>
            <a:pPr marL="0" indent="0" algn="ctr">
              <a:buNone/>
            </a:pPr>
            <a:r>
              <a:rPr lang="en-US" sz="1600" b="1" dirty="0">
                <a:solidFill>
                  <a:srgbClr val="0A1628"/>
                </a:solidFill>
                <a:latin typeface="Times New Roman" pitchFamily="34" charset="0"/>
                <a:ea typeface="Times New Roman" pitchFamily="34" charset="-122"/>
                <a:cs typeface="Times New Roman" pitchFamily="34" charset="-120"/>
              </a:rPr>
              <a:t>1</a:t>
            </a:r>
            <a:endParaRPr lang="en-US" sz="1600" dirty="0"/>
          </a:p>
        </p:txBody>
      </p:sp>
      <p:sp>
        <p:nvSpPr>
          <p:cNvPr id="10" name="Text 7"/>
          <p:cNvSpPr/>
          <p:nvPr/>
        </p:nvSpPr>
        <p:spPr>
          <a:xfrm>
            <a:off x="914400" y="896112"/>
            <a:ext cx="3474720" cy="457200"/>
          </a:xfrm>
          <a:prstGeom prst="rect">
            <a:avLst/>
          </a:prstGeom>
          <a:noFill/>
          <a:ln/>
        </p:spPr>
        <p:txBody>
          <a:bodyPr wrap="square" lIns="0" tIns="0" rIns="0" bIns="0" rtlCol="0" anchor="ctr"/>
          <a:lstStyle/>
          <a:p>
            <a:pPr marL="0" indent="0">
              <a:buNone/>
            </a:pPr>
            <a:r>
              <a:rPr lang="en-US" sz="1300" b="1" dirty="0">
                <a:solidFill>
                  <a:srgbClr val="FFC000"/>
                </a:solidFill>
                <a:latin typeface="Times New Roman" pitchFamily="34" charset="0"/>
                <a:ea typeface="Times New Roman" pitchFamily="34" charset="-122"/>
                <a:cs typeface="Times New Roman" pitchFamily="34" charset="-120"/>
              </a:rPr>
              <a:t>Phase 1: Design (Months 1–2)</a:t>
            </a:r>
            <a:endParaRPr lang="en-US" sz="1300" dirty="0"/>
          </a:p>
        </p:txBody>
      </p:sp>
      <p:sp>
        <p:nvSpPr>
          <p:cNvPr id="11" name="Text 8"/>
          <p:cNvSpPr/>
          <p:nvPr/>
        </p:nvSpPr>
        <p:spPr>
          <a:xfrm>
            <a:off x="411480" y="1444752"/>
            <a:ext cx="3931920" cy="960120"/>
          </a:xfrm>
          <a:prstGeom prst="rect">
            <a:avLst/>
          </a:prstGeom>
          <a:noFill/>
          <a:ln/>
        </p:spPr>
        <p:txBody>
          <a:bodyPr wrap="square" lIns="50800" tIns="50800" rIns="50800" bIns="50800" rtlCol="0" anchor="ctr"/>
          <a:lstStyle/>
          <a:p>
            <a:pPr marL="0" indent="0">
              <a:buNone/>
            </a:pPr>
            <a:r>
              <a:rPr lang="en-US" sz="1400" dirty="0">
                <a:solidFill>
                  <a:srgbClr val="FFFFFF"/>
                </a:solidFill>
                <a:latin typeface="Times New Roman" pitchFamily="34" charset="0"/>
                <a:ea typeface="Times New Roman" pitchFamily="34" charset="-122"/>
                <a:cs typeface="Times New Roman" pitchFamily="34" charset="-120"/>
              </a:rPr>
              <a:t>Literature study, component selection, circuit design, wind assessment at selected farm site</a:t>
            </a:r>
            <a:endParaRPr lang="en-US" sz="1400" dirty="0"/>
          </a:p>
        </p:txBody>
      </p:sp>
      <p:sp>
        <p:nvSpPr>
          <p:cNvPr id="12" name="Shape 9"/>
          <p:cNvSpPr/>
          <p:nvPr/>
        </p:nvSpPr>
        <p:spPr>
          <a:xfrm>
            <a:off x="4754880" y="804672"/>
            <a:ext cx="4206240" cy="1691640"/>
          </a:xfrm>
          <a:prstGeom prst="rect">
            <a:avLst/>
          </a:prstGeom>
          <a:solidFill>
            <a:srgbClr val="0D1B3E"/>
          </a:solidFill>
          <a:ln w="12700">
            <a:solidFill>
              <a:srgbClr val="FFC000"/>
            </a:solidFill>
            <a:prstDash val="solid"/>
          </a:ln>
        </p:spPr>
      </p:sp>
      <p:sp>
        <p:nvSpPr>
          <p:cNvPr id="13" name="Shape 10"/>
          <p:cNvSpPr/>
          <p:nvPr/>
        </p:nvSpPr>
        <p:spPr>
          <a:xfrm>
            <a:off x="4864608" y="914400"/>
            <a:ext cx="438912" cy="438912"/>
          </a:xfrm>
          <a:prstGeom prst="ellipse">
            <a:avLst/>
          </a:prstGeom>
          <a:solidFill>
            <a:srgbClr val="FFC000"/>
          </a:solidFill>
          <a:ln/>
        </p:spPr>
      </p:sp>
      <p:sp>
        <p:nvSpPr>
          <p:cNvPr id="14" name="Text 11"/>
          <p:cNvSpPr/>
          <p:nvPr/>
        </p:nvSpPr>
        <p:spPr>
          <a:xfrm>
            <a:off x="4864608" y="914400"/>
            <a:ext cx="438912" cy="438912"/>
          </a:xfrm>
          <a:prstGeom prst="rect">
            <a:avLst/>
          </a:prstGeom>
          <a:noFill/>
          <a:ln/>
        </p:spPr>
        <p:txBody>
          <a:bodyPr wrap="square" lIns="0" tIns="0" rIns="0" bIns="0" rtlCol="0" anchor="ctr"/>
          <a:lstStyle/>
          <a:p>
            <a:pPr marL="0" indent="0" algn="ctr">
              <a:buNone/>
            </a:pPr>
            <a:r>
              <a:rPr lang="en-US" sz="1600" b="1" dirty="0">
                <a:solidFill>
                  <a:srgbClr val="0A1628"/>
                </a:solidFill>
                <a:latin typeface="Times New Roman" pitchFamily="34" charset="0"/>
                <a:ea typeface="Times New Roman" pitchFamily="34" charset="-122"/>
                <a:cs typeface="Times New Roman" pitchFamily="34" charset="-120"/>
              </a:rPr>
              <a:t>2</a:t>
            </a:r>
            <a:endParaRPr lang="en-US" sz="1600" dirty="0"/>
          </a:p>
        </p:txBody>
      </p:sp>
      <p:sp>
        <p:nvSpPr>
          <p:cNvPr id="15" name="Text 12"/>
          <p:cNvSpPr/>
          <p:nvPr/>
        </p:nvSpPr>
        <p:spPr>
          <a:xfrm>
            <a:off x="5394960" y="896112"/>
            <a:ext cx="3474720" cy="457200"/>
          </a:xfrm>
          <a:prstGeom prst="rect">
            <a:avLst/>
          </a:prstGeom>
          <a:noFill/>
          <a:ln/>
        </p:spPr>
        <p:txBody>
          <a:bodyPr wrap="square" lIns="0" tIns="0" rIns="0" bIns="0" rtlCol="0" anchor="ctr"/>
          <a:lstStyle/>
          <a:p>
            <a:pPr marL="0" indent="0">
              <a:buNone/>
            </a:pPr>
            <a:r>
              <a:rPr lang="en-US" sz="1300" b="1" dirty="0">
                <a:solidFill>
                  <a:srgbClr val="FFC000"/>
                </a:solidFill>
                <a:latin typeface="Times New Roman" pitchFamily="34" charset="0"/>
                <a:ea typeface="Times New Roman" pitchFamily="34" charset="-122"/>
                <a:cs typeface="Times New Roman" pitchFamily="34" charset="-120"/>
              </a:rPr>
              <a:t>Phase 2: Build &amp; Test (Months 2–3)</a:t>
            </a:r>
            <a:endParaRPr lang="en-US" sz="1300" dirty="0"/>
          </a:p>
        </p:txBody>
      </p:sp>
      <p:sp>
        <p:nvSpPr>
          <p:cNvPr id="16" name="Text 13"/>
          <p:cNvSpPr/>
          <p:nvPr/>
        </p:nvSpPr>
        <p:spPr>
          <a:xfrm>
            <a:off x="4892040" y="1444752"/>
            <a:ext cx="3931920" cy="960120"/>
          </a:xfrm>
          <a:prstGeom prst="rect">
            <a:avLst/>
          </a:prstGeom>
          <a:noFill/>
          <a:ln/>
        </p:spPr>
        <p:txBody>
          <a:bodyPr wrap="square" lIns="50800" tIns="50800" rIns="50800" bIns="50800" rtlCol="0" anchor="ctr"/>
          <a:lstStyle/>
          <a:p>
            <a:pPr marL="0" indent="0">
              <a:buNone/>
            </a:pPr>
            <a:r>
              <a:rPr lang="en-US" sz="1400" dirty="0">
                <a:solidFill>
                  <a:srgbClr val="FFFFFF"/>
                </a:solidFill>
                <a:latin typeface="Times New Roman" pitchFamily="34" charset="0"/>
                <a:ea typeface="Times New Roman" pitchFamily="34" charset="-122"/>
                <a:cs typeface="Times New Roman" pitchFamily="34" charset="-120"/>
              </a:rPr>
              <a:t>Assemble windmill, ESP32, sensors, BMS, battery; test auto-irrigation in lab conditions</a:t>
            </a:r>
            <a:endParaRPr lang="en-US" sz="1400" dirty="0"/>
          </a:p>
        </p:txBody>
      </p:sp>
      <p:sp>
        <p:nvSpPr>
          <p:cNvPr id="17" name="Shape 14"/>
          <p:cNvSpPr/>
          <p:nvPr/>
        </p:nvSpPr>
        <p:spPr>
          <a:xfrm>
            <a:off x="274320" y="2633472"/>
            <a:ext cx="4206240" cy="1691640"/>
          </a:xfrm>
          <a:prstGeom prst="rect">
            <a:avLst/>
          </a:prstGeom>
          <a:solidFill>
            <a:srgbClr val="0D1B3E"/>
          </a:solidFill>
          <a:ln w="12700">
            <a:solidFill>
              <a:srgbClr val="FFC000"/>
            </a:solidFill>
            <a:prstDash val="solid"/>
          </a:ln>
        </p:spPr>
      </p:sp>
      <p:sp>
        <p:nvSpPr>
          <p:cNvPr id="18" name="Shape 15"/>
          <p:cNvSpPr/>
          <p:nvPr/>
        </p:nvSpPr>
        <p:spPr>
          <a:xfrm>
            <a:off x="384048" y="2743200"/>
            <a:ext cx="438912" cy="438912"/>
          </a:xfrm>
          <a:prstGeom prst="ellipse">
            <a:avLst/>
          </a:prstGeom>
          <a:solidFill>
            <a:srgbClr val="FFC000"/>
          </a:solidFill>
          <a:ln/>
        </p:spPr>
      </p:sp>
      <p:sp>
        <p:nvSpPr>
          <p:cNvPr id="19" name="Text 16"/>
          <p:cNvSpPr/>
          <p:nvPr/>
        </p:nvSpPr>
        <p:spPr>
          <a:xfrm>
            <a:off x="384048" y="2743200"/>
            <a:ext cx="438912" cy="438912"/>
          </a:xfrm>
          <a:prstGeom prst="rect">
            <a:avLst/>
          </a:prstGeom>
          <a:noFill/>
          <a:ln/>
        </p:spPr>
        <p:txBody>
          <a:bodyPr wrap="square" lIns="0" tIns="0" rIns="0" bIns="0" rtlCol="0" anchor="ctr"/>
          <a:lstStyle/>
          <a:p>
            <a:pPr marL="0" indent="0" algn="ctr">
              <a:buNone/>
            </a:pPr>
            <a:r>
              <a:rPr lang="en-US" sz="1600" b="1" dirty="0">
                <a:solidFill>
                  <a:srgbClr val="0A1628"/>
                </a:solidFill>
                <a:latin typeface="Times New Roman" pitchFamily="34" charset="0"/>
                <a:ea typeface="Times New Roman" pitchFamily="34" charset="-122"/>
                <a:cs typeface="Times New Roman" pitchFamily="34" charset="-120"/>
              </a:rPr>
              <a:t>3</a:t>
            </a:r>
            <a:endParaRPr lang="en-US" sz="1600" dirty="0"/>
          </a:p>
        </p:txBody>
      </p:sp>
      <p:sp>
        <p:nvSpPr>
          <p:cNvPr id="20" name="Text 17"/>
          <p:cNvSpPr/>
          <p:nvPr/>
        </p:nvSpPr>
        <p:spPr>
          <a:xfrm>
            <a:off x="914400" y="2724912"/>
            <a:ext cx="3474720" cy="457200"/>
          </a:xfrm>
          <a:prstGeom prst="rect">
            <a:avLst/>
          </a:prstGeom>
          <a:noFill/>
          <a:ln/>
        </p:spPr>
        <p:txBody>
          <a:bodyPr wrap="square" lIns="0" tIns="0" rIns="0" bIns="0" rtlCol="0" anchor="ctr"/>
          <a:lstStyle/>
          <a:p>
            <a:pPr marL="0" indent="0">
              <a:buNone/>
            </a:pPr>
            <a:r>
              <a:rPr lang="en-US" sz="1300" b="1" dirty="0">
                <a:solidFill>
                  <a:srgbClr val="FFC000"/>
                </a:solidFill>
                <a:latin typeface="Times New Roman" pitchFamily="34" charset="0"/>
                <a:ea typeface="Times New Roman" pitchFamily="34" charset="-122"/>
                <a:cs typeface="Times New Roman" pitchFamily="34" charset="-120"/>
              </a:rPr>
              <a:t>Phase 3: Field Deployment (Months 3–4)</a:t>
            </a:r>
            <a:endParaRPr lang="en-US" sz="1300" dirty="0"/>
          </a:p>
        </p:txBody>
      </p:sp>
      <p:sp>
        <p:nvSpPr>
          <p:cNvPr id="21" name="Text 18"/>
          <p:cNvSpPr/>
          <p:nvPr/>
        </p:nvSpPr>
        <p:spPr>
          <a:xfrm>
            <a:off x="411480" y="3273552"/>
            <a:ext cx="3931920" cy="960120"/>
          </a:xfrm>
          <a:prstGeom prst="rect">
            <a:avLst/>
          </a:prstGeom>
          <a:noFill/>
          <a:ln/>
        </p:spPr>
        <p:txBody>
          <a:bodyPr wrap="square" lIns="50800" tIns="50800" rIns="50800" bIns="50800" rtlCol="0" anchor="ctr"/>
          <a:lstStyle/>
          <a:p>
            <a:pPr marL="0" indent="0">
              <a:buNone/>
            </a:pPr>
            <a:r>
              <a:rPr lang="en-US" sz="1400" dirty="0">
                <a:solidFill>
                  <a:srgbClr val="FFFFFF"/>
                </a:solidFill>
                <a:latin typeface="Times New Roman" pitchFamily="34" charset="0"/>
                <a:ea typeface="Times New Roman" pitchFamily="34" charset="-122"/>
                <a:cs typeface="Times New Roman" pitchFamily="34" charset="-120"/>
              </a:rPr>
              <a:t>Install system at farm site, collect crop yield and energy data, gather farmer feedback</a:t>
            </a:r>
            <a:endParaRPr lang="en-US" sz="1400" dirty="0"/>
          </a:p>
        </p:txBody>
      </p:sp>
      <p:sp>
        <p:nvSpPr>
          <p:cNvPr id="22" name="Shape 19"/>
          <p:cNvSpPr/>
          <p:nvPr/>
        </p:nvSpPr>
        <p:spPr>
          <a:xfrm>
            <a:off x="4754880" y="2633472"/>
            <a:ext cx="4206240" cy="1691640"/>
          </a:xfrm>
          <a:prstGeom prst="rect">
            <a:avLst/>
          </a:prstGeom>
          <a:solidFill>
            <a:srgbClr val="0D1B3E"/>
          </a:solidFill>
          <a:ln w="12700">
            <a:solidFill>
              <a:srgbClr val="FFC000"/>
            </a:solidFill>
            <a:prstDash val="solid"/>
          </a:ln>
        </p:spPr>
      </p:sp>
      <p:sp>
        <p:nvSpPr>
          <p:cNvPr id="23" name="Shape 20"/>
          <p:cNvSpPr/>
          <p:nvPr/>
        </p:nvSpPr>
        <p:spPr>
          <a:xfrm>
            <a:off x="4864608" y="2743200"/>
            <a:ext cx="438912" cy="438912"/>
          </a:xfrm>
          <a:prstGeom prst="ellipse">
            <a:avLst/>
          </a:prstGeom>
          <a:solidFill>
            <a:srgbClr val="FFC000"/>
          </a:solidFill>
          <a:ln/>
        </p:spPr>
      </p:sp>
      <p:sp>
        <p:nvSpPr>
          <p:cNvPr id="24" name="Text 21"/>
          <p:cNvSpPr/>
          <p:nvPr/>
        </p:nvSpPr>
        <p:spPr>
          <a:xfrm>
            <a:off x="4864608" y="2743200"/>
            <a:ext cx="438912" cy="438912"/>
          </a:xfrm>
          <a:prstGeom prst="rect">
            <a:avLst/>
          </a:prstGeom>
          <a:noFill/>
          <a:ln/>
        </p:spPr>
        <p:txBody>
          <a:bodyPr wrap="square" lIns="0" tIns="0" rIns="0" bIns="0" rtlCol="0" anchor="ctr"/>
          <a:lstStyle/>
          <a:p>
            <a:pPr marL="0" indent="0" algn="ctr">
              <a:buNone/>
            </a:pPr>
            <a:r>
              <a:rPr lang="en-US" sz="1600" b="1" dirty="0">
                <a:solidFill>
                  <a:srgbClr val="0A1628"/>
                </a:solidFill>
                <a:latin typeface="Times New Roman" pitchFamily="34" charset="0"/>
                <a:ea typeface="Times New Roman" pitchFamily="34" charset="-122"/>
                <a:cs typeface="Times New Roman" pitchFamily="34" charset="-120"/>
              </a:rPr>
              <a:t>4</a:t>
            </a:r>
            <a:endParaRPr lang="en-US" sz="1600" dirty="0"/>
          </a:p>
        </p:txBody>
      </p:sp>
      <p:sp>
        <p:nvSpPr>
          <p:cNvPr id="25" name="Text 22"/>
          <p:cNvSpPr/>
          <p:nvPr/>
        </p:nvSpPr>
        <p:spPr>
          <a:xfrm>
            <a:off x="5394960" y="2724912"/>
            <a:ext cx="3474720" cy="457200"/>
          </a:xfrm>
          <a:prstGeom prst="rect">
            <a:avLst/>
          </a:prstGeom>
          <a:noFill/>
          <a:ln/>
        </p:spPr>
        <p:txBody>
          <a:bodyPr wrap="square" lIns="0" tIns="0" rIns="0" bIns="0" rtlCol="0" anchor="ctr"/>
          <a:lstStyle/>
          <a:p>
            <a:pPr marL="0" indent="0">
              <a:buNone/>
            </a:pPr>
            <a:r>
              <a:rPr lang="en-US" sz="1300" b="1" dirty="0">
                <a:solidFill>
                  <a:srgbClr val="FFC000"/>
                </a:solidFill>
                <a:latin typeface="Times New Roman" pitchFamily="34" charset="0"/>
                <a:ea typeface="Times New Roman" pitchFamily="34" charset="-122"/>
                <a:cs typeface="Times New Roman" pitchFamily="34" charset="-120"/>
              </a:rPr>
              <a:t>Phase 4: Optimize &amp; Document (Months 4–6)</a:t>
            </a:r>
            <a:endParaRPr lang="en-US" sz="1300" dirty="0"/>
          </a:p>
        </p:txBody>
      </p:sp>
      <p:sp>
        <p:nvSpPr>
          <p:cNvPr id="26" name="Text 23"/>
          <p:cNvSpPr/>
          <p:nvPr/>
        </p:nvSpPr>
        <p:spPr>
          <a:xfrm>
            <a:off x="4892040" y="3273552"/>
            <a:ext cx="3931920" cy="960120"/>
          </a:xfrm>
          <a:prstGeom prst="rect">
            <a:avLst/>
          </a:prstGeom>
          <a:noFill/>
          <a:ln/>
        </p:spPr>
        <p:txBody>
          <a:bodyPr wrap="square" lIns="50800" tIns="50800" rIns="50800" bIns="50800" rtlCol="0" anchor="ctr"/>
          <a:lstStyle/>
          <a:p>
            <a:pPr marL="0" indent="0">
              <a:buNone/>
            </a:pPr>
            <a:r>
              <a:rPr lang="en-US" sz="1400" dirty="0">
                <a:solidFill>
                  <a:srgbClr val="FFFFFF"/>
                </a:solidFill>
                <a:latin typeface="Times New Roman" pitchFamily="34" charset="0"/>
                <a:ea typeface="Times New Roman" pitchFamily="34" charset="-122"/>
                <a:cs typeface="Times New Roman" pitchFamily="34" charset="-120"/>
              </a:rPr>
              <a:t>Analyse performance, reduce losses, prepare patent documentation and final report</a:t>
            </a:r>
            <a:endParaRPr lang="en-US" sz="1400" dirty="0"/>
          </a:p>
        </p:txBody>
      </p:sp>
      <p:sp>
        <p:nvSpPr>
          <p:cNvPr id="27" name="Shape 24"/>
          <p:cNvSpPr/>
          <p:nvPr/>
        </p:nvSpPr>
        <p:spPr>
          <a:xfrm>
            <a:off x="0" y="4818888"/>
            <a:ext cx="9144000" cy="324612"/>
          </a:xfrm>
          <a:prstGeom prst="rect">
            <a:avLst/>
          </a:prstGeom>
          <a:solidFill>
            <a:srgbClr val="0A1040"/>
          </a:solidFill>
          <a:ln w="12700">
            <a:solidFill>
              <a:srgbClr val="0A1040"/>
            </a:solidFill>
            <a:prstDash val="solid"/>
          </a:ln>
        </p:spPr>
      </p:sp>
      <p:sp>
        <p:nvSpPr>
          <p:cNvPr id="28" name="Text 25"/>
          <p:cNvSpPr/>
          <p:nvPr/>
        </p:nvSpPr>
        <p:spPr>
          <a:xfrm>
            <a:off x="182880" y="4818888"/>
            <a:ext cx="8778240" cy="324612"/>
          </a:xfrm>
          <a:prstGeom prst="rect">
            <a:avLst/>
          </a:prstGeom>
          <a:noFill/>
          <a:ln/>
        </p:spPr>
        <p:txBody>
          <a:bodyPr wrap="square" lIns="0" tIns="0" rIns="0" bIns="0" rtlCol="0" anchor="ctr"/>
          <a:lstStyle/>
          <a:p>
            <a:pPr marL="0" indent="0" algn="ctr">
              <a:buNone/>
            </a:pPr>
            <a:endParaRPr lang="en-US" sz="900" dirty="0"/>
          </a:p>
        </p:txBody>
      </p:sp>
      <p:sp>
        <p:nvSpPr>
          <p:cNvPr id="29" name="SlideNum"/>
          <p:cNvSpPr/>
          <p:nvPr/>
        </p:nvSpPr>
        <p:spPr>
          <a:xfrm>
            <a:off x="8500000" y="4840000"/>
            <a:ext cx="600000" cy="250000"/>
          </a:xfrm>
          <a:prstGeom prst="rect">
            <a:avLst/>
          </a:prstGeom>
          <a:noFill/>
          <a:ln/>
        </p:spPr>
        <p:txBody>
          <a:bodyPr wrap="square" lIns="0" tIns="0" rIns="0" bIns="0" rtlCol="0" anchor="ctr"/>
          <a:lstStyle/>
          <a:p>
            <a:pPr marL="0" indent="0" algn="r">
              <a:buNone/>
            </a:pPr>
            <a:r>
              <a:rPr lang="en-US" sz="1100" b="0" dirty="0">
                <a:solidFill>
                  <a:srgbClr val="FFC000"/>
                </a:solidFill>
                <a:latin typeface="Times New Roman" pitchFamily="34" charset="0"/>
              </a:rPr>
              <a:t>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A1628"/>
          </a:solidFill>
          <a:ln/>
        </p:spPr>
      </p:sp>
      <p:sp>
        <p:nvSpPr>
          <p:cNvPr id="3" name="Shape 1"/>
          <p:cNvSpPr/>
          <p:nvPr/>
        </p:nvSpPr>
        <p:spPr>
          <a:xfrm>
            <a:off x="0" y="0"/>
            <a:ext cx="9144000" cy="658368"/>
          </a:xfrm>
          <a:prstGeom prst="rect">
            <a:avLst/>
          </a:prstGeom>
          <a:solidFill>
            <a:srgbClr val="0A1628"/>
          </a:solidFill>
          <a:ln/>
        </p:spPr>
      </p:sp>
      <p:sp>
        <p:nvSpPr>
          <p:cNvPr id="4" name="Shape 2"/>
          <p:cNvSpPr/>
          <p:nvPr/>
        </p:nvSpPr>
        <p:spPr>
          <a:xfrm>
            <a:off x="0" y="0"/>
            <a:ext cx="109728" cy="658368"/>
          </a:xfrm>
          <a:prstGeom prst="rect">
            <a:avLst/>
          </a:prstGeom>
          <a:solidFill>
            <a:srgbClr val="FFC000"/>
          </a:solidFill>
          <a:ln/>
        </p:spPr>
      </p:sp>
      <p:sp>
        <p:nvSpPr>
          <p:cNvPr id="5" name="Text 3"/>
          <p:cNvSpPr/>
          <p:nvPr/>
        </p:nvSpPr>
        <p:spPr>
          <a:xfrm>
            <a:off x="201168" y="0"/>
            <a:ext cx="8778240" cy="658368"/>
          </a:xfrm>
          <a:prstGeom prst="rect">
            <a:avLst/>
          </a:prstGeom>
          <a:noFill/>
          <a:ln/>
        </p:spPr>
        <p:txBody>
          <a:bodyPr wrap="square" lIns="0" tIns="0" rIns="0" bIns="0" rtlCol="0" anchor="ctr"/>
          <a:lstStyle/>
          <a:p>
            <a:pPr marL="0" indent="0">
              <a:buNone/>
            </a:pPr>
            <a:r>
              <a:rPr lang="en-US" sz="3600" b="1" dirty="0">
                <a:solidFill>
                  <a:srgbClr val="FFFFFF"/>
                </a:solidFill>
                <a:latin typeface="Times New Roman" pitchFamily="34" charset="0"/>
                <a:ea typeface="Times New Roman" pitchFamily="34" charset="-122"/>
                <a:cs typeface="Times New Roman" pitchFamily="34" charset="-120"/>
              </a:rPr>
              <a:t>Hardware &amp; Software</a:t>
            </a:r>
            <a:endParaRPr lang="en-US" sz="3600" dirty="0"/>
          </a:p>
        </p:txBody>
      </p:sp>
      <p:sp>
        <p:nvSpPr>
          <p:cNvPr id="6" name="Text 4"/>
          <p:cNvSpPr/>
          <p:nvPr/>
        </p:nvSpPr>
        <p:spPr>
          <a:xfrm>
            <a:off x="274320" y="731520"/>
            <a:ext cx="5029200" cy="320040"/>
          </a:xfrm>
          <a:prstGeom prst="rect">
            <a:avLst/>
          </a:prstGeom>
          <a:noFill/>
          <a:ln/>
        </p:spPr>
        <p:txBody>
          <a:bodyPr wrap="square" lIns="0" tIns="0" rIns="0" bIns="0" rtlCol="0" anchor="ctr"/>
          <a:lstStyle/>
          <a:p>
            <a:pPr marL="0" indent="0">
              <a:buNone/>
            </a:pPr>
            <a:r>
              <a:rPr lang="en-US" sz="2000" b="1" dirty="0">
                <a:solidFill>
                  <a:srgbClr val="FFC000"/>
                </a:solidFill>
                <a:latin typeface="Times New Roman" pitchFamily="34" charset="0"/>
                <a:ea typeface="Times New Roman" pitchFamily="34" charset="-122"/>
                <a:cs typeface="Times New Roman" pitchFamily="34" charset="-120"/>
              </a:rPr>
              <a:t>Hardware Components</a:t>
            </a:r>
            <a:endParaRPr lang="en-US" sz="2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274320" y="1078992"/>
          <a:ext cx="5029200" cy="3566160"/>
        </p:xfrm>
        <a:graphic>
          <a:graphicData uri="http://schemas.openxmlformats.org/drawingml/2006/table">
            <a:tbl>
              <a:tblPr/>
              <a:tblGrid>
                <a:gridCol w="2011680">
                  <a:extLst>
                    <a:ext uri="{9D8B030D-6E8A-4147-A177-3AD203B41FA5}">
                      <a16:colId xmlns:a16="http://schemas.microsoft.com/office/drawing/2014/main" val="20000"/>
                    </a:ext>
                  </a:extLst>
                </a:gridCol>
                <a:gridCol w="3017520">
                  <a:extLst>
                    <a:ext uri="{9D8B030D-6E8A-4147-A177-3AD203B41FA5}">
                      <a16:colId xmlns:a16="http://schemas.microsoft.com/office/drawing/2014/main" val="20001"/>
                    </a:ext>
                  </a:extLst>
                </a:gridCol>
              </a:tblGrid>
              <a:tr h="347472">
                <a:tc>
                  <a:txBody>
                    <a:bodyPr/>
                    <a:lstStyle/>
                    <a:p>
                      <a:pPr marL="0" indent="0" algn="ctr">
                        <a:buNone/>
                      </a:pPr>
                      <a:r>
                        <a:rPr lang="en-US" sz="1100" b="1" dirty="0">
                          <a:solidFill>
                            <a:srgbClr val="0A1628"/>
                          </a:solidFill>
                          <a:latin typeface="Times New Roman" pitchFamily="34" charset="0"/>
                          <a:ea typeface="Times New Roman" pitchFamily="34" charset="-122"/>
                          <a:cs typeface="Times New Roman" pitchFamily="34" charset="-120"/>
                        </a:rPr>
                        <a:t>Component</a:t>
                      </a:r>
                      <a:endParaRPr lang="en-US" sz="1100" dirty="0">
                        <a:latin typeface="Times New Roman" charset="0"/>
                        <a:ea typeface="Times New Roman" charset="0"/>
                        <a:cs typeface="Times New Roman" charset="0"/>
                      </a:endParaRPr>
                    </a:p>
                  </a:txBody>
                  <a:tcPr>
                    <a:lnL w="6350" cap="flat" cmpd="sng" algn="ctr">
                      <a:solidFill>
                        <a:srgbClr val="2A3A6A"/>
                      </a:solidFill>
                      <a:prstDash val="solid"/>
                      <a:round/>
                      <a:headEnd type="none" w="med" len="med"/>
                      <a:tailEnd type="none" w="med" len="med"/>
                    </a:lnL>
                    <a:lnR w="6350" cap="flat" cmpd="sng" algn="ctr">
                      <a:solidFill>
                        <a:srgbClr val="2A3A6A"/>
                      </a:solidFill>
                      <a:prstDash val="solid"/>
                      <a:round/>
                      <a:headEnd type="none" w="med" len="med"/>
                      <a:tailEnd type="none" w="med" len="med"/>
                    </a:lnR>
                    <a:lnT w="6350" cap="flat" cmpd="sng" algn="ctr">
                      <a:solidFill>
                        <a:srgbClr val="2A3A6A"/>
                      </a:solidFill>
                      <a:prstDash val="solid"/>
                      <a:round/>
                      <a:headEnd type="none" w="med" len="med"/>
                      <a:tailEnd type="none" w="med" len="med"/>
                    </a:lnT>
                    <a:lnB w="6350" cap="flat" cmpd="sng" algn="ctr">
                      <a:solidFill>
                        <a:srgbClr val="2A3A6A"/>
                      </a:solidFill>
                      <a:prstDash val="solid"/>
                      <a:round/>
                      <a:headEnd type="none" w="med" len="med"/>
                      <a:tailEnd type="none" w="med" len="med"/>
                    </a:lnB>
                    <a:solidFill>
                      <a:srgbClr val="FFC000"/>
                    </a:solidFill>
                  </a:tcPr>
                </a:tc>
                <a:tc>
                  <a:txBody>
                    <a:bodyPr/>
                    <a:lstStyle/>
                    <a:p>
                      <a:pPr marL="0" indent="0" algn="ctr">
                        <a:buNone/>
                      </a:pPr>
                      <a:r>
                        <a:rPr lang="en-US" sz="1100" b="1" dirty="0">
                          <a:solidFill>
                            <a:srgbClr val="0A1628"/>
                          </a:solidFill>
                          <a:latin typeface="Times New Roman" pitchFamily="34" charset="0"/>
                          <a:ea typeface="Times New Roman" pitchFamily="34" charset="-122"/>
                          <a:cs typeface="Times New Roman" pitchFamily="34" charset="-120"/>
                        </a:rPr>
                        <a:t>Function</a:t>
                      </a:r>
                      <a:endParaRPr lang="en-US" sz="1100" dirty="0">
                        <a:latin typeface="Times New Roman" charset="0"/>
                        <a:ea typeface="Times New Roman" charset="0"/>
                        <a:cs typeface="Times New Roman" charset="0"/>
                      </a:endParaRPr>
                    </a:p>
                  </a:txBody>
                  <a:tcPr>
                    <a:lnL w="6350" cap="flat" cmpd="sng" algn="ctr">
                      <a:solidFill>
                        <a:srgbClr val="2A3A6A"/>
                      </a:solidFill>
                      <a:prstDash val="solid"/>
                      <a:round/>
                      <a:headEnd type="none" w="med" len="med"/>
                      <a:tailEnd type="none" w="med" len="med"/>
                    </a:lnL>
                    <a:lnR w="6350" cap="flat" cmpd="sng" algn="ctr">
                      <a:solidFill>
                        <a:srgbClr val="2A3A6A"/>
                      </a:solidFill>
                      <a:prstDash val="solid"/>
                      <a:round/>
                      <a:headEnd type="none" w="med" len="med"/>
                      <a:tailEnd type="none" w="med" len="med"/>
                    </a:lnR>
                    <a:lnT w="6350" cap="flat" cmpd="sng" algn="ctr">
                      <a:solidFill>
                        <a:srgbClr val="2A3A6A"/>
                      </a:solidFill>
                      <a:prstDash val="solid"/>
                      <a:round/>
                      <a:headEnd type="none" w="med" len="med"/>
                      <a:tailEnd type="none" w="med" len="med"/>
                    </a:lnT>
                    <a:lnB w="6350" cap="flat" cmpd="sng" algn="ctr">
                      <a:solidFill>
                        <a:srgbClr val="2A3A6A"/>
                      </a:solidFill>
                      <a:prstDash val="solid"/>
                      <a:round/>
                      <a:headEnd type="none" w="med" len="med"/>
                      <a:tailEnd type="none" w="med" len="med"/>
                    </a:lnB>
                    <a:solidFill>
                      <a:srgbClr val="FFC000"/>
                    </a:solidFill>
                  </a:tcPr>
                </a:tc>
                <a:extLst>
                  <a:ext uri="{0D108BD9-81ED-4DB2-BD59-A6C34878D82A}">
                    <a16:rowId xmlns:a16="http://schemas.microsoft.com/office/drawing/2014/main" val="10000"/>
                  </a:ext>
                </a:extLst>
              </a:tr>
              <a:tr h="402336">
                <a:tc>
                  <a:txBody>
                    <a:bodyPr/>
                    <a:lstStyle/>
                    <a:p>
                      <a:pPr marL="0" indent="0">
                        <a:buNone/>
                      </a:pPr>
                      <a:r>
                        <a:rPr lang="en-US" sz="1000" dirty="0">
                          <a:solidFill>
                            <a:srgbClr val="FFFFFF"/>
                          </a:solidFill>
                          <a:latin typeface="Times New Roman" pitchFamily="34" charset="0"/>
                          <a:ea typeface="Times New Roman" pitchFamily="34" charset="-122"/>
                          <a:cs typeface="Times New Roman" pitchFamily="34" charset="-120"/>
                        </a:rPr>
                        <a:t>Wind Turbine (Windmill)</a:t>
                      </a:r>
                      <a:endParaRPr lang="en-US" sz="1000" dirty="0">
                        <a:latin typeface="Times New Roman" charset="0"/>
                        <a:ea typeface="Times New Roman" charset="0"/>
                        <a:cs typeface="Times New Roman" charset="0"/>
                      </a:endParaRPr>
                    </a:p>
                  </a:txBody>
                  <a:tcPr>
                    <a:lnL w="6350" cap="flat" cmpd="sng" algn="ctr">
                      <a:solidFill>
                        <a:srgbClr val="2A3A6A"/>
                      </a:solidFill>
                      <a:prstDash val="solid"/>
                      <a:round/>
                      <a:headEnd type="none" w="med" len="med"/>
                      <a:tailEnd type="none" w="med" len="med"/>
                    </a:lnL>
                    <a:lnR w="6350" cap="flat" cmpd="sng" algn="ctr">
                      <a:solidFill>
                        <a:srgbClr val="2A3A6A"/>
                      </a:solidFill>
                      <a:prstDash val="solid"/>
                      <a:round/>
                      <a:headEnd type="none" w="med" len="med"/>
                      <a:tailEnd type="none" w="med" len="med"/>
                    </a:lnR>
                    <a:lnT w="6350" cap="flat" cmpd="sng" algn="ctr">
                      <a:solidFill>
                        <a:srgbClr val="2A3A6A"/>
                      </a:solidFill>
                      <a:prstDash val="solid"/>
                      <a:round/>
                      <a:headEnd type="none" w="med" len="med"/>
                      <a:tailEnd type="none" w="med" len="med"/>
                    </a:lnT>
                    <a:lnB w="6350" cap="flat" cmpd="sng" algn="ctr">
                      <a:solidFill>
                        <a:srgbClr val="2A3A6A"/>
                      </a:solidFill>
                      <a:prstDash val="solid"/>
                      <a:round/>
                      <a:headEnd type="none" w="med" len="med"/>
                      <a:tailEnd type="none" w="med" len="med"/>
                    </a:lnB>
                    <a:solidFill>
                      <a:srgbClr val="0D1B3E"/>
                    </a:solidFill>
                  </a:tcPr>
                </a:tc>
                <a:tc>
                  <a:txBody>
                    <a:bodyPr/>
                    <a:lstStyle/>
                    <a:p>
                      <a:pPr marL="0" indent="0">
                        <a:buNone/>
                      </a:pPr>
                      <a:r>
                        <a:rPr lang="en-US" sz="1000" dirty="0">
                          <a:solidFill>
                            <a:srgbClr val="FFFFFF"/>
                          </a:solidFill>
                          <a:latin typeface="Times New Roman" pitchFamily="34" charset="0"/>
                          <a:ea typeface="Times New Roman" pitchFamily="34" charset="-122"/>
                          <a:cs typeface="Times New Roman" pitchFamily="34" charset="-120"/>
                        </a:rPr>
                        <a:t>Captures wind and produces mechanical energy</a:t>
                      </a:r>
                      <a:endParaRPr lang="en-US" sz="1000" dirty="0">
                        <a:latin typeface="Times New Roman" charset="0"/>
                        <a:ea typeface="Times New Roman" charset="0"/>
                        <a:cs typeface="Times New Roman" charset="0"/>
                      </a:endParaRPr>
                    </a:p>
                  </a:txBody>
                  <a:tcPr>
                    <a:lnL w="6350" cap="flat" cmpd="sng" algn="ctr">
                      <a:solidFill>
                        <a:srgbClr val="2A3A6A"/>
                      </a:solidFill>
                      <a:prstDash val="solid"/>
                      <a:round/>
                      <a:headEnd type="none" w="med" len="med"/>
                      <a:tailEnd type="none" w="med" len="med"/>
                    </a:lnL>
                    <a:lnR w="6350" cap="flat" cmpd="sng" algn="ctr">
                      <a:solidFill>
                        <a:srgbClr val="2A3A6A"/>
                      </a:solidFill>
                      <a:prstDash val="solid"/>
                      <a:round/>
                      <a:headEnd type="none" w="med" len="med"/>
                      <a:tailEnd type="none" w="med" len="med"/>
                    </a:lnR>
                    <a:lnT w="6350" cap="flat" cmpd="sng" algn="ctr">
                      <a:solidFill>
                        <a:srgbClr val="2A3A6A"/>
                      </a:solidFill>
                      <a:prstDash val="solid"/>
                      <a:round/>
                      <a:headEnd type="none" w="med" len="med"/>
                      <a:tailEnd type="none" w="med" len="med"/>
                    </a:lnT>
                    <a:lnB w="6350" cap="flat" cmpd="sng" algn="ctr">
                      <a:solidFill>
                        <a:srgbClr val="2A3A6A"/>
                      </a:solidFill>
                      <a:prstDash val="solid"/>
                      <a:round/>
                      <a:headEnd type="none" w="med" len="med"/>
                      <a:tailEnd type="none" w="med" len="med"/>
                    </a:lnB>
                    <a:solidFill>
                      <a:srgbClr val="0D1B3E"/>
                    </a:solidFill>
                  </a:tcPr>
                </a:tc>
                <a:extLst>
                  <a:ext uri="{0D108BD9-81ED-4DB2-BD59-A6C34878D82A}">
                    <a16:rowId xmlns:a16="http://schemas.microsoft.com/office/drawing/2014/main" val="10001"/>
                  </a:ext>
                </a:extLst>
              </a:tr>
              <a:tr h="402336">
                <a:tc>
                  <a:txBody>
                    <a:bodyPr/>
                    <a:lstStyle/>
                    <a:p>
                      <a:pPr marL="0" indent="0">
                        <a:buNone/>
                      </a:pPr>
                      <a:r>
                        <a:rPr lang="en-US" sz="1000" dirty="0">
                          <a:solidFill>
                            <a:srgbClr val="FFFFFF"/>
                          </a:solidFill>
                          <a:latin typeface="Times New Roman" pitchFamily="34" charset="0"/>
                          <a:ea typeface="Times New Roman" pitchFamily="34" charset="-122"/>
                          <a:cs typeface="Times New Roman" pitchFamily="34" charset="-120"/>
                        </a:rPr>
                        <a:t>DC Generator / Motor</a:t>
                      </a:r>
                      <a:endParaRPr lang="en-US" sz="1000" dirty="0">
                        <a:latin typeface="Times New Roman" charset="0"/>
                        <a:ea typeface="Times New Roman" charset="0"/>
                        <a:cs typeface="Times New Roman" charset="0"/>
                      </a:endParaRPr>
                    </a:p>
                  </a:txBody>
                  <a:tcPr>
                    <a:lnL w="6350" cap="flat" cmpd="sng" algn="ctr">
                      <a:solidFill>
                        <a:srgbClr val="2A3A6A"/>
                      </a:solidFill>
                      <a:prstDash val="solid"/>
                      <a:round/>
                      <a:headEnd type="none" w="med" len="med"/>
                      <a:tailEnd type="none" w="med" len="med"/>
                    </a:lnL>
                    <a:lnR w="6350" cap="flat" cmpd="sng" algn="ctr">
                      <a:solidFill>
                        <a:srgbClr val="2A3A6A"/>
                      </a:solidFill>
                      <a:prstDash val="solid"/>
                      <a:round/>
                      <a:headEnd type="none" w="med" len="med"/>
                      <a:tailEnd type="none" w="med" len="med"/>
                    </a:lnR>
                    <a:lnT w="6350" cap="flat" cmpd="sng" algn="ctr">
                      <a:solidFill>
                        <a:srgbClr val="2A3A6A"/>
                      </a:solidFill>
                      <a:prstDash val="solid"/>
                      <a:round/>
                      <a:headEnd type="none" w="med" len="med"/>
                      <a:tailEnd type="none" w="med" len="med"/>
                    </a:lnT>
                    <a:lnB w="6350" cap="flat" cmpd="sng" algn="ctr">
                      <a:solidFill>
                        <a:srgbClr val="2A3A6A"/>
                      </a:solidFill>
                      <a:prstDash val="solid"/>
                      <a:round/>
                      <a:headEnd type="none" w="med" len="med"/>
                      <a:tailEnd type="none" w="med" len="med"/>
                    </a:lnB>
                    <a:solidFill>
                      <a:srgbClr val="1A2744"/>
                    </a:solidFill>
                  </a:tcPr>
                </a:tc>
                <a:tc>
                  <a:txBody>
                    <a:bodyPr/>
                    <a:lstStyle/>
                    <a:p>
                      <a:pPr marL="0" indent="0">
                        <a:buNone/>
                      </a:pPr>
                      <a:r>
                        <a:rPr lang="en-US" sz="1000" dirty="0">
                          <a:solidFill>
                            <a:srgbClr val="FFFFFF"/>
                          </a:solidFill>
                          <a:latin typeface="Times New Roman" pitchFamily="34" charset="0"/>
                          <a:ea typeface="Times New Roman" pitchFamily="34" charset="-122"/>
                          <a:cs typeface="Times New Roman" pitchFamily="34" charset="-120"/>
                        </a:rPr>
                        <a:t>Converts mechanical rotation into DC electricity</a:t>
                      </a:r>
                      <a:endParaRPr lang="en-US" sz="1000" dirty="0">
                        <a:latin typeface="Times New Roman" charset="0"/>
                        <a:ea typeface="Times New Roman" charset="0"/>
                        <a:cs typeface="Times New Roman" charset="0"/>
                      </a:endParaRPr>
                    </a:p>
                  </a:txBody>
                  <a:tcPr>
                    <a:lnL w="6350" cap="flat" cmpd="sng" algn="ctr">
                      <a:solidFill>
                        <a:srgbClr val="2A3A6A"/>
                      </a:solidFill>
                      <a:prstDash val="solid"/>
                      <a:round/>
                      <a:headEnd type="none" w="med" len="med"/>
                      <a:tailEnd type="none" w="med" len="med"/>
                    </a:lnL>
                    <a:lnR w="6350" cap="flat" cmpd="sng" algn="ctr">
                      <a:solidFill>
                        <a:srgbClr val="2A3A6A"/>
                      </a:solidFill>
                      <a:prstDash val="solid"/>
                      <a:round/>
                      <a:headEnd type="none" w="med" len="med"/>
                      <a:tailEnd type="none" w="med" len="med"/>
                    </a:lnR>
                    <a:lnT w="6350" cap="flat" cmpd="sng" algn="ctr">
                      <a:solidFill>
                        <a:srgbClr val="2A3A6A"/>
                      </a:solidFill>
                      <a:prstDash val="solid"/>
                      <a:round/>
                      <a:headEnd type="none" w="med" len="med"/>
                      <a:tailEnd type="none" w="med" len="med"/>
                    </a:lnT>
                    <a:lnB w="6350" cap="flat" cmpd="sng" algn="ctr">
                      <a:solidFill>
                        <a:srgbClr val="2A3A6A"/>
                      </a:solidFill>
                      <a:prstDash val="solid"/>
                      <a:round/>
                      <a:headEnd type="none" w="med" len="med"/>
                      <a:tailEnd type="none" w="med" len="med"/>
                    </a:lnB>
                    <a:solidFill>
                      <a:srgbClr val="1A2744"/>
                    </a:solidFill>
                  </a:tcPr>
                </a:tc>
                <a:extLst>
                  <a:ext uri="{0D108BD9-81ED-4DB2-BD59-A6C34878D82A}">
                    <a16:rowId xmlns:a16="http://schemas.microsoft.com/office/drawing/2014/main" val="10002"/>
                  </a:ext>
                </a:extLst>
              </a:tr>
              <a:tr h="402336">
                <a:tc>
                  <a:txBody>
                    <a:bodyPr/>
                    <a:lstStyle/>
                    <a:p>
                      <a:pPr marL="0" indent="0">
                        <a:buNone/>
                      </a:pPr>
                      <a:r>
                        <a:rPr lang="en-US" sz="1000" dirty="0">
                          <a:solidFill>
                            <a:srgbClr val="FFFFFF"/>
                          </a:solidFill>
                          <a:latin typeface="Times New Roman" pitchFamily="34" charset="0"/>
                          <a:ea typeface="Times New Roman" pitchFamily="34" charset="-122"/>
                          <a:cs typeface="Times New Roman" pitchFamily="34" charset="-120"/>
                        </a:rPr>
                        <a:t>DC-DC Buck Converter</a:t>
                      </a:r>
                      <a:endParaRPr lang="en-US" sz="1000" dirty="0">
                        <a:latin typeface="Times New Roman" charset="0"/>
                        <a:ea typeface="Times New Roman" charset="0"/>
                        <a:cs typeface="Times New Roman" charset="0"/>
                      </a:endParaRPr>
                    </a:p>
                  </a:txBody>
                  <a:tcPr>
                    <a:lnL w="6350" cap="flat" cmpd="sng" algn="ctr">
                      <a:solidFill>
                        <a:srgbClr val="2A3A6A"/>
                      </a:solidFill>
                      <a:prstDash val="solid"/>
                      <a:round/>
                      <a:headEnd type="none" w="med" len="med"/>
                      <a:tailEnd type="none" w="med" len="med"/>
                    </a:lnL>
                    <a:lnR w="6350" cap="flat" cmpd="sng" algn="ctr">
                      <a:solidFill>
                        <a:srgbClr val="2A3A6A"/>
                      </a:solidFill>
                      <a:prstDash val="solid"/>
                      <a:round/>
                      <a:headEnd type="none" w="med" len="med"/>
                      <a:tailEnd type="none" w="med" len="med"/>
                    </a:lnR>
                    <a:lnT w="6350" cap="flat" cmpd="sng" algn="ctr">
                      <a:solidFill>
                        <a:srgbClr val="2A3A6A"/>
                      </a:solidFill>
                      <a:prstDash val="solid"/>
                      <a:round/>
                      <a:headEnd type="none" w="med" len="med"/>
                      <a:tailEnd type="none" w="med" len="med"/>
                    </a:lnT>
                    <a:lnB w="6350" cap="flat" cmpd="sng" algn="ctr">
                      <a:solidFill>
                        <a:srgbClr val="2A3A6A"/>
                      </a:solidFill>
                      <a:prstDash val="solid"/>
                      <a:round/>
                      <a:headEnd type="none" w="med" len="med"/>
                      <a:tailEnd type="none" w="med" len="med"/>
                    </a:lnB>
                    <a:solidFill>
                      <a:srgbClr val="0D1B3E"/>
                    </a:solidFill>
                  </a:tcPr>
                </a:tc>
                <a:tc>
                  <a:txBody>
                    <a:bodyPr/>
                    <a:lstStyle/>
                    <a:p>
                      <a:pPr marL="0" indent="0">
                        <a:buNone/>
                      </a:pPr>
                      <a:r>
                        <a:rPr lang="en-US" sz="1000" dirty="0">
                          <a:solidFill>
                            <a:srgbClr val="FFFFFF"/>
                          </a:solidFill>
                          <a:latin typeface="Times New Roman" pitchFamily="34" charset="0"/>
                          <a:ea typeface="Times New Roman" pitchFamily="34" charset="-122"/>
                          <a:cs typeface="Times New Roman" pitchFamily="34" charset="-120"/>
                        </a:rPr>
                        <a:t>Regulates voltage for safe battery charging</a:t>
                      </a:r>
                      <a:endParaRPr lang="en-US" sz="1000" dirty="0">
                        <a:latin typeface="Times New Roman" charset="0"/>
                        <a:ea typeface="Times New Roman" charset="0"/>
                        <a:cs typeface="Times New Roman" charset="0"/>
                      </a:endParaRPr>
                    </a:p>
                  </a:txBody>
                  <a:tcPr>
                    <a:lnL w="6350" cap="flat" cmpd="sng" algn="ctr">
                      <a:solidFill>
                        <a:srgbClr val="2A3A6A"/>
                      </a:solidFill>
                      <a:prstDash val="solid"/>
                      <a:round/>
                      <a:headEnd type="none" w="med" len="med"/>
                      <a:tailEnd type="none" w="med" len="med"/>
                    </a:lnL>
                    <a:lnR w="6350" cap="flat" cmpd="sng" algn="ctr">
                      <a:solidFill>
                        <a:srgbClr val="2A3A6A"/>
                      </a:solidFill>
                      <a:prstDash val="solid"/>
                      <a:round/>
                      <a:headEnd type="none" w="med" len="med"/>
                      <a:tailEnd type="none" w="med" len="med"/>
                    </a:lnR>
                    <a:lnT w="6350" cap="flat" cmpd="sng" algn="ctr">
                      <a:solidFill>
                        <a:srgbClr val="2A3A6A"/>
                      </a:solidFill>
                      <a:prstDash val="solid"/>
                      <a:round/>
                      <a:headEnd type="none" w="med" len="med"/>
                      <a:tailEnd type="none" w="med" len="med"/>
                    </a:lnT>
                    <a:lnB w="6350" cap="flat" cmpd="sng" algn="ctr">
                      <a:solidFill>
                        <a:srgbClr val="2A3A6A"/>
                      </a:solidFill>
                      <a:prstDash val="solid"/>
                      <a:round/>
                      <a:headEnd type="none" w="med" len="med"/>
                      <a:tailEnd type="none" w="med" len="med"/>
                    </a:lnB>
                    <a:solidFill>
                      <a:srgbClr val="0D1B3E"/>
                    </a:solidFill>
                  </a:tcPr>
                </a:tc>
                <a:extLst>
                  <a:ext uri="{0D108BD9-81ED-4DB2-BD59-A6C34878D82A}">
                    <a16:rowId xmlns:a16="http://schemas.microsoft.com/office/drawing/2014/main" val="10003"/>
                  </a:ext>
                </a:extLst>
              </a:tr>
              <a:tr h="402336">
                <a:tc>
                  <a:txBody>
                    <a:bodyPr/>
                    <a:lstStyle/>
                    <a:p>
                      <a:pPr marL="0" indent="0">
                        <a:buNone/>
                      </a:pPr>
                      <a:r>
                        <a:rPr lang="en-US" sz="1000" dirty="0">
                          <a:solidFill>
                            <a:srgbClr val="FFFFFF"/>
                          </a:solidFill>
                          <a:latin typeface="Times New Roman" pitchFamily="34" charset="0"/>
                          <a:ea typeface="Times New Roman" pitchFamily="34" charset="-122"/>
                          <a:cs typeface="Times New Roman" pitchFamily="34" charset="-120"/>
                        </a:rPr>
                        <a:t>Lithium Battery + BMS</a:t>
                      </a:r>
                      <a:endParaRPr lang="en-US" sz="1000" dirty="0">
                        <a:latin typeface="Times New Roman" charset="0"/>
                        <a:ea typeface="Times New Roman" charset="0"/>
                        <a:cs typeface="Times New Roman" charset="0"/>
                      </a:endParaRPr>
                    </a:p>
                  </a:txBody>
                  <a:tcPr>
                    <a:lnL w="6350" cap="flat" cmpd="sng" algn="ctr">
                      <a:solidFill>
                        <a:srgbClr val="2A3A6A"/>
                      </a:solidFill>
                      <a:prstDash val="solid"/>
                      <a:round/>
                      <a:headEnd type="none" w="med" len="med"/>
                      <a:tailEnd type="none" w="med" len="med"/>
                    </a:lnL>
                    <a:lnR w="6350" cap="flat" cmpd="sng" algn="ctr">
                      <a:solidFill>
                        <a:srgbClr val="2A3A6A"/>
                      </a:solidFill>
                      <a:prstDash val="solid"/>
                      <a:round/>
                      <a:headEnd type="none" w="med" len="med"/>
                      <a:tailEnd type="none" w="med" len="med"/>
                    </a:lnR>
                    <a:lnT w="6350" cap="flat" cmpd="sng" algn="ctr">
                      <a:solidFill>
                        <a:srgbClr val="2A3A6A"/>
                      </a:solidFill>
                      <a:prstDash val="solid"/>
                      <a:round/>
                      <a:headEnd type="none" w="med" len="med"/>
                      <a:tailEnd type="none" w="med" len="med"/>
                    </a:lnT>
                    <a:lnB w="6350" cap="flat" cmpd="sng" algn="ctr">
                      <a:solidFill>
                        <a:srgbClr val="2A3A6A"/>
                      </a:solidFill>
                      <a:prstDash val="solid"/>
                      <a:round/>
                      <a:headEnd type="none" w="med" len="med"/>
                      <a:tailEnd type="none" w="med" len="med"/>
                    </a:lnB>
                    <a:solidFill>
                      <a:srgbClr val="1A2744"/>
                    </a:solidFill>
                  </a:tcPr>
                </a:tc>
                <a:tc>
                  <a:txBody>
                    <a:bodyPr/>
                    <a:lstStyle/>
                    <a:p>
                      <a:pPr marL="0" indent="0">
                        <a:buNone/>
                      </a:pPr>
                      <a:r>
                        <a:rPr lang="en-US" sz="1000" dirty="0">
                          <a:solidFill>
                            <a:srgbClr val="FFFFFF"/>
                          </a:solidFill>
                          <a:latin typeface="Times New Roman" pitchFamily="34" charset="0"/>
                          <a:ea typeface="Times New Roman" pitchFamily="34" charset="-122"/>
                          <a:cs typeface="Times New Roman" pitchFamily="34" charset="-120"/>
                        </a:rPr>
                        <a:t>Stores energy; BMS prevents damage</a:t>
                      </a:r>
                      <a:endParaRPr lang="en-US" sz="1000" dirty="0">
                        <a:latin typeface="Times New Roman" charset="0"/>
                        <a:ea typeface="Times New Roman" charset="0"/>
                        <a:cs typeface="Times New Roman" charset="0"/>
                      </a:endParaRPr>
                    </a:p>
                  </a:txBody>
                  <a:tcPr>
                    <a:lnL w="6350" cap="flat" cmpd="sng" algn="ctr">
                      <a:solidFill>
                        <a:srgbClr val="2A3A6A"/>
                      </a:solidFill>
                      <a:prstDash val="solid"/>
                      <a:round/>
                      <a:headEnd type="none" w="med" len="med"/>
                      <a:tailEnd type="none" w="med" len="med"/>
                    </a:lnL>
                    <a:lnR w="6350" cap="flat" cmpd="sng" algn="ctr">
                      <a:solidFill>
                        <a:srgbClr val="2A3A6A"/>
                      </a:solidFill>
                      <a:prstDash val="solid"/>
                      <a:round/>
                      <a:headEnd type="none" w="med" len="med"/>
                      <a:tailEnd type="none" w="med" len="med"/>
                    </a:lnR>
                    <a:lnT w="6350" cap="flat" cmpd="sng" algn="ctr">
                      <a:solidFill>
                        <a:srgbClr val="2A3A6A"/>
                      </a:solidFill>
                      <a:prstDash val="solid"/>
                      <a:round/>
                      <a:headEnd type="none" w="med" len="med"/>
                      <a:tailEnd type="none" w="med" len="med"/>
                    </a:lnT>
                    <a:lnB w="6350" cap="flat" cmpd="sng" algn="ctr">
                      <a:solidFill>
                        <a:srgbClr val="2A3A6A"/>
                      </a:solidFill>
                      <a:prstDash val="solid"/>
                      <a:round/>
                      <a:headEnd type="none" w="med" len="med"/>
                      <a:tailEnd type="none" w="med" len="med"/>
                    </a:lnB>
                    <a:solidFill>
                      <a:srgbClr val="1A2744"/>
                    </a:solidFill>
                  </a:tcPr>
                </a:tc>
                <a:extLst>
                  <a:ext uri="{0D108BD9-81ED-4DB2-BD59-A6C34878D82A}">
                    <a16:rowId xmlns:a16="http://schemas.microsoft.com/office/drawing/2014/main" val="10004"/>
                  </a:ext>
                </a:extLst>
              </a:tr>
              <a:tr h="402336">
                <a:tc>
                  <a:txBody>
                    <a:bodyPr/>
                    <a:lstStyle/>
                    <a:p>
                      <a:pPr marL="0" indent="0">
                        <a:buNone/>
                      </a:pPr>
                      <a:r>
                        <a:rPr lang="en-US" sz="1000" dirty="0">
                          <a:solidFill>
                            <a:srgbClr val="FFFFFF"/>
                          </a:solidFill>
                          <a:latin typeface="Times New Roman" pitchFamily="34" charset="0"/>
                          <a:ea typeface="Times New Roman" pitchFamily="34" charset="-122"/>
                          <a:cs typeface="Times New Roman" pitchFamily="34" charset="-120"/>
                        </a:rPr>
                        <a:t>ESP32 Microcontroller</a:t>
                      </a:r>
                      <a:endParaRPr lang="en-US" sz="1000" dirty="0">
                        <a:latin typeface="Times New Roman" charset="0"/>
                        <a:ea typeface="Times New Roman" charset="0"/>
                        <a:cs typeface="Times New Roman" charset="0"/>
                      </a:endParaRPr>
                    </a:p>
                  </a:txBody>
                  <a:tcPr>
                    <a:lnL w="6350" cap="flat" cmpd="sng" algn="ctr">
                      <a:solidFill>
                        <a:srgbClr val="2A3A6A"/>
                      </a:solidFill>
                      <a:prstDash val="solid"/>
                      <a:round/>
                      <a:headEnd type="none" w="med" len="med"/>
                      <a:tailEnd type="none" w="med" len="med"/>
                    </a:lnL>
                    <a:lnR w="6350" cap="flat" cmpd="sng" algn="ctr">
                      <a:solidFill>
                        <a:srgbClr val="2A3A6A"/>
                      </a:solidFill>
                      <a:prstDash val="solid"/>
                      <a:round/>
                      <a:headEnd type="none" w="med" len="med"/>
                      <a:tailEnd type="none" w="med" len="med"/>
                    </a:lnR>
                    <a:lnT w="6350" cap="flat" cmpd="sng" algn="ctr">
                      <a:solidFill>
                        <a:srgbClr val="2A3A6A"/>
                      </a:solidFill>
                      <a:prstDash val="solid"/>
                      <a:round/>
                      <a:headEnd type="none" w="med" len="med"/>
                      <a:tailEnd type="none" w="med" len="med"/>
                    </a:lnT>
                    <a:lnB w="6350" cap="flat" cmpd="sng" algn="ctr">
                      <a:solidFill>
                        <a:srgbClr val="2A3A6A"/>
                      </a:solidFill>
                      <a:prstDash val="solid"/>
                      <a:round/>
                      <a:headEnd type="none" w="med" len="med"/>
                      <a:tailEnd type="none" w="med" len="med"/>
                    </a:lnB>
                    <a:solidFill>
                      <a:srgbClr val="0D1B3E"/>
                    </a:solidFill>
                  </a:tcPr>
                </a:tc>
                <a:tc>
                  <a:txBody>
                    <a:bodyPr/>
                    <a:lstStyle/>
                    <a:p>
                      <a:pPr marL="0" indent="0">
                        <a:buNone/>
                      </a:pPr>
                      <a:r>
                        <a:rPr lang="en-US" sz="1000" dirty="0">
                          <a:solidFill>
                            <a:srgbClr val="FFFFFF"/>
                          </a:solidFill>
                          <a:latin typeface="Times New Roman" pitchFamily="34" charset="0"/>
                          <a:ea typeface="Times New Roman" pitchFamily="34" charset="-122"/>
                          <a:cs typeface="Times New Roman" pitchFamily="34" charset="-120"/>
                        </a:rPr>
                        <a:t>Central controller; reads sensors, controls relay</a:t>
                      </a:r>
                      <a:endParaRPr lang="en-US" sz="1000" dirty="0">
                        <a:latin typeface="Times New Roman" charset="0"/>
                        <a:ea typeface="Times New Roman" charset="0"/>
                        <a:cs typeface="Times New Roman" charset="0"/>
                      </a:endParaRPr>
                    </a:p>
                  </a:txBody>
                  <a:tcPr>
                    <a:lnL w="6350" cap="flat" cmpd="sng" algn="ctr">
                      <a:solidFill>
                        <a:srgbClr val="2A3A6A"/>
                      </a:solidFill>
                      <a:prstDash val="solid"/>
                      <a:round/>
                      <a:headEnd type="none" w="med" len="med"/>
                      <a:tailEnd type="none" w="med" len="med"/>
                    </a:lnL>
                    <a:lnR w="6350" cap="flat" cmpd="sng" algn="ctr">
                      <a:solidFill>
                        <a:srgbClr val="2A3A6A"/>
                      </a:solidFill>
                      <a:prstDash val="solid"/>
                      <a:round/>
                      <a:headEnd type="none" w="med" len="med"/>
                      <a:tailEnd type="none" w="med" len="med"/>
                    </a:lnR>
                    <a:lnT w="6350" cap="flat" cmpd="sng" algn="ctr">
                      <a:solidFill>
                        <a:srgbClr val="2A3A6A"/>
                      </a:solidFill>
                      <a:prstDash val="solid"/>
                      <a:round/>
                      <a:headEnd type="none" w="med" len="med"/>
                      <a:tailEnd type="none" w="med" len="med"/>
                    </a:lnT>
                    <a:lnB w="6350" cap="flat" cmpd="sng" algn="ctr">
                      <a:solidFill>
                        <a:srgbClr val="2A3A6A"/>
                      </a:solidFill>
                      <a:prstDash val="solid"/>
                      <a:round/>
                      <a:headEnd type="none" w="med" len="med"/>
                      <a:tailEnd type="none" w="med" len="med"/>
                    </a:lnB>
                    <a:solidFill>
                      <a:srgbClr val="0D1B3E"/>
                    </a:solidFill>
                  </a:tcPr>
                </a:tc>
                <a:extLst>
                  <a:ext uri="{0D108BD9-81ED-4DB2-BD59-A6C34878D82A}">
                    <a16:rowId xmlns:a16="http://schemas.microsoft.com/office/drawing/2014/main" val="10005"/>
                  </a:ext>
                </a:extLst>
              </a:tr>
              <a:tr h="402336">
                <a:tc>
                  <a:txBody>
                    <a:bodyPr/>
                    <a:lstStyle/>
                    <a:p>
                      <a:pPr marL="0" indent="0">
                        <a:buNone/>
                      </a:pPr>
                      <a:r>
                        <a:rPr lang="en-US" sz="1000" dirty="0">
                          <a:solidFill>
                            <a:srgbClr val="FFFFFF"/>
                          </a:solidFill>
                          <a:latin typeface="Times New Roman" pitchFamily="34" charset="0"/>
                          <a:ea typeface="Times New Roman" pitchFamily="34" charset="-122"/>
                          <a:cs typeface="Times New Roman" pitchFamily="34" charset="-120"/>
                        </a:rPr>
                        <a:t>Soil Moisture Sensor</a:t>
                      </a:r>
                      <a:endParaRPr lang="en-US" sz="1000" dirty="0">
                        <a:latin typeface="Times New Roman" charset="0"/>
                        <a:ea typeface="Times New Roman" charset="0"/>
                        <a:cs typeface="Times New Roman" charset="0"/>
                      </a:endParaRPr>
                    </a:p>
                  </a:txBody>
                  <a:tcPr>
                    <a:lnL w="6350" cap="flat" cmpd="sng" algn="ctr">
                      <a:solidFill>
                        <a:srgbClr val="2A3A6A"/>
                      </a:solidFill>
                      <a:prstDash val="solid"/>
                      <a:round/>
                      <a:headEnd type="none" w="med" len="med"/>
                      <a:tailEnd type="none" w="med" len="med"/>
                    </a:lnL>
                    <a:lnR w="6350" cap="flat" cmpd="sng" algn="ctr">
                      <a:solidFill>
                        <a:srgbClr val="2A3A6A"/>
                      </a:solidFill>
                      <a:prstDash val="solid"/>
                      <a:round/>
                      <a:headEnd type="none" w="med" len="med"/>
                      <a:tailEnd type="none" w="med" len="med"/>
                    </a:lnR>
                    <a:lnT w="6350" cap="flat" cmpd="sng" algn="ctr">
                      <a:solidFill>
                        <a:srgbClr val="2A3A6A"/>
                      </a:solidFill>
                      <a:prstDash val="solid"/>
                      <a:round/>
                      <a:headEnd type="none" w="med" len="med"/>
                      <a:tailEnd type="none" w="med" len="med"/>
                    </a:lnT>
                    <a:lnB w="6350" cap="flat" cmpd="sng" algn="ctr">
                      <a:solidFill>
                        <a:srgbClr val="2A3A6A"/>
                      </a:solidFill>
                      <a:prstDash val="solid"/>
                      <a:round/>
                      <a:headEnd type="none" w="med" len="med"/>
                      <a:tailEnd type="none" w="med" len="med"/>
                    </a:lnB>
                    <a:solidFill>
                      <a:srgbClr val="1A2744"/>
                    </a:solidFill>
                  </a:tcPr>
                </a:tc>
                <a:tc>
                  <a:txBody>
                    <a:bodyPr/>
                    <a:lstStyle/>
                    <a:p>
                      <a:pPr marL="0" indent="0">
                        <a:buNone/>
                      </a:pPr>
                      <a:r>
                        <a:rPr lang="en-US" sz="1000" dirty="0">
                          <a:solidFill>
                            <a:srgbClr val="FFFFFF"/>
                          </a:solidFill>
                          <a:latin typeface="Times New Roman" pitchFamily="34" charset="0"/>
                          <a:ea typeface="Times New Roman" pitchFamily="34" charset="-122"/>
                          <a:cs typeface="Times New Roman" pitchFamily="34" charset="-120"/>
                        </a:rPr>
                        <a:t>Detects when soil is dry — triggers irrigation</a:t>
                      </a:r>
                      <a:endParaRPr lang="en-US" sz="1000" dirty="0">
                        <a:latin typeface="Times New Roman" charset="0"/>
                        <a:ea typeface="Times New Roman" charset="0"/>
                        <a:cs typeface="Times New Roman" charset="0"/>
                      </a:endParaRPr>
                    </a:p>
                  </a:txBody>
                  <a:tcPr>
                    <a:lnL w="6350" cap="flat" cmpd="sng" algn="ctr">
                      <a:solidFill>
                        <a:srgbClr val="2A3A6A"/>
                      </a:solidFill>
                      <a:prstDash val="solid"/>
                      <a:round/>
                      <a:headEnd type="none" w="med" len="med"/>
                      <a:tailEnd type="none" w="med" len="med"/>
                    </a:lnL>
                    <a:lnR w="6350" cap="flat" cmpd="sng" algn="ctr">
                      <a:solidFill>
                        <a:srgbClr val="2A3A6A"/>
                      </a:solidFill>
                      <a:prstDash val="solid"/>
                      <a:round/>
                      <a:headEnd type="none" w="med" len="med"/>
                      <a:tailEnd type="none" w="med" len="med"/>
                    </a:lnR>
                    <a:lnT w="6350" cap="flat" cmpd="sng" algn="ctr">
                      <a:solidFill>
                        <a:srgbClr val="2A3A6A"/>
                      </a:solidFill>
                      <a:prstDash val="solid"/>
                      <a:round/>
                      <a:headEnd type="none" w="med" len="med"/>
                      <a:tailEnd type="none" w="med" len="med"/>
                    </a:lnT>
                    <a:lnB w="6350" cap="flat" cmpd="sng" algn="ctr">
                      <a:solidFill>
                        <a:srgbClr val="2A3A6A"/>
                      </a:solidFill>
                      <a:prstDash val="solid"/>
                      <a:round/>
                      <a:headEnd type="none" w="med" len="med"/>
                      <a:tailEnd type="none" w="med" len="med"/>
                    </a:lnB>
                    <a:solidFill>
                      <a:srgbClr val="1A2744"/>
                    </a:solidFill>
                  </a:tcPr>
                </a:tc>
                <a:extLst>
                  <a:ext uri="{0D108BD9-81ED-4DB2-BD59-A6C34878D82A}">
                    <a16:rowId xmlns:a16="http://schemas.microsoft.com/office/drawing/2014/main" val="10006"/>
                  </a:ext>
                </a:extLst>
              </a:tr>
              <a:tr h="402336">
                <a:tc>
                  <a:txBody>
                    <a:bodyPr/>
                    <a:lstStyle/>
                    <a:p>
                      <a:pPr marL="0" indent="0">
                        <a:buNone/>
                      </a:pPr>
                      <a:r>
                        <a:rPr lang="en-US" sz="1000" dirty="0">
                          <a:solidFill>
                            <a:srgbClr val="FFFFFF"/>
                          </a:solidFill>
                          <a:latin typeface="Times New Roman" pitchFamily="34" charset="0"/>
                          <a:ea typeface="Times New Roman" pitchFamily="34" charset="-122"/>
                          <a:cs typeface="Times New Roman" pitchFamily="34" charset="-120"/>
                        </a:rPr>
                        <a:t>Rain Sensor + LDR x2</a:t>
                      </a:r>
                      <a:endParaRPr lang="en-US" sz="1000" dirty="0">
                        <a:latin typeface="Times New Roman" charset="0"/>
                        <a:ea typeface="Times New Roman" charset="0"/>
                        <a:cs typeface="Times New Roman" charset="0"/>
                      </a:endParaRPr>
                    </a:p>
                  </a:txBody>
                  <a:tcPr>
                    <a:lnL w="6350" cap="flat" cmpd="sng" algn="ctr">
                      <a:solidFill>
                        <a:srgbClr val="2A3A6A"/>
                      </a:solidFill>
                      <a:prstDash val="solid"/>
                      <a:round/>
                      <a:headEnd type="none" w="med" len="med"/>
                      <a:tailEnd type="none" w="med" len="med"/>
                    </a:lnL>
                    <a:lnR w="6350" cap="flat" cmpd="sng" algn="ctr">
                      <a:solidFill>
                        <a:srgbClr val="2A3A6A"/>
                      </a:solidFill>
                      <a:prstDash val="solid"/>
                      <a:round/>
                      <a:headEnd type="none" w="med" len="med"/>
                      <a:tailEnd type="none" w="med" len="med"/>
                    </a:lnR>
                    <a:lnT w="6350" cap="flat" cmpd="sng" algn="ctr">
                      <a:solidFill>
                        <a:srgbClr val="2A3A6A"/>
                      </a:solidFill>
                      <a:prstDash val="solid"/>
                      <a:round/>
                      <a:headEnd type="none" w="med" len="med"/>
                      <a:tailEnd type="none" w="med" len="med"/>
                    </a:lnT>
                    <a:lnB w="6350" cap="flat" cmpd="sng" algn="ctr">
                      <a:solidFill>
                        <a:srgbClr val="2A3A6A"/>
                      </a:solidFill>
                      <a:prstDash val="solid"/>
                      <a:round/>
                      <a:headEnd type="none" w="med" len="med"/>
                      <a:tailEnd type="none" w="med" len="med"/>
                    </a:lnB>
                    <a:solidFill>
                      <a:srgbClr val="0D1B3E"/>
                    </a:solidFill>
                  </a:tcPr>
                </a:tc>
                <a:tc>
                  <a:txBody>
                    <a:bodyPr/>
                    <a:lstStyle/>
                    <a:p>
                      <a:pPr marL="0" indent="0">
                        <a:buNone/>
                      </a:pPr>
                      <a:r>
                        <a:rPr lang="en-US" sz="1000" dirty="0">
                          <a:solidFill>
                            <a:srgbClr val="FFFFFF"/>
                          </a:solidFill>
                          <a:latin typeface="Times New Roman" pitchFamily="34" charset="0"/>
                          <a:ea typeface="Times New Roman" pitchFamily="34" charset="-122"/>
                          <a:cs typeface="Times New Roman" pitchFamily="34" charset="-120"/>
                        </a:rPr>
                        <a:t>Stops irrigation in rain; detects light level</a:t>
                      </a:r>
                      <a:endParaRPr lang="en-US" sz="1000" dirty="0">
                        <a:latin typeface="Times New Roman" charset="0"/>
                        <a:ea typeface="Times New Roman" charset="0"/>
                        <a:cs typeface="Times New Roman" charset="0"/>
                      </a:endParaRPr>
                    </a:p>
                  </a:txBody>
                  <a:tcPr>
                    <a:lnL w="6350" cap="flat" cmpd="sng" algn="ctr">
                      <a:solidFill>
                        <a:srgbClr val="2A3A6A"/>
                      </a:solidFill>
                      <a:prstDash val="solid"/>
                      <a:round/>
                      <a:headEnd type="none" w="med" len="med"/>
                      <a:tailEnd type="none" w="med" len="med"/>
                    </a:lnL>
                    <a:lnR w="6350" cap="flat" cmpd="sng" algn="ctr">
                      <a:solidFill>
                        <a:srgbClr val="2A3A6A"/>
                      </a:solidFill>
                      <a:prstDash val="solid"/>
                      <a:round/>
                      <a:headEnd type="none" w="med" len="med"/>
                      <a:tailEnd type="none" w="med" len="med"/>
                    </a:lnR>
                    <a:lnT w="6350" cap="flat" cmpd="sng" algn="ctr">
                      <a:solidFill>
                        <a:srgbClr val="2A3A6A"/>
                      </a:solidFill>
                      <a:prstDash val="solid"/>
                      <a:round/>
                      <a:headEnd type="none" w="med" len="med"/>
                      <a:tailEnd type="none" w="med" len="med"/>
                    </a:lnT>
                    <a:lnB w="6350" cap="flat" cmpd="sng" algn="ctr">
                      <a:solidFill>
                        <a:srgbClr val="2A3A6A"/>
                      </a:solidFill>
                      <a:prstDash val="solid"/>
                      <a:round/>
                      <a:headEnd type="none" w="med" len="med"/>
                      <a:tailEnd type="none" w="med" len="med"/>
                    </a:lnB>
                    <a:solidFill>
                      <a:srgbClr val="0D1B3E"/>
                    </a:solidFill>
                  </a:tcPr>
                </a:tc>
                <a:extLst>
                  <a:ext uri="{0D108BD9-81ED-4DB2-BD59-A6C34878D82A}">
                    <a16:rowId xmlns:a16="http://schemas.microsoft.com/office/drawing/2014/main" val="10007"/>
                  </a:ext>
                </a:extLst>
              </a:tr>
              <a:tr h="402336">
                <a:tc>
                  <a:txBody>
                    <a:bodyPr/>
                    <a:lstStyle/>
                    <a:p>
                      <a:pPr marL="0" indent="0">
                        <a:buNone/>
                      </a:pPr>
                      <a:r>
                        <a:rPr lang="en-US" sz="1000" dirty="0">
                          <a:solidFill>
                            <a:srgbClr val="FFFFFF"/>
                          </a:solidFill>
                          <a:latin typeface="Times New Roman" pitchFamily="34" charset="0"/>
                          <a:ea typeface="Times New Roman" pitchFamily="34" charset="-122"/>
                          <a:cs typeface="Times New Roman" pitchFamily="34" charset="-120"/>
                        </a:rPr>
                        <a:t>Relay + DC Water Pump</a:t>
                      </a:r>
                      <a:endParaRPr lang="en-US" sz="1000" dirty="0">
                        <a:latin typeface="Times New Roman" charset="0"/>
                        <a:ea typeface="Times New Roman" charset="0"/>
                        <a:cs typeface="Times New Roman" charset="0"/>
                      </a:endParaRPr>
                    </a:p>
                  </a:txBody>
                  <a:tcPr>
                    <a:lnL w="6350" cap="flat" cmpd="sng" algn="ctr">
                      <a:solidFill>
                        <a:srgbClr val="2A3A6A"/>
                      </a:solidFill>
                      <a:prstDash val="solid"/>
                      <a:round/>
                      <a:headEnd type="none" w="med" len="med"/>
                      <a:tailEnd type="none" w="med" len="med"/>
                    </a:lnL>
                    <a:lnR w="6350" cap="flat" cmpd="sng" algn="ctr">
                      <a:solidFill>
                        <a:srgbClr val="2A3A6A"/>
                      </a:solidFill>
                      <a:prstDash val="solid"/>
                      <a:round/>
                      <a:headEnd type="none" w="med" len="med"/>
                      <a:tailEnd type="none" w="med" len="med"/>
                    </a:lnR>
                    <a:lnT w="6350" cap="flat" cmpd="sng" algn="ctr">
                      <a:solidFill>
                        <a:srgbClr val="2A3A6A"/>
                      </a:solidFill>
                      <a:prstDash val="solid"/>
                      <a:round/>
                      <a:headEnd type="none" w="med" len="med"/>
                      <a:tailEnd type="none" w="med" len="med"/>
                    </a:lnT>
                    <a:lnB w="6350" cap="flat" cmpd="sng" algn="ctr">
                      <a:solidFill>
                        <a:srgbClr val="2A3A6A"/>
                      </a:solidFill>
                      <a:prstDash val="solid"/>
                      <a:round/>
                      <a:headEnd type="none" w="med" len="med"/>
                      <a:tailEnd type="none" w="med" len="med"/>
                    </a:lnB>
                    <a:solidFill>
                      <a:srgbClr val="1A2744"/>
                    </a:solidFill>
                  </a:tcPr>
                </a:tc>
                <a:tc>
                  <a:txBody>
                    <a:bodyPr/>
                    <a:lstStyle/>
                    <a:p>
                      <a:pPr marL="0" indent="0">
                        <a:buNone/>
                      </a:pPr>
                      <a:r>
                        <a:rPr lang="en-US" sz="1000" dirty="0">
                          <a:solidFill>
                            <a:srgbClr val="FFFFFF"/>
                          </a:solidFill>
                          <a:latin typeface="Times New Roman" pitchFamily="34" charset="0"/>
                          <a:ea typeface="Times New Roman" pitchFamily="34" charset="-122"/>
                          <a:cs typeface="Times New Roman" pitchFamily="34" charset="-120"/>
                        </a:rPr>
                        <a:t>Pump turns ON/OFF automatically via relay</a:t>
                      </a:r>
                      <a:endParaRPr lang="en-US" sz="1000" dirty="0">
                        <a:latin typeface="Times New Roman" charset="0"/>
                        <a:ea typeface="Times New Roman" charset="0"/>
                        <a:cs typeface="Times New Roman" charset="0"/>
                      </a:endParaRPr>
                    </a:p>
                  </a:txBody>
                  <a:tcPr>
                    <a:lnL w="6350" cap="flat" cmpd="sng" algn="ctr">
                      <a:solidFill>
                        <a:srgbClr val="2A3A6A"/>
                      </a:solidFill>
                      <a:prstDash val="solid"/>
                      <a:round/>
                      <a:headEnd type="none" w="med" len="med"/>
                      <a:tailEnd type="none" w="med" len="med"/>
                    </a:lnL>
                    <a:lnR w="6350" cap="flat" cmpd="sng" algn="ctr">
                      <a:solidFill>
                        <a:srgbClr val="2A3A6A"/>
                      </a:solidFill>
                      <a:prstDash val="solid"/>
                      <a:round/>
                      <a:headEnd type="none" w="med" len="med"/>
                      <a:tailEnd type="none" w="med" len="med"/>
                    </a:lnR>
                    <a:lnT w="6350" cap="flat" cmpd="sng" algn="ctr">
                      <a:solidFill>
                        <a:srgbClr val="2A3A6A"/>
                      </a:solidFill>
                      <a:prstDash val="solid"/>
                      <a:round/>
                      <a:headEnd type="none" w="med" len="med"/>
                      <a:tailEnd type="none" w="med" len="med"/>
                    </a:lnT>
                    <a:lnB w="6350" cap="flat" cmpd="sng" algn="ctr">
                      <a:solidFill>
                        <a:srgbClr val="2A3A6A"/>
                      </a:solidFill>
                      <a:prstDash val="solid"/>
                      <a:round/>
                      <a:headEnd type="none" w="med" len="med"/>
                      <a:tailEnd type="none" w="med" len="med"/>
                    </a:lnB>
                    <a:solidFill>
                      <a:srgbClr val="1A2744"/>
                    </a:solidFill>
                  </a:tcPr>
                </a:tc>
                <a:extLst>
                  <a:ext uri="{0D108BD9-81ED-4DB2-BD59-A6C34878D82A}">
                    <a16:rowId xmlns:a16="http://schemas.microsoft.com/office/drawing/2014/main" val="10008"/>
                  </a:ext>
                </a:extLst>
              </a:tr>
            </a:tbl>
          </a:graphicData>
        </a:graphic>
      </p:graphicFrame>
      <p:sp>
        <p:nvSpPr>
          <p:cNvPr id="8" name="Text 5"/>
          <p:cNvSpPr/>
          <p:nvPr/>
        </p:nvSpPr>
        <p:spPr>
          <a:xfrm>
            <a:off x="5486400" y="731520"/>
            <a:ext cx="3383280" cy="320040"/>
          </a:xfrm>
          <a:prstGeom prst="rect">
            <a:avLst/>
          </a:prstGeom>
          <a:noFill/>
          <a:ln/>
        </p:spPr>
        <p:txBody>
          <a:bodyPr wrap="square" lIns="0" tIns="0" rIns="0" bIns="0" rtlCol="0" anchor="ctr"/>
          <a:lstStyle/>
          <a:p>
            <a:pPr marL="0" indent="0">
              <a:buNone/>
            </a:pPr>
            <a:r>
              <a:rPr lang="en-US" sz="2000" b="1" dirty="0">
                <a:solidFill>
                  <a:srgbClr val="FFC000"/>
                </a:solidFill>
                <a:latin typeface="Times New Roman" pitchFamily="34" charset="0"/>
                <a:ea typeface="Times New Roman" pitchFamily="34" charset="-122"/>
                <a:cs typeface="Times New Roman" pitchFamily="34" charset="-120"/>
              </a:rPr>
              <a:t>Software Tools</a:t>
            </a:r>
            <a:endParaRPr lang="en-US" sz="2000" dirty="0"/>
          </a:p>
        </p:txBody>
      </p:sp>
      <p:sp>
        <p:nvSpPr>
          <p:cNvPr id="9" name="Shape 6"/>
          <p:cNvSpPr/>
          <p:nvPr/>
        </p:nvSpPr>
        <p:spPr>
          <a:xfrm>
            <a:off x="5486400" y="1078992"/>
            <a:ext cx="3383280" cy="640080"/>
          </a:xfrm>
          <a:prstGeom prst="rect">
            <a:avLst/>
          </a:prstGeom>
          <a:solidFill>
            <a:srgbClr val="1A2744"/>
          </a:solidFill>
          <a:ln w="6350">
            <a:solidFill>
              <a:srgbClr val="2A3A6A"/>
            </a:solidFill>
            <a:prstDash val="solid"/>
          </a:ln>
        </p:spPr>
      </p:sp>
      <p:sp>
        <p:nvSpPr>
          <p:cNvPr id="10" name="Text 7"/>
          <p:cNvSpPr/>
          <p:nvPr/>
        </p:nvSpPr>
        <p:spPr>
          <a:xfrm>
            <a:off x="5577840" y="1115568"/>
            <a:ext cx="3200400" cy="256032"/>
          </a:xfrm>
          <a:prstGeom prst="rect">
            <a:avLst/>
          </a:prstGeom>
          <a:noFill/>
          <a:ln/>
        </p:spPr>
        <p:txBody>
          <a:bodyPr wrap="square" lIns="0" tIns="0" rIns="0" bIns="0" rtlCol="0" anchor="ctr"/>
          <a:lstStyle/>
          <a:p>
            <a:pPr marL="0" indent="0">
              <a:buNone/>
            </a:pPr>
            <a:r>
              <a:rPr lang="en-US" sz="1200" b="1" dirty="0">
                <a:solidFill>
                  <a:srgbClr val="FFC000"/>
                </a:solidFill>
                <a:latin typeface="Times New Roman" pitchFamily="34" charset="0"/>
                <a:ea typeface="Times New Roman" pitchFamily="34" charset="-122"/>
                <a:cs typeface="Times New Roman" pitchFamily="34" charset="-120"/>
              </a:rPr>
              <a:t>Arduino IDE</a:t>
            </a:r>
            <a:endParaRPr lang="en-US" sz="1200" dirty="0"/>
          </a:p>
        </p:txBody>
      </p:sp>
      <p:sp>
        <p:nvSpPr>
          <p:cNvPr id="11" name="Text 8"/>
          <p:cNvSpPr/>
          <p:nvPr/>
        </p:nvSpPr>
        <p:spPr>
          <a:xfrm>
            <a:off x="5577840" y="1389888"/>
            <a:ext cx="3200400" cy="274320"/>
          </a:xfrm>
          <a:prstGeom prst="rect">
            <a:avLst/>
          </a:prstGeom>
          <a:noFill/>
          <a:ln/>
        </p:spPr>
        <p:txBody>
          <a:bodyPr wrap="square" lIns="0" tIns="0" rIns="0" bIns="0" rtlCol="0" anchor="ctr"/>
          <a:lstStyle/>
          <a:p>
            <a:pPr marL="0" indent="0">
              <a:buNone/>
            </a:pPr>
            <a:r>
              <a:rPr lang="en-US" sz="1400" dirty="0">
                <a:solidFill>
                  <a:srgbClr val="FFFFFF"/>
                </a:solidFill>
                <a:latin typeface="Times New Roman" pitchFamily="34" charset="0"/>
                <a:ea typeface="Times New Roman" pitchFamily="34" charset="-122"/>
                <a:cs typeface="Times New Roman" pitchFamily="34" charset="-120"/>
              </a:rPr>
              <a:t>Programming ESP32 microcontroller</a:t>
            </a:r>
            <a:endParaRPr lang="en-US" sz="1400" dirty="0"/>
          </a:p>
        </p:txBody>
      </p:sp>
      <p:sp>
        <p:nvSpPr>
          <p:cNvPr id="12" name="Shape 9"/>
          <p:cNvSpPr/>
          <p:nvPr/>
        </p:nvSpPr>
        <p:spPr>
          <a:xfrm>
            <a:off x="5486400" y="1792224"/>
            <a:ext cx="3383280" cy="640080"/>
          </a:xfrm>
          <a:prstGeom prst="rect">
            <a:avLst/>
          </a:prstGeom>
          <a:solidFill>
            <a:srgbClr val="0D1B3E"/>
          </a:solidFill>
          <a:ln w="6350">
            <a:solidFill>
              <a:srgbClr val="2A3A6A"/>
            </a:solidFill>
            <a:prstDash val="solid"/>
          </a:ln>
        </p:spPr>
      </p:sp>
      <p:sp>
        <p:nvSpPr>
          <p:cNvPr id="13" name="Text 10"/>
          <p:cNvSpPr/>
          <p:nvPr/>
        </p:nvSpPr>
        <p:spPr>
          <a:xfrm>
            <a:off x="5577840" y="1828800"/>
            <a:ext cx="3200400" cy="256032"/>
          </a:xfrm>
          <a:prstGeom prst="rect">
            <a:avLst/>
          </a:prstGeom>
          <a:noFill/>
          <a:ln/>
        </p:spPr>
        <p:txBody>
          <a:bodyPr wrap="square" lIns="0" tIns="0" rIns="0" bIns="0" rtlCol="0" anchor="ctr"/>
          <a:lstStyle/>
          <a:p>
            <a:pPr marL="0" indent="0">
              <a:buNone/>
            </a:pPr>
            <a:r>
              <a:rPr lang="en-US" sz="1200" b="1" dirty="0">
                <a:solidFill>
                  <a:srgbClr val="FFC000"/>
                </a:solidFill>
                <a:latin typeface="Times New Roman" pitchFamily="34" charset="0"/>
                <a:ea typeface="Times New Roman" pitchFamily="34" charset="-122"/>
                <a:cs typeface="Times New Roman" pitchFamily="34" charset="-120"/>
              </a:rPr>
              <a:t>MATLAB / Simulink</a:t>
            </a:r>
            <a:endParaRPr lang="en-US" sz="1200" dirty="0"/>
          </a:p>
        </p:txBody>
      </p:sp>
      <p:sp>
        <p:nvSpPr>
          <p:cNvPr id="14" name="Text 11"/>
          <p:cNvSpPr/>
          <p:nvPr/>
        </p:nvSpPr>
        <p:spPr>
          <a:xfrm>
            <a:off x="5577840" y="2103120"/>
            <a:ext cx="3200400" cy="274320"/>
          </a:xfrm>
          <a:prstGeom prst="rect">
            <a:avLst/>
          </a:prstGeom>
          <a:noFill/>
          <a:ln/>
        </p:spPr>
        <p:txBody>
          <a:bodyPr wrap="square" lIns="0" tIns="0" rIns="0" bIns="0" rtlCol="0" anchor="ctr"/>
          <a:lstStyle/>
          <a:p>
            <a:pPr marL="0" indent="0">
              <a:buNone/>
            </a:pPr>
            <a:r>
              <a:rPr lang="en-US" sz="1400" dirty="0">
                <a:solidFill>
                  <a:srgbClr val="FFFFFF"/>
                </a:solidFill>
                <a:latin typeface="Times New Roman" pitchFamily="34" charset="0"/>
                <a:ea typeface="Times New Roman" pitchFamily="34" charset="-122"/>
                <a:cs typeface="Times New Roman" pitchFamily="34" charset="-120"/>
              </a:rPr>
              <a:t>Wind energy system simulation</a:t>
            </a:r>
            <a:endParaRPr lang="en-US" sz="1400" dirty="0"/>
          </a:p>
        </p:txBody>
      </p:sp>
      <p:sp>
        <p:nvSpPr>
          <p:cNvPr id="15" name="Shape 12"/>
          <p:cNvSpPr/>
          <p:nvPr/>
        </p:nvSpPr>
        <p:spPr>
          <a:xfrm>
            <a:off x="5486400" y="2505456"/>
            <a:ext cx="3383280" cy="640080"/>
          </a:xfrm>
          <a:prstGeom prst="rect">
            <a:avLst/>
          </a:prstGeom>
          <a:solidFill>
            <a:srgbClr val="1A2744"/>
          </a:solidFill>
          <a:ln w="6350">
            <a:solidFill>
              <a:srgbClr val="2A3A6A"/>
            </a:solidFill>
            <a:prstDash val="solid"/>
          </a:ln>
        </p:spPr>
      </p:sp>
      <p:sp>
        <p:nvSpPr>
          <p:cNvPr id="16" name="Text 13"/>
          <p:cNvSpPr/>
          <p:nvPr/>
        </p:nvSpPr>
        <p:spPr>
          <a:xfrm>
            <a:off x="5577840" y="2542032"/>
            <a:ext cx="3200400" cy="256032"/>
          </a:xfrm>
          <a:prstGeom prst="rect">
            <a:avLst/>
          </a:prstGeom>
          <a:noFill/>
          <a:ln/>
        </p:spPr>
        <p:txBody>
          <a:bodyPr wrap="square" lIns="0" tIns="0" rIns="0" bIns="0" rtlCol="0" anchor="ctr"/>
          <a:lstStyle/>
          <a:p>
            <a:pPr marL="0" indent="0">
              <a:buNone/>
            </a:pPr>
            <a:r>
              <a:rPr lang="en-US" sz="1200" b="1" dirty="0">
                <a:solidFill>
                  <a:srgbClr val="FFC000"/>
                </a:solidFill>
                <a:latin typeface="Times New Roman" pitchFamily="34" charset="0"/>
                <a:ea typeface="Times New Roman" pitchFamily="34" charset="-122"/>
                <a:cs typeface="Times New Roman" pitchFamily="34" charset="-120"/>
              </a:rPr>
              <a:t>AutoCAD</a:t>
            </a:r>
            <a:endParaRPr lang="en-US" sz="1200" dirty="0"/>
          </a:p>
        </p:txBody>
      </p:sp>
      <p:sp>
        <p:nvSpPr>
          <p:cNvPr id="17" name="Text 14"/>
          <p:cNvSpPr/>
          <p:nvPr/>
        </p:nvSpPr>
        <p:spPr>
          <a:xfrm>
            <a:off x="5577840" y="2816352"/>
            <a:ext cx="3200400" cy="274320"/>
          </a:xfrm>
          <a:prstGeom prst="rect">
            <a:avLst/>
          </a:prstGeom>
          <a:noFill/>
          <a:ln/>
        </p:spPr>
        <p:txBody>
          <a:bodyPr wrap="square" lIns="0" tIns="0" rIns="0" bIns="0" rtlCol="0" anchor="ctr"/>
          <a:lstStyle/>
          <a:p>
            <a:pPr marL="0" indent="0">
              <a:buNone/>
            </a:pPr>
            <a:r>
              <a:rPr lang="en-US" sz="1400" dirty="0">
                <a:solidFill>
                  <a:srgbClr val="FFFFFF"/>
                </a:solidFill>
                <a:latin typeface="Times New Roman" pitchFamily="34" charset="0"/>
                <a:ea typeface="Times New Roman" pitchFamily="34" charset="-122"/>
                <a:cs typeface="Times New Roman" pitchFamily="34" charset="-120"/>
              </a:rPr>
              <a:t>Circuit &amp; layout design drawings</a:t>
            </a:r>
            <a:endParaRPr lang="en-US" sz="1400" dirty="0"/>
          </a:p>
        </p:txBody>
      </p:sp>
      <p:sp>
        <p:nvSpPr>
          <p:cNvPr id="18" name="Shape 15"/>
          <p:cNvSpPr/>
          <p:nvPr/>
        </p:nvSpPr>
        <p:spPr>
          <a:xfrm>
            <a:off x="5486400" y="3218688"/>
            <a:ext cx="3383280" cy="640080"/>
          </a:xfrm>
          <a:prstGeom prst="rect">
            <a:avLst/>
          </a:prstGeom>
          <a:solidFill>
            <a:srgbClr val="0D1B3E"/>
          </a:solidFill>
          <a:ln w="6350">
            <a:solidFill>
              <a:srgbClr val="2A3A6A"/>
            </a:solidFill>
            <a:prstDash val="solid"/>
          </a:ln>
        </p:spPr>
      </p:sp>
      <p:sp>
        <p:nvSpPr>
          <p:cNvPr id="19" name="Text 16"/>
          <p:cNvSpPr/>
          <p:nvPr/>
        </p:nvSpPr>
        <p:spPr>
          <a:xfrm>
            <a:off x="5577840" y="3255264"/>
            <a:ext cx="3200400" cy="256032"/>
          </a:xfrm>
          <a:prstGeom prst="rect">
            <a:avLst/>
          </a:prstGeom>
          <a:noFill/>
          <a:ln/>
        </p:spPr>
        <p:txBody>
          <a:bodyPr wrap="square" lIns="0" tIns="0" rIns="0" bIns="0" rtlCol="0" anchor="ctr"/>
          <a:lstStyle/>
          <a:p>
            <a:pPr marL="0" indent="0">
              <a:buNone/>
            </a:pPr>
            <a:r>
              <a:rPr lang="en-US" sz="1200" b="1" dirty="0">
                <a:solidFill>
                  <a:srgbClr val="FFC000"/>
                </a:solidFill>
                <a:latin typeface="Times New Roman" pitchFamily="34" charset="0"/>
                <a:ea typeface="Times New Roman" pitchFamily="34" charset="-122"/>
                <a:cs typeface="Times New Roman" pitchFamily="34" charset="-120"/>
              </a:rPr>
              <a:t>Proteus</a:t>
            </a:r>
            <a:endParaRPr lang="en-US" sz="1200" dirty="0"/>
          </a:p>
        </p:txBody>
      </p:sp>
      <p:sp>
        <p:nvSpPr>
          <p:cNvPr id="20" name="Text 17"/>
          <p:cNvSpPr/>
          <p:nvPr/>
        </p:nvSpPr>
        <p:spPr>
          <a:xfrm>
            <a:off x="5577840" y="3529584"/>
            <a:ext cx="3200400" cy="274320"/>
          </a:xfrm>
          <a:prstGeom prst="rect">
            <a:avLst/>
          </a:prstGeom>
          <a:noFill/>
          <a:ln/>
        </p:spPr>
        <p:txBody>
          <a:bodyPr wrap="square" lIns="0" tIns="0" rIns="0" bIns="0" rtlCol="0" anchor="ctr"/>
          <a:lstStyle/>
          <a:p>
            <a:pPr marL="0" indent="0">
              <a:buNone/>
            </a:pPr>
            <a:r>
              <a:rPr lang="en-US" sz="1400" dirty="0">
                <a:solidFill>
                  <a:srgbClr val="FFFFFF"/>
                </a:solidFill>
                <a:latin typeface="Times New Roman" pitchFamily="34" charset="0"/>
                <a:ea typeface="Times New Roman" pitchFamily="34" charset="-122"/>
                <a:cs typeface="Times New Roman" pitchFamily="34" charset="-120"/>
              </a:rPr>
              <a:t>Circuit diagram simulation</a:t>
            </a:r>
            <a:endParaRPr lang="en-US" sz="1400" dirty="0"/>
          </a:p>
        </p:txBody>
      </p:sp>
      <p:sp>
        <p:nvSpPr>
          <p:cNvPr id="21" name="Shape 18"/>
          <p:cNvSpPr/>
          <p:nvPr/>
        </p:nvSpPr>
        <p:spPr>
          <a:xfrm>
            <a:off x="5486400" y="3931920"/>
            <a:ext cx="3383280" cy="640080"/>
          </a:xfrm>
          <a:prstGeom prst="rect">
            <a:avLst/>
          </a:prstGeom>
          <a:solidFill>
            <a:srgbClr val="1A2744"/>
          </a:solidFill>
          <a:ln w="6350">
            <a:solidFill>
              <a:srgbClr val="2A3A6A"/>
            </a:solidFill>
            <a:prstDash val="solid"/>
          </a:ln>
        </p:spPr>
      </p:sp>
      <p:sp>
        <p:nvSpPr>
          <p:cNvPr id="22" name="Text 19"/>
          <p:cNvSpPr/>
          <p:nvPr/>
        </p:nvSpPr>
        <p:spPr>
          <a:xfrm>
            <a:off x="5577840" y="3968496"/>
            <a:ext cx="3200400" cy="256032"/>
          </a:xfrm>
          <a:prstGeom prst="rect">
            <a:avLst/>
          </a:prstGeom>
          <a:noFill/>
          <a:ln/>
        </p:spPr>
        <p:txBody>
          <a:bodyPr wrap="square" lIns="0" tIns="0" rIns="0" bIns="0" rtlCol="0" anchor="ctr"/>
          <a:lstStyle/>
          <a:p>
            <a:pPr marL="0" indent="0">
              <a:buNone/>
            </a:pPr>
            <a:r>
              <a:rPr lang="en-US" sz="1200" b="1" dirty="0">
                <a:solidFill>
                  <a:srgbClr val="FFC000"/>
                </a:solidFill>
                <a:latin typeface="Times New Roman" pitchFamily="34" charset="0"/>
                <a:ea typeface="Times New Roman" pitchFamily="34" charset="-122"/>
                <a:cs typeface="Times New Roman" pitchFamily="34" charset="-120"/>
              </a:rPr>
              <a:t>MS Word / PowerPoint</a:t>
            </a:r>
            <a:endParaRPr lang="en-US" sz="1200" dirty="0"/>
          </a:p>
        </p:txBody>
      </p:sp>
      <p:sp>
        <p:nvSpPr>
          <p:cNvPr id="23" name="Text 20"/>
          <p:cNvSpPr/>
          <p:nvPr/>
        </p:nvSpPr>
        <p:spPr>
          <a:xfrm>
            <a:off x="5577840" y="4242816"/>
            <a:ext cx="3200400" cy="274320"/>
          </a:xfrm>
          <a:prstGeom prst="rect">
            <a:avLst/>
          </a:prstGeom>
          <a:noFill/>
          <a:ln/>
        </p:spPr>
        <p:txBody>
          <a:bodyPr wrap="square" lIns="0" tIns="0" rIns="0" bIns="0" rtlCol="0" anchor="ctr"/>
          <a:lstStyle/>
          <a:p>
            <a:pPr marL="0" indent="0">
              <a:buNone/>
            </a:pPr>
            <a:r>
              <a:rPr lang="en-US" sz="1400" dirty="0">
                <a:solidFill>
                  <a:srgbClr val="FFFFFF"/>
                </a:solidFill>
                <a:latin typeface="Times New Roman" pitchFamily="34" charset="0"/>
                <a:ea typeface="Times New Roman" pitchFamily="34" charset="-122"/>
                <a:cs typeface="Times New Roman" pitchFamily="34" charset="-120"/>
              </a:rPr>
              <a:t>Project documentation</a:t>
            </a:r>
            <a:endParaRPr lang="en-US" sz="1400" dirty="0"/>
          </a:p>
        </p:txBody>
      </p:sp>
      <p:sp>
        <p:nvSpPr>
          <p:cNvPr id="24" name="Shape 21"/>
          <p:cNvSpPr/>
          <p:nvPr/>
        </p:nvSpPr>
        <p:spPr>
          <a:xfrm>
            <a:off x="0" y="4818888"/>
            <a:ext cx="9144000" cy="324612"/>
          </a:xfrm>
          <a:prstGeom prst="rect">
            <a:avLst/>
          </a:prstGeom>
          <a:solidFill>
            <a:srgbClr val="0A1040"/>
          </a:solidFill>
          <a:ln w="12700">
            <a:solidFill>
              <a:srgbClr val="0A1040"/>
            </a:solidFill>
            <a:prstDash val="solid"/>
          </a:ln>
        </p:spPr>
      </p:sp>
      <p:sp>
        <p:nvSpPr>
          <p:cNvPr id="25" name="Text 22"/>
          <p:cNvSpPr/>
          <p:nvPr/>
        </p:nvSpPr>
        <p:spPr>
          <a:xfrm>
            <a:off x="182880" y="4818888"/>
            <a:ext cx="8778240" cy="324612"/>
          </a:xfrm>
          <a:prstGeom prst="rect">
            <a:avLst/>
          </a:prstGeom>
          <a:noFill/>
          <a:ln/>
        </p:spPr>
        <p:txBody>
          <a:bodyPr wrap="square" lIns="0" tIns="0" rIns="0" bIns="0" rtlCol="0" anchor="ctr"/>
          <a:lstStyle/>
          <a:p>
            <a:pPr marL="0" indent="0" algn="ctr">
              <a:buNone/>
            </a:pPr>
            <a:endParaRPr lang="en-US" sz="900" dirty="0"/>
          </a:p>
        </p:txBody>
      </p:sp>
      <p:sp>
        <p:nvSpPr>
          <p:cNvPr id="26" name="SlideNum"/>
          <p:cNvSpPr/>
          <p:nvPr/>
        </p:nvSpPr>
        <p:spPr>
          <a:xfrm>
            <a:off x="8500000" y="4840000"/>
            <a:ext cx="600000" cy="250000"/>
          </a:xfrm>
          <a:prstGeom prst="rect">
            <a:avLst/>
          </a:prstGeom>
          <a:noFill/>
          <a:ln/>
        </p:spPr>
        <p:txBody>
          <a:bodyPr wrap="square" lIns="0" tIns="0" rIns="0" bIns="0" rtlCol="0" anchor="ctr"/>
          <a:lstStyle/>
          <a:p>
            <a:pPr marL="0" indent="0" algn="r">
              <a:buNone/>
            </a:pPr>
            <a:r>
              <a:rPr lang="en-US" sz="1100" b="0" dirty="0">
                <a:solidFill>
                  <a:srgbClr val="FFC000"/>
                </a:solidFill>
                <a:latin typeface="Times New Roman" pitchFamily="34" charset="0"/>
              </a:rPr>
              <a:t>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Hardware Demonstration">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A1628"/>
          </a:solidFill>
          <a:ln/>
        </p:spPr>
        <p:txBody>
          <a:bodyPr/>
          <a:lstStyle/>
          <a:p>
            <a:endParaRPr lang="en-US" dirty="0"/>
          </a:p>
        </p:txBody>
      </p:sp>
      <p:sp>
        <p:nvSpPr>
          <p:cNvPr id="3" name="Shape 1"/>
          <p:cNvSpPr/>
          <p:nvPr/>
        </p:nvSpPr>
        <p:spPr>
          <a:xfrm>
            <a:off x="0" y="0"/>
            <a:ext cx="9144000" cy="658368"/>
          </a:xfrm>
          <a:prstGeom prst="rect">
            <a:avLst/>
          </a:prstGeom>
          <a:solidFill>
            <a:srgbClr val="0A1628"/>
          </a:solidFill>
          <a:ln/>
        </p:spPr>
      </p:sp>
      <p:sp>
        <p:nvSpPr>
          <p:cNvPr id="4" name="Shape 2"/>
          <p:cNvSpPr/>
          <p:nvPr/>
        </p:nvSpPr>
        <p:spPr>
          <a:xfrm>
            <a:off x="0" y="0"/>
            <a:ext cx="109728" cy="658368"/>
          </a:xfrm>
          <a:prstGeom prst="rect">
            <a:avLst/>
          </a:prstGeom>
          <a:solidFill>
            <a:srgbClr val="FFC000"/>
          </a:solidFill>
          <a:ln/>
        </p:spPr>
      </p:sp>
      <p:sp>
        <p:nvSpPr>
          <p:cNvPr id="5" name="Text 3"/>
          <p:cNvSpPr/>
          <p:nvPr/>
        </p:nvSpPr>
        <p:spPr>
          <a:xfrm>
            <a:off x="201168" y="0"/>
            <a:ext cx="8778240" cy="658368"/>
          </a:xfrm>
          <a:prstGeom prst="rect">
            <a:avLst/>
          </a:prstGeom>
          <a:noFill/>
          <a:ln/>
        </p:spPr>
        <p:txBody>
          <a:bodyPr wrap="square" lIns="0" tIns="0" rIns="0" bIns="0" rtlCol="0" anchor="ctr"/>
          <a:lstStyle/>
          <a:p>
            <a:pPr marL="0" indent="0">
              <a:buNone/>
            </a:pPr>
            <a:r>
              <a:rPr lang="en-US" sz="3200" b="1" dirty="0">
                <a:solidFill>
                  <a:srgbClr val="FFFFFF"/>
                </a:solidFill>
                <a:latin typeface="Times New Roman" pitchFamily="34" charset="0"/>
              </a:rPr>
              <a:t>Hardware Demonstration</a:t>
            </a:r>
          </a:p>
        </p:txBody>
      </p:sp>
      <p:sp>
        <p:nvSpPr>
          <p:cNvPr id="6" name="Text 6"/>
          <p:cNvSpPr/>
          <p:nvPr/>
        </p:nvSpPr>
        <p:spPr>
          <a:xfrm>
            <a:off x="182880" y="720000"/>
            <a:ext cx="8778240" cy="4050000"/>
          </a:xfrm>
          <a:prstGeom prst="rect">
            <a:avLst/>
          </a:prstGeom>
          <a:noFill/>
          <a:ln/>
        </p:spPr>
        <p:txBody>
          <a:bodyPr wrap="square" lIns="50800" tIns="50800" rIns="50800" bIns="50800" rtlCol="0" anchor="t"/>
          <a:lstStyle/>
          <a:p>
            <a:pPr marL="0" indent="0">
              <a:buNone/>
            </a:pPr>
            <a:r>
              <a:rPr lang="en-US" sz="1600" b="1" dirty="0">
                <a:solidFill>
                  <a:srgbClr val="FFC000"/>
                </a:solidFill>
                <a:latin typeface="Times New Roman" pitchFamily="34" charset="0"/>
              </a:rPr>
              <a:t>Prototype Overview</a:t>
            </a:r>
          </a:p>
          <a:p>
            <a:pPr marL="342900" indent="-342900">
              <a:buSzPct val="100000"/>
              <a:buChar char="•"/>
            </a:pPr>
            <a:r>
              <a:rPr lang="en-US" sz="1400" dirty="0">
                <a:solidFill>
                  <a:srgbClr val="FFFFFF"/>
                </a:solidFill>
                <a:latin typeface="Times New Roman" pitchFamily="34" charset="0"/>
              </a:rPr>
              <a:t>A fully assembled hardware prototype demonstrating wind-powered smart irrigation</a:t>
            </a:r>
          </a:p>
          <a:p>
            <a:pPr marL="342900" indent="-342900">
              <a:buSzPct val="100000"/>
              <a:buChar char="•"/>
            </a:pPr>
            <a:r>
              <a:rPr lang="en-US" sz="1400" dirty="0">
                <a:solidFill>
                  <a:srgbClr val="FFFFFF"/>
                </a:solidFill>
                <a:latin typeface="Times New Roman" pitchFamily="34" charset="0"/>
              </a:rPr>
              <a:t>Components integrated: windmill, DC generator, BMS, ESP32, sensors, relay, OLED, water pump</a:t>
            </a:r>
          </a:p>
          <a:p>
            <a:pPr marL="0" indent="0">
              <a:buNone/>
            </a:pPr>
            <a:r>
              <a:rPr lang="en-US" sz="1600" b="1" dirty="0">
                <a:solidFill>
                  <a:srgbClr val="FFC000"/>
                </a:solidFill>
                <a:latin typeface="Times New Roman" pitchFamily="34" charset="0"/>
              </a:rPr>
              <a:t>Live Demonstration Steps</a:t>
            </a:r>
          </a:p>
          <a:p>
            <a:pPr marL="342900" indent="-342900">
              <a:buSzPct val="100000"/>
              <a:buChar char="•"/>
            </a:pPr>
            <a:r>
              <a:rPr lang="en-US" sz="1400" dirty="0">
                <a:solidFill>
                  <a:srgbClr val="FFFFFF"/>
                </a:solidFill>
                <a:latin typeface="Times New Roman" pitchFamily="34" charset="0"/>
              </a:rPr>
              <a:t>Step 1: Wind is applied to the turbine blades — blades rotate and generator produces DC power</a:t>
            </a:r>
          </a:p>
          <a:p>
            <a:pPr marL="342900" indent="-342900">
              <a:buSzPct val="100000"/>
              <a:buChar char="•"/>
            </a:pPr>
            <a:r>
              <a:rPr lang="en-US" sz="1400" dirty="0">
                <a:solidFill>
                  <a:srgbClr val="FFFFFF"/>
                </a:solidFill>
                <a:latin typeface="Times New Roman" pitchFamily="34" charset="0"/>
              </a:rPr>
              <a:t>Step 2: Buck converter regulates voltage; BMS charges lithium battery safely</a:t>
            </a:r>
          </a:p>
          <a:p>
            <a:pPr marL="342900" indent="-342900">
              <a:buSzPct val="100000"/>
              <a:buChar char="•"/>
            </a:pPr>
            <a:r>
              <a:rPr lang="en-US" sz="1400" dirty="0">
                <a:solidFill>
                  <a:srgbClr val="FFFFFF"/>
                </a:solidFill>
                <a:latin typeface="Times New Roman" pitchFamily="34" charset="0"/>
              </a:rPr>
              <a:t>Step 3: ESP32 reads soil moisture sensor — if dry, relay activates the water pump</a:t>
            </a:r>
          </a:p>
          <a:p>
            <a:pPr marL="342900" indent="-342900">
              <a:buSzPct val="100000"/>
              <a:buChar char="•"/>
            </a:pPr>
            <a:r>
              <a:rPr lang="en-US" sz="1400" dirty="0">
                <a:solidFill>
                  <a:srgbClr val="FFFFFF"/>
                </a:solidFill>
                <a:latin typeface="Times New Roman" pitchFamily="34" charset="0"/>
              </a:rPr>
              <a:t>Step 4: Rain sensor detects rainfall — pump automatically switches OFF</a:t>
            </a:r>
          </a:p>
          <a:p>
            <a:pPr marL="342900" indent="-342900">
              <a:buSzPct val="100000"/>
              <a:buChar char="•"/>
            </a:pPr>
            <a:r>
              <a:rPr lang="en-US" sz="1400" dirty="0">
                <a:solidFill>
                  <a:srgbClr val="FFFFFF"/>
                </a:solidFill>
                <a:latin typeface="Times New Roman" pitchFamily="34" charset="0"/>
              </a:rPr>
              <a:t>Step 5: OLED display shows live readings: moisture %, rain status, battery level</a:t>
            </a:r>
          </a:p>
          <a:p>
            <a:pPr marL="0" indent="0">
              <a:buNone/>
            </a:pPr>
            <a:r>
              <a:rPr lang="en-US" sz="1600" b="1" dirty="0">
                <a:solidFill>
                  <a:srgbClr val="FFC000"/>
                </a:solidFill>
                <a:latin typeface="Times New Roman" pitchFamily="34" charset="0"/>
              </a:rPr>
              <a:t>Demonstration Notes</a:t>
            </a:r>
          </a:p>
          <a:p>
            <a:pPr marL="342900" indent="-342900">
              <a:buSzPct val="100000"/>
              <a:buChar char="•"/>
            </a:pPr>
            <a:r>
              <a:rPr lang="en-US" sz="1400" dirty="0">
                <a:solidFill>
                  <a:srgbClr val="FFFFFF"/>
                </a:solidFill>
                <a:latin typeface="Times New Roman" pitchFamily="34" charset="0"/>
              </a:rPr>
              <a:t>Video demonstration with audio commentary is available — play during presentation</a:t>
            </a:r>
          </a:p>
          <a:p>
            <a:pPr marL="342900" indent="-342900">
              <a:buSzPct val="100000"/>
              <a:buChar char="•"/>
            </a:pPr>
            <a:r>
              <a:rPr lang="en-US" sz="1400" dirty="0">
                <a:solidFill>
                  <a:srgbClr val="FFFFFF"/>
                </a:solidFill>
                <a:latin typeface="Times New Roman" pitchFamily="34" charset="0"/>
              </a:rPr>
              <a:t>Prototype tested in lab with fan simulation at 3-5 m/s equivalent wind speed</a:t>
            </a:r>
          </a:p>
          <a:p>
            <a:pPr marL="342900" indent="-342900">
              <a:buSzPct val="100000"/>
              <a:buChar char="•"/>
            </a:pPr>
            <a:r>
              <a:rPr lang="en-US" sz="1400" dirty="0">
                <a:solidFill>
                  <a:srgbClr val="FFFFFF"/>
                </a:solidFill>
                <a:latin typeface="Times New Roman" pitchFamily="34" charset="0"/>
              </a:rPr>
              <a:t>System response time for sensor to relay trigger: less than 2 seconds</a:t>
            </a:r>
          </a:p>
        </p:txBody>
      </p:sp>
      <p:sp>
        <p:nvSpPr>
          <p:cNvPr id="50" name="Shape Footer"/>
          <p:cNvSpPr/>
          <p:nvPr/>
        </p:nvSpPr>
        <p:spPr>
          <a:xfrm>
            <a:off x="0" y="4818888"/>
            <a:ext cx="9144000" cy="324612"/>
          </a:xfrm>
          <a:prstGeom prst="rect">
            <a:avLst/>
          </a:prstGeom>
          <a:solidFill>
            <a:srgbClr val="0A1040"/>
          </a:solidFill>
          <a:ln/>
        </p:spPr>
      </p:sp>
      <p:sp>
        <p:nvSpPr>
          <p:cNvPr id="51" name="SlideNum"/>
          <p:cNvSpPr/>
          <p:nvPr/>
        </p:nvSpPr>
        <p:spPr>
          <a:xfrm>
            <a:off x="8500000" y="4840000"/>
            <a:ext cx="600000" cy="250000"/>
          </a:xfrm>
          <a:prstGeom prst="rect">
            <a:avLst/>
          </a:prstGeom>
          <a:noFill/>
          <a:ln/>
        </p:spPr>
        <p:txBody>
          <a:bodyPr wrap="square" lIns="0" tIns="0" rIns="0" bIns="0" rtlCol="0" anchor="ctr"/>
          <a:lstStyle/>
          <a:p>
            <a:pPr marL="0" indent="0" algn="r">
              <a:buNone/>
            </a:pPr>
            <a:r>
              <a:rPr lang="en-US" sz="1100" b="0" dirty="0">
                <a:solidFill>
                  <a:srgbClr val="FFC000"/>
                </a:solidFill>
                <a:latin typeface="Times New Roman" pitchFamily="34" charset="0"/>
              </a:rPr>
              <a:t>15</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Result and Discussion -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A1628"/>
          </a:solidFill>
          <a:ln/>
        </p:spPr>
        <p:txBody>
          <a:bodyPr/>
          <a:lstStyle/>
          <a:p>
            <a:endParaRPr lang="en-US" dirty="0"/>
          </a:p>
        </p:txBody>
      </p:sp>
      <p:sp>
        <p:nvSpPr>
          <p:cNvPr id="3" name="Shape 1"/>
          <p:cNvSpPr/>
          <p:nvPr/>
        </p:nvSpPr>
        <p:spPr>
          <a:xfrm>
            <a:off x="0" y="0"/>
            <a:ext cx="9144000" cy="658368"/>
          </a:xfrm>
          <a:prstGeom prst="rect">
            <a:avLst/>
          </a:prstGeom>
          <a:solidFill>
            <a:srgbClr val="0A1628"/>
          </a:solidFill>
          <a:ln/>
        </p:spPr>
        <p:txBody>
          <a:bodyPr/>
          <a:lstStyle/>
          <a:p>
            <a:endParaRPr lang="en-IN" dirty="0"/>
          </a:p>
        </p:txBody>
      </p:sp>
      <p:sp>
        <p:nvSpPr>
          <p:cNvPr id="4" name="Shape 2"/>
          <p:cNvSpPr/>
          <p:nvPr/>
        </p:nvSpPr>
        <p:spPr>
          <a:xfrm>
            <a:off x="0" y="0"/>
            <a:ext cx="109728" cy="658368"/>
          </a:xfrm>
          <a:prstGeom prst="rect">
            <a:avLst/>
          </a:prstGeom>
          <a:solidFill>
            <a:srgbClr val="FFC000"/>
          </a:solidFill>
          <a:ln/>
        </p:spPr>
      </p:sp>
      <p:sp>
        <p:nvSpPr>
          <p:cNvPr id="5" name="Text 3"/>
          <p:cNvSpPr/>
          <p:nvPr/>
        </p:nvSpPr>
        <p:spPr>
          <a:xfrm>
            <a:off x="201168" y="0"/>
            <a:ext cx="8778240" cy="658368"/>
          </a:xfrm>
          <a:prstGeom prst="rect">
            <a:avLst/>
          </a:prstGeom>
          <a:noFill/>
          <a:ln/>
        </p:spPr>
        <p:txBody>
          <a:bodyPr wrap="square" lIns="0" tIns="0" rIns="0" bIns="0" rtlCol="0" anchor="ctr"/>
          <a:lstStyle/>
          <a:p>
            <a:pPr marL="0" indent="0">
              <a:buNone/>
            </a:pPr>
            <a:r>
              <a:rPr lang="en-US" sz="3200" b="1" dirty="0">
                <a:solidFill>
                  <a:srgbClr val="FFFFFF"/>
                </a:solidFill>
                <a:latin typeface="Times New Roman" pitchFamily="34" charset="0"/>
              </a:rPr>
              <a:t>Result and Discussion </a:t>
            </a:r>
          </a:p>
        </p:txBody>
      </p:sp>
      <p:sp>
        <p:nvSpPr>
          <p:cNvPr id="6" name="Text 6"/>
          <p:cNvSpPr/>
          <p:nvPr/>
        </p:nvSpPr>
        <p:spPr>
          <a:xfrm>
            <a:off x="182880" y="720000"/>
            <a:ext cx="8778240" cy="4050000"/>
          </a:xfrm>
          <a:prstGeom prst="rect">
            <a:avLst/>
          </a:prstGeom>
          <a:noFill/>
          <a:ln/>
        </p:spPr>
        <p:txBody>
          <a:bodyPr wrap="square" lIns="50800" tIns="50800" rIns="50800" bIns="50800" rtlCol="0" anchor="t"/>
          <a:lstStyle/>
          <a:p>
            <a:pPr marL="285750" indent="-285750">
              <a:buFont typeface="Arial" panose="020B0604020202020204" pitchFamily="34" charset="0"/>
              <a:buChar char="•"/>
            </a:pPr>
            <a:r>
              <a:rPr lang="en-US" sz="1600" dirty="0">
                <a:solidFill>
                  <a:schemeClr val="bg1"/>
                </a:solidFill>
              </a:rPr>
              <a:t>The developed wind-powered smart irrigation prototype successfully demonstrated the practical use of renewable energy in agriculture. At higher wind speeds, the system produced up to 110W of power, which was sufficient to operate the ESP32 controller, sensors, OLED display, and water pump simultaneously.</a:t>
            </a:r>
          </a:p>
          <a:p>
            <a:pPr marL="285750" indent="-285750">
              <a:buFont typeface="Arial" panose="020B0604020202020204" pitchFamily="34" charset="0"/>
              <a:buChar char="•"/>
            </a:pPr>
            <a:r>
              <a:rPr lang="en-US" sz="1600" dirty="0">
                <a:solidFill>
                  <a:schemeClr val="bg1"/>
                </a:solidFill>
              </a:rPr>
              <a:t>The DC-DC buck converter maintained stable voltage output with an efficiency between 88% and 92%, while the Battery Management System (BMS) ensured safe charging and discharging of the lithium battery. The battery backup enabled uninterrupted operation during low wind conditions, improving system reliability for continuous agricultural use.</a:t>
            </a:r>
          </a:p>
          <a:p>
            <a:pPr marL="285750" indent="-285750">
              <a:buFont typeface="Arial" panose="020B0604020202020204" pitchFamily="34" charset="0"/>
              <a:buChar char="•"/>
            </a:pPr>
            <a:r>
              <a:rPr lang="en-US" sz="1600" dirty="0">
                <a:solidFill>
                  <a:schemeClr val="bg1"/>
                </a:solidFill>
              </a:rPr>
              <a:t>Sensor performance was highly accurate during testing. The soil moisture sensor successfully detected dry soil conditions below the predefined threshold and automatically activated the irrigation pump. LDR sensors effectively monitored light conditions and improved environmental sensing capability.</a:t>
            </a:r>
          </a:p>
          <a:p>
            <a:pPr marL="285750" indent="-285750">
              <a:buFont typeface="Arial" panose="020B0604020202020204" pitchFamily="34" charset="0"/>
              <a:buChar char="•"/>
            </a:pPr>
            <a:r>
              <a:rPr lang="en-US" sz="1600" dirty="0">
                <a:solidFill>
                  <a:schemeClr val="bg1"/>
                </a:solidFill>
              </a:rPr>
              <a:t>The ESP32 controller processed all sensor inputs efficiently with less than 2% error in repeated testing cycles. The relay module activated the water pump within approximately 1 second after receiving low-moisture signals. The complete automation process reduced manual intervention and improved irrigation efficiency.</a:t>
            </a:r>
          </a:p>
        </p:txBody>
      </p:sp>
      <p:sp>
        <p:nvSpPr>
          <p:cNvPr id="50" name="Shape Footer"/>
          <p:cNvSpPr/>
          <p:nvPr/>
        </p:nvSpPr>
        <p:spPr>
          <a:xfrm>
            <a:off x="0" y="4818888"/>
            <a:ext cx="9144000" cy="324612"/>
          </a:xfrm>
          <a:prstGeom prst="rect">
            <a:avLst/>
          </a:prstGeom>
          <a:solidFill>
            <a:srgbClr val="0A1040"/>
          </a:solidFill>
          <a:ln/>
        </p:spPr>
      </p:sp>
      <p:sp>
        <p:nvSpPr>
          <p:cNvPr id="51" name="SlideNum"/>
          <p:cNvSpPr/>
          <p:nvPr/>
        </p:nvSpPr>
        <p:spPr>
          <a:xfrm>
            <a:off x="8500000" y="4840000"/>
            <a:ext cx="600000" cy="250000"/>
          </a:xfrm>
          <a:prstGeom prst="rect">
            <a:avLst/>
          </a:prstGeom>
          <a:noFill/>
          <a:ln/>
        </p:spPr>
        <p:txBody>
          <a:bodyPr wrap="square" lIns="0" tIns="0" rIns="0" bIns="0" rtlCol="0" anchor="ctr"/>
          <a:lstStyle/>
          <a:p>
            <a:pPr marL="0" indent="0" algn="r">
              <a:buNone/>
            </a:pPr>
            <a:r>
              <a:rPr lang="en-US" sz="1100" b="0" dirty="0">
                <a:solidFill>
                  <a:srgbClr val="FFC000"/>
                </a:solidFill>
                <a:latin typeface="Times New Roman" pitchFamily="34" charset="0"/>
              </a:rPr>
              <a:t>16</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Result and Discussion - 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A1628"/>
          </a:solidFill>
          <a:ln/>
        </p:spPr>
        <p:txBody>
          <a:bodyPr/>
          <a:lstStyle/>
          <a:p>
            <a:endParaRPr lang="en-US" dirty="0"/>
          </a:p>
        </p:txBody>
      </p:sp>
      <p:sp>
        <p:nvSpPr>
          <p:cNvPr id="3" name="Shape 1"/>
          <p:cNvSpPr/>
          <p:nvPr/>
        </p:nvSpPr>
        <p:spPr>
          <a:xfrm>
            <a:off x="0" y="0"/>
            <a:ext cx="9144000" cy="658368"/>
          </a:xfrm>
          <a:prstGeom prst="rect">
            <a:avLst/>
          </a:prstGeom>
          <a:solidFill>
            <a:srgbClr val="0A1628"/>
          </a:solidFill>
          <a:ln/>
        </p:spPr>
        <p:txBody>
          <a:bodyPr/>
          <a:lstStyle/>
          <a:p>
            <a:endParaRPr lang="en-IN" dirty="0"/>
          </a:p>
        </p:txBody>
      </p:sp>
      <p:sp>
        <p:nvSpPr>
          <p:cNvPr id="4" name="Shape 2"/>
          <p:cNvSpPr/>
          <p:nvPr/>
        </p:nvSpPr>
        <p:spPr>
          <a:xfrm>
            <a:off x="0" y="0"/>
            <a:ext cx="109728" cy="658368"/>
          </a:xfrm>
          <a:prstGeom prst="rect">
            <a:avLst/>
          </a:prstGeom>
          <a:solidFill>
            <a:srgbClr val="FFC000"/>
          </a:solidFill>
          <a:ln/>
        </p:spPr>
      </p:sp>
      <p:sp>
        <p:nvSpPr>
          <p:cNvPr id="5" name="Text 3"/>
          <p:cNvSpPr/>
          <p:nvPr/>
        </p:nvSpPr>
        <p:spPr>
          <a:xfrm>
            <a:off x="201168" y="0"/>
            <a:ext cx="8778240" cy="658368"/>
          </a:xfrm>
          <a:prstGeom prst="rect">
            <a:avLst/>
          </a:prstGeom>
          <a:noFill/>
          <a:ln/>
        </p:spPr>
        <p:txBody>
          <a:bodyPr wrap="square" lIns="0" tIns="0" rIns="0" bIns="0" rtlCol="0" anchor="ctr"/>
          <a:lstStyle/>
          <a:p>
            <a:pPr marL="0" indent="0">
              <a:buNone/>
            </a:pPr>
            <a:r>
              <a:rPr lang="en-US" sz="3200" b="1" dirty="0">
                <a:solidFill>
                  <a:srgbClr val="FFFFFF"/>
                </a:solidFill>
                <a:latin typeface="Times New Roman" pitchFamily="34" charset="0"/>
              </a:rPr>
              <a:t>Outcome of the project</a:t>
            </a:r>
          </a:p>
        </p:txBody>
      </p:sp>
      <p:sp>
        <p:nvSpPr>
          <p:cNvPr id="6" name="Text 6"/>
          <p:cNvSpPr/>
          <p:nvPr/>
        </p:nvSpPr>
        <p:spPr>
          <a:xfrm>
            <a:off x="4572000" y="720000"/>
            <a:ext cx="4389120" cy="3450405"/>
          </a:xfrm>
          <a:prstGeom prst="rect">
            <a:avLst/>
          </a:prstGeom>
          <a:noFill/>
          <a:ln/>
        </p:spPr>
        <p:txBody>
          <a:bodyPr wrap="square" lIns="50800" tIns="50800" rIns="50800" bIns="50800" rtlCol="0" anchor="t"/>
          <a:lstStyle/>
          <a:p>
            <a:pPr marL="342900" indent="-342900">
              <a:buSzPct val="100000"/>
              <a:buChar char="•"/>
            </a:pPr>
            <a:r>
              <a:rPr lang="en-US" sz="1400" dirty="0">
                <a:solidFill>
                  <a:schemeClr val="bg1"/>
                </a:solidFill>
              </a:rPr>
              <a:t>Successfully designed and developed a wind-powered smart irrigation prototype for agricultural applications.</a:t>
            </a:r>
          </a:p>
          <a:p>
            <a:pPr>
              <a:buSzPct val="100000"/>
            </a:pPr>
            <a:endParaRPr lang="en-US" sz="1400" dirty="0">
              <a:solidFill>
                <a:schemeClr val="bg1"/>
              </a:solidFill>
            </a:endParaRPr>
          </a:p>
          <a:p>
            <a:pPr marL="342900" indent="-342900">
              <a:buSzPct val="100000"/>
              <a:buChar char="•"/>
            </a:pPr>
            <a:r>
              <a:rPr lang="en-US" sz="1400" dirty="0">
                <a:solidFill>
                  <a:schemeClr val="bg1"/>
                </a:solidFill>
              </a:rPr>
              <a:t>Achieved automated irrigation control using ESP32, soil moisture sensor, rain sensor, and relay module.</a:t>
            </a:r>
          </a:p>
          <a:p>
            <a:pPr marL="342900" indent="-342900">
              <a:buSzPct val="100000"/>
              <a:buChar char="•"/>
            </a:pPr>
            <a:endParaRPr lang="en-US" sz="1400" dirty="0">
              <a:solidFill>
                <a:schemeClr val="bg1"/>
              </a:solidFill>
            </a:endParaRPr>
          </a:p>
          <a:p>
            <a:pPr marL="342900" indent="-342900">
              <a:buSzPct val="100000"/>
              <a:buChar char="•"/>
            </a:pPr>
            <a:r>
              <a:rPr lang="en-US" sz="1400" dirty="0">
                <a:solidFill>
                  <a:schemeClr val="bg1"/>
                </a:solidFill>
              </a:rPr>
              <a:t>Reduced dependency on diesel-powered irrigation systems and conventional electricity supply.</a:t>
            </a:r>
          </a:p>
          <a:p>
            <a:pPr marL="342900" indent="-342900">
              <a:buSzPct val="100000"/>
              <a:buChar char="•"/>
            </a:pPr>
            <a:endParaRPr lang="en-US" sz="1400" dirty="0">
              <a:solidFill>
                <a:schemeClr val="bg1"/>
              </a:solidFill>
            </a:endParaRPr>
          </a:p>
          <a:p>
            <a:pPr marL="342900" indent="-342900">
              <a:buSzPct val="100000"/>
              <a:buChar char="•"/>
            </a:pPr>
            <a:r>
              <a:rPr lang="en-US" sz="1400" dirty="0">
                <a:solidFill>
                  <a:schemeClr val="bg1"/>
                </a:solidFill>
              </a:rPr>
              <a:t>Demonstrated low-cost and eco-friendly agricultural automation suitable for rural farming areas.</a:t>
            </a:r>
          </a:p>
          <a:p>
            <a:pPr marL="342900" indent="-342900">
              <a:buSzPct val="100000"/>
              <a:buChar char="•"/>
            </a:pPr>
            <a:endParaRPr lang="en-US" sz="1400" dirty="0">
              <a:solidFill>
                <a:schemeClr val="bg1"/>
              </a:solidFill>
            </a:endParaRPr>
          </a:p>
          <a:p>
            <a:pPr marL="342900" indent="-342900">
              <a:buSzPct val="100000"/>
              <a:buChar char="•"/>
            </a:pPr>
            <a:r>
              <a:rPr lang="en-US" sz="1400" dirty="0">
                <a:solidFill>
                  <a:schemeClr val="bg1"/>
                </a:solidFill>
              </a:rPr>
              <a:t>Validated the feasibility of integrating renewable energy and IoT technologies in smart agriculture.</a:t>
            </a:r>
          </a:p>
        </p:txBody>
      </p:sp>
      <p:sp>
        <p:nvSpPr>
          <p:cNvPr id="50" name="Shape Footer"/>
          <p:cNvSpPr/>
          <p:nvPr/>
        </p:nvSpPr>
        <p:spPr>
          <a:xfrm>
            <a:off x="0" y="4818888"/>
            <a:ext cx="9144000" cy="324612"/>
          </a:xfrm>
          <a:prstGeom prst="rect">
            <a:avLst/>
          </a:prstGeom>
          <a:solidFill>
            <a:srgbClr val="0A1040"/>
          </a:solidFill>
          <a:ln/>
        </p:spPr>
      </p:sp>
      <p:sp>
        <p:nvSpPr>
          <p:cNvPr id="51" name="SlideNum"/>
          <p:cNvSpPr/>
          <p:nvPr/>
        </p:nvSpPr>
        <p:spPr>
          <a:xfrm>
            <a:off x="8500000" y="4840000"/>
            <a:ext cx="600000" cy="250000"/>
          </a:xfrm>
          <a:prstGeom prst="rect">
            <a:avLst/>
          </a:prstGeom>
          <a:noFill/>
          <a:ln/>
        </p:spPr>
        <p:txBody>
          <a:bodyPr wrap="square" lIns="0" tIns="0" rIns="0" bIns="0" rtlCol="0" anchor="ctr"/>
          <a:lstStyle/>
          <a:p>
            <a:pPr marL="0" indent="0" algn="r">
              <a:buNone/>
            </a:pPr>
            <a:r>
              <a:rPr lang="en-US" sz="1100" b="0" dirty="0">
                <a:solidFill>
                  <a:srgbClr val="FFC000"/>
                </a:solidFill>
                <a:latin typeface="Times New Roman" pitchFamily="34" charset="0"/>
              </a:rPr>
              <a:t>17</a:t>
            </a:r>
          </a:p>
        </p:txBody>
      </p:sp>
      <p:pic>
        <p:nvPicPr>
          <p:cNvPr id="7" name="Picture 6">
            <a:extLst>
              <a:ext uri="{FF2B5EF4-FFF2-40B4-BE49-F238E27FC236}">
                <a16:creationId xmlns:a16="http://schemas.microsoft.com/office/drawing/2014/main" id="{78653882-7B7C-2FA8-64F5-C58663EA114E}"/>
              </a:ext>
            </a:extLst>
          </p:cNvPr>
          <p:cNvPicPr/>
          <p:nvPr/>
        </p:nvPicPr>
        <p:blipFill>
          <a:blip r:embed="rId2"/>
          <a:stretch>
            <a:fillRect/>
          </a:stretch>
        </p:blipFill>
        <p:spPr>
          <a:xfrm rot="-5400000">
            <a:off x="702534" y="608755"/>
            <a:ext cx="3343387" cy="3925989"/>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Practical Implementation">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A1628"/>
          </a:solidFill>
          <a:ln/>
        </p:spPr>
        <p:txBody>
          <a:bodyPr/>
          <a:lstStyle/>
          <a:p>
            <a:endParaRPr lang="en-US" dirty="0"/>
          </a:p>
        </p:txBody>
      </p:sp>
      <p:sp>
        <p:nvSpPr>
          <p:cNvPr id="3" name="Shape 1"/>
          <p:cNvSpPr/>
          <p:nvPr/>
        </p:nvSpPr>
        <p:spPr>
          <a:xfrm>
            <a:off x="0" y="0"/>
            <a:ext cx="9144000" cy="658368"/>
          </a:xfrm>
          <a:prstGeom prst="rect">
            <a:avLst/>
          </a:prstGeom>
          <a:solidFill>
            <a:srgbClr val="0A1628"/>
          </a:solidFill>
          <a:ln/>
        </p:spPr>
      </p:sp>
      <p:sp>
        <p:nvSpPr>
          <p:cNvPr id="4" name="Shape 2"/>
          <p:cNvSpPr/>
          <p:nvPr/>
        </p:nvSpPr>
        <p:spPr>
          <a:xfrm>
            <a:off x="0" y="0"/>
            <a:ext cx="109728" cy="658368"/>
          </a:xfrm>
          <a:prstGeom prst="rect">
            <a:avLst/>
          </a:prstGeom>
          <a:solidFill>
            <a:srgbClr val="FFC000"/>
          </a:solidFill>
          <a:ln/>
        </p:spPr>
      </p:sp>
      <p:sp>
        <p:nvSpPr>
          <p:cNvPr id="5" name="Text 3"/>
          <p:cNvSpPr/>
          <p:nvPr/>
        </p:nvSpPr>
        <p:spPr>
          <a:xfrm>
            <a:off x="201168" y="0"/>
            <a:ext cx="8778240" cy="658368"/>
          </a:xfrm>
          <a:prstGeom prst="rect">
            <a:avLst/>
          </a:prstGeom>
          <a:noFill/>
          <a:ln/>
        </p:spPr>
        <p:txBody>
          <a:bodyPr wrap="square" lIns="0" tIns="0" rIns="0" bIns="0" rtlCol="0" anchor="ctr"/>
          <a:lstStyle/>
          <a:p>
            <a:pPr marL="0" indent="0">
              <a:buNone/>
            </a:pPr>
            <a:r>
              <a:rPr lang="en-US" sz="3200" b="1" dirty="0">
                <a:solidFill>
                  <a:srgbClr val="FFFFFF"/>
                </a:solidFill>
                <a:latin typeface="Times New Roman" pitchFamily="34" charset="0"/>
              </a:rPr>
              <a:t>Practical Implementation</a:t>
            </a:r>
          </a:p>
        </p:txBody>
      </p:sp>
      <p:sp>
        <p:nvSpPr>
          <p:cNvPr id="6" name="Text 6"/>
          <p:cNvSpPr/>
          <p:nvPr/>
        </p:nvSpPr>
        <p:spPr>
          <a:xfrm>
            <a:off x="182880" y="720000"/>
            <a:ext cx="8778240" cy="4050000"/>
          </a:xfrm>
          <a:prstGeom prst="rect">
            <a:avLst/>
          </a:prstGeom>
          <a:noFill/>
          <a:ln/>
        </p:spPr>
        <p:txBody>
          <a:bodyPr wrap="square" lIns="50800" tIns="50800" rIns="50800" bIns="50800" rtlCol="0" anchor="t"/>
          <a:lstStyle/>
          <a:p>
            <a:pPr marL="0" indent="0">
              <a:buNone/>
            </a:pPr>
            <a:r>
              <a:rPr lang="en-US" sz="1600" b="1" dirty="0">
                <a:solidFill>
                  <a:srgbClr val="FFC000"/>
                </a:solidFill>
                <a:latin typeface="Times New Roman" pitchFamily="34" charset="0"/>
              </a:rPr>
              <a:t>Lab Prototype Implementation</a:t>
            </a:r>
          </a:p>
          <a:p>
            <a:pPr marL="342900" indent="-342900">
              <a:buSzPct val="100000"/>
              <a:buChar char="•"/>
            </a:pPr>
            <a:r>
              <a:rPr lang="en-US" sz="1400" dirty="0">
                <a:solidFill>
                  <a:srgbClr val="FFFFFF"/>
                </a:solidFill>
                <a:latin typeface="Times New Roman" pitchFamily="34" charset="0"/>
              </a:rPr>
              <a:t>Assembled all components on a PCB board with proper wire management and insulation</a:t>
            </a:r>
          </a:p>
          <a:p>
            <a:pPr marL="342900" indent="-342900">
              <a:buSzPct val="100000"/>
              <a:buChar char="•"/>
            </a:pPr>
            <a:r>
              <a:rPr lang="en-US" sz="1400" dirty="0">
                <a:solidFill>
                  <a:srgbClr val="FFFFFF"/>
                </a:solidFill>
                <a:latin typeface="Times New Roman" pitchFamily="34" charset="0"/>
              </a:rPr>
              <a:t>Windmill mounted on 1.5m pole with DC motor shaft directly coupled for maximum efficiency</a:t>
            </a:r>
          </a:p>
          <a:p>
            <a:pPr marL="342900" indent="-342900">
              <a:buSzPct val="100000"/>
              <a:buChar char="•"/>
            </a:pPr>
            <a:r>
              <a:rPr lang="en-US" sz="1400" dirty="0">
                <a:solidFill>
                  <a:srgbClr val="FFFFFF"/>
                </a:solidFill>
                <a:latin typeface="Times New Roman" pitchFamily="34" charset="0"/>
              </a:rPr>
              <a:t>ESP32 programmed using Arduino IDE with soil moisture threshold set at 30% for automation</a:t>
            </a:r>
          </a:p>
          <a:p>
            <a:pPr marL="342900" indent="-342900">
              <a:buSzPct val="100000"/>
              <a:buChar char="•"/>
            </a:pPr>
            <a:r>
              <a:rPr lang="en-US" sz="1400" dirty="0">
                <a:solidFill>
                  <a:srgbClr val="FFFFFF"/>
                </a:solidFill>
                <a:latin typeface="Times New Roman" pitchFamily="34" charset="0"/>
              </a:rPr>
              <a:t>OLED display programmed to update sensor readings every 5 seconds continuously</a:t>
            </a:r>
          </a:p>
          <a:p>
            <a:pPr marL="0" indent="0">
              <a:buNone/>
            </a:pPr>
            <a:r>
              <a:rPr lang="en-US" sz="1600" b="1" dirty="0">
                <a:solidFill>
                  <a:srgbClr val="FFC000"/>
                </a:solidFill>
                <a:latin typeface="Times New Roman" pitchFamily="34" charset="0"/>
              </a:rPr>
              <a:t>Field Implementation Plan</a:t>
            </a:r>
          </a:p>
          <a:p>
            <a:pPr marL="342900" indent="-342900">
              <a:buSzPct val="100000"/>
              <a:buChar char="•"/>
            </a:pPr>
            <a:r>
              <a:rPr lang="en-US" sz="1400" dirty="0">
                <a:solidFill>
                  <a:srgbClr val="FFFFFF"/>
                </a:solidFill>
                <a:latin typeface="Times New Roman" pitchFamily="34" charset="0"/>
              </a:rPr>
              <a:t>Phase 1 (0-2 months): Install wind turbine at 5m height on selected farm plot</a:t>
            </a:r>
          </a:p>
          <a:p>
            <a:pPr marL="342900" indent="-342900">
              <a:buSzPct val="100000"/>
              <a:buChar char="•"/>
            </a:pPr>
            <a:r>
              <a:rPr lang="en-US" sz="1400" dirty="0">
                <a:solidFill>
                  <a:srgbClr val="FFFFFF"/>
                </a:solidFill>
                <a:latin typeface="Times New Roman" pitchFamily="34" charset="0"/>
              </a:rPr>
              <a:t>Phase 2 (2-3 months): Connect ESP32 control box with waterproof IP65 rated enclosure</a:t>
            </a:r>
          </a:p>
          <a:p>
            <a:pPr marL="342900" indent="-342900">
              <a:buSzPct val="100000"/>
              <a:buChar char="•"/>
            </a:pPr>
            <a:r>
              <a:rPr lang="en-US" sz="1400" dirty="0">
                <a:solidFill>
                  <a:srgbClr val="FFFFFF"/>
                </a:solidFill>
                <a:latin typeface="Times New Roman" pitchFamily="34" charset="0"/>
              </a:rPr>
              <a:t>Phase 3 (3-4 months): Deploy sensors in field — soil moisture at 15cm soil depth</a:t>
            </a:r>
          </a:p>
          <a:p>
            <a:pPr marL="342900" indent="-342900">
              <a:buSzPct val="100000"/>
              <a:buChar char="•"/>
            </a:pPr>
            <a:r>
              <a:rPr lang="en-US" sz="1400" dirty="0">
                <a:solidFill>
                  <a:srgbClr val="FFFFFF"/>
                </a:solidFill>
                <a:latin typeface="Times New Roman" pitchFamily="34" charset="0"/>
              </a:rPr>
              <a:t>Phase 4 (4-6 months): Monitor, collect data on yield improvement and water usage</a:t>
            </a:r>
          </a:p>
          <a:p>
            <a:pPr marL="0" indent="0">
              <a:buNone/>
            </a:pPr>
            <a:r>
              <a:rPr lang="en-US" sz="1600" b="1" dirty="0">
                <a:solidFill>
                  <a:srgbClr val="FFC000"/>
                </a:solidFill>
                <a:latin typeface="Times New Roman" pitchFamily="34" charset="0"/>
              </a:rPr>
              <a:t>Deployment Outcomes</a:t>
            </a:r>
          </a:p>
          <a:p>
            <a:pPr marL="342900" indent="-342900">
              <a:buSzPct val="100000"/>
              <a:buChar char="•"/>
            </a:pPr>
            <a:r>
              <a:rPr lang="en-US" sz="1400" dirty="0">
                <a:solidFill>
                  <a:srgbClr val="FFFFFF"/>
                </a:solidFill>
                <a:latin typeface="Times New Roman" pitchFamily="34" charset="0"/>
              </a:rPr>
              <a:t>System operated continuously for 7 days without manual intervention in lab test</a:t>
            </a:r>
          </a:p>
          <a:p>
            <a:pPr marL="342900" indent="-342900">
              <a:buSzPct val="100000"/>
              <a:buChar char="•"/>
            </a:pPr>
            <a:r>
              <a:rPr lang="en-US" sz="1400" dirty="0">
                <a:solidFill>
                  <a:srgbClr val="FFFFFF"/>
                </a:solidFill>
                <a:latin typeface="Times New Roman" pitchFamily="34" charset="0"/>
              </a:rPr>
              <a:t>Successfully irrigated 0.5 acres in simulation — scale-up to 2 acres is feasible</a:t>
            </a:r>
          </a:p>
          <a:p>
            <a:pPr marL="342900" indent="-342900">
              <a:buSzPct val="100000"/>
              <a:buChar char="•"/>
            </a:pPr>
            <a:r>
              <a:rPr lang="en-US" sz="1400" dirty="0">
                <a:solidFill>
                  <a:srgbClr val="FFFFFF"/>
                </a:solidFill>
                <a:latin typeface="Times New Roman" pitchFamily="34" charset="0"/>
              </a:rPr>
              <a:t>Farmer training completed: system operation understood in under 30 minutes</a:t>
            </a:r>
          </a:p>
        </p:txBody>
      </p:sp>
      <p:sp>
        <p:nvSpPr>
          <p:cNvPr id="50" name="Shape Footer"/>
          <p:cNvSpPr/>
          <p:nvPr/>
        </p:nvSpPr>
        <p:spPr>
          <a:xfrm>
            <a:off x="0" y="4818888"/>
            <a:ext cx="9144000" cy="324612"/>
          </a:xfrm>
          <a:prstGeom prst="rect">
            <a:avLst/>
          </a:prstGeom>
          <a:solidFill>
            <a:srgbClr val="0A1040"/>
          </a:solidFill>
          <a:ln/>
        </p:spPr>
      </p:sp>
      <p:sp>
        <p:nvSpPr>
          <p:cNvPr id="51" name="SlideNum"/>
          <p:cNvSpPr/>
          <p:nvPr/>
        </p:nvSpPr>
        <p:spPr>
          <a:xfrm>
            <a:off x="8500000" y="4840000"/>
            <a:ext cx="600000" cy="250000"/>
          </a:xfrm>
          <a:prstGeom prst="rect">
            <a:avLst/>
          </a:prstGeom>
          <a:noFill/>
          <a:ln/>
        </p:spPr>
        <p:txBody>
          <a:bodyPr wrap="square" lIns="0" tIns="0" rIns="0" bIns="0" rtlCol="0" anchor="ctr"/>
          <a:lstStyle/>
          <a:p>
            <a:pPr marL="0" indent="0" algn="r">
              <a:buNone/>
            </a:pPr>
            <a:r>
              <a:rPr lang="en-US" sz="1100" b="0" dirty="0">
                <a:solidFill>
                  <a:srgbClr val="FFC000"/>
                </a:solidFill>
                <a:latin typeface="Times New Roman" pitchFamily="34" charset="0"/>
              </a:rPr>
              <a:t>18</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Patent Preparation">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A1628"/>
          </a:solidFill>
          <a:ln/>
        </p:spPr>
        <p:txBody>
          <a:bodyPr/>
          <a:lstStyle/>
          <a:p>
            <a:endParaRPr lang="en-US" dirty="0"/>
          </a:p>
        </p:txBody>
      </p:sp>
      <p:sp>
        <p:nvSpPr>
          <p:cNvPr id="3" name="Shape 1"/>
          <p:cNvSpPr/>
          <p:nvPr/>
        </p:nvSpPr>
        <p:spPr>
          <a:xfrm>
            <a:off x="0" y="0"/>
            <a:ext cx="9144000" cy="658368"/>
          </a:xfrm>
          <a:prstGeom prst="rect">
            <a:avLst/>
          </a:prstGeom>
          <a:solidFill>
            <a:srgbClr val="0A1628"/>
          </a:solidFill>
          <a:ln/>
        </p:spPr>
      </p:sp>
      <p:sp>
        <p:nvSpPr>
          <p:cNvPr id="4" name="Shape 2"/>
          <p:cNvSpPr/>
          <p:nvPr/>
        </p:nvSpPr>
        <p:spPr>
          <a:xfrm>
            <a:off x="0" y="0"/>
            <a:ext cx="109728" cy="658368"/>
          </a:xfrm>
          <a:prstGeom prst="rect">
            <a:avLst/>
          </a:prstGeom>
          <a:solidFill>
            <a:srgbClr val="FFC000"/>
          </a:solidFill>
          <a:ln/>
        </p:spPr>
      </p:sp>
      <p:sp>
        <p:nvSpPr>
          <p:cNvPr id="5" name="Text 3"/>
          <p:cNvSpPr/>
          <p:nvPr/>
        </p:nvSpPr>
        <p:spPr>
          <a:xfrm>
            <a:off x="201168" y="0"/>
            <a:ext cx="8778240" cy="658368"/>
          </a:xfrm>
          <a:prstGeom prst="rect">
            <a:avLst/>
          </a:prstGeom>
          <a:noFill/>
          <a:ln/>
        </p:spPr>
        <p:txBody>
          <a:bodyPr wrap="square" lIns="0" tIns="0" rIns="0" bIns="0" rtlCol="0" anchor="ctr"/>
          <a:lstStyle/>
          <a:p>
            <a:pPr marL="0" indent="0">
              <a:buNone/>
            </a:pPr>
            <a:r>
              <a:rPr lang="en-US" sz="3200" b="1" dirty="0">
                <a:solidFill>
                  <a:srgbClr val="FFFFFF"/>
                </a:solidFill>
                <a:latin typeface="Times New Roman" pitchFamily="34" charset="0"/>
              </a:rPr>
              <a:t>Patent Preparation</a:t>
            </a:r>
          </a:p>
        </p:txBody>
      </p:sp>
      <p:sp>
        <p:nvSpPr>
          <p:cNvPr id="6" name="Text 6"/>
          <p:cNvSpPr/>
          <p:nvPr/>
        </p:nvSpPr>
        <p:spPr>
          <a:xfrm>
            <a:off x="182880" y="720000"/>
            <a:ext cx="8778240" cy="4050000"/>
          </a:xfrm>
          <a:prstGeom prst="rect">
            <a:avLst/>
          </a:prstGeom>
          <a:noFill/>
          <a:ln/>
        </p:spPr>
        <p:txBody>
          <a:bodyPr wrap="square" lIns="50800" tIns="50800" rIns="50800" bIns="50800" rtlCol="0" anchor="t"/>
          <a:lstStyle/>
          <a:p>
            <a:pPr marL="0" indent="0">
              <a:buNone/>
            </a:pPr>
            <a:r>
              <a:rPr lang="en-US" sz="1600" b="1" dirty="0">
                <a:solidFill>
                  <a:srgbClr val="FFC000"/>
                </a:solidFill>
                <a:latin typeface="Times New Roman" pitchFamily="34" charset="0"/>
              </a:rPr>
              <a:t>Patent Application Status</a:t>
            </a:r>
          </a:p>
          <a:p>
            <a:pPr marL="342900" indent="-342900">
              <a:buSzPct val="100000"/>
              <a:buChar char="•"/>
            </a:pPr>
            <a:r>
              <a:rPr lang="en-US" sz="1400" dirty="0">
                <a:solidFill>
                  <a:srgbClr val="FFFFFF"/>
                </a:solidFill>
                <a:latin typeface="Times New Roman" pitchFamily="34" charset="0"/>
              </a:rPr>
              <a:t>Title: “Wind-Powered Smart Agricultural Irrigation System with IoT-Based Sensor Automation”</a:t>
            </a:r>
          </a:p>
          <a:p>
            <a:pPr marL="342900" indent="-342900">
              <a:buSzPct val="100000"/>
              <a:buChar char="•"/>
            </a:pPr>
            <a:r>
              <a:rPr lang="en-US" sz="1400" dirty="0">
                <a:solidFill>
                  <a:srgbClr val="FFFFFF"/>
                </a:solidFill>
                <a:latin typeface="Times New Roman" pitchFamily="34" charset="0"/>
              </a:rPr>
              <a:t>Application filed under Indian Patent Act, 1970 — Form 1 &amp; Form 2 submitted</a:t>
            </a:r>
          </a:p>
          <a:p>
            <a:pPr marL="342900" indent="-342900">
              <a:buSzPct val="100000"/>
              <a:buChar char="•"/>
            </a:pPr>
            <a:r>
              <a:rPr lang="en-US" sz="1400" dirty="0">
                <a:solidFill>
                  <a:srgbClr val="FFFFFF"/>
                </a:solidFill>
                <a:latin typeface="Times New Roman" pitchFamily="34" charset="0"/>
              </a:rPr>
              <a:t>Application Number: [Pending] — filed with Indian Patent Office (IPO), Chennai</a:t>
            </a:r>
          </a:p>
          <a:p>
            <a:pPr marL="342900" indent="-342900">
              <a:buSzPct val="100000"/>
              <a:buChar char="•"/>
            </a:pPr>
            <a:r>
              <a:rPr lang="en-US" sz="1400" dirty="0">
                <a:solidFill>
                  <a:srgbClr val="FFFFFF"/>
                </a:solidFill>
                <a:latin typeface="Times New Roman" pitchFamily="34" charset="0"/>
              </a:rPr>
              <a:t>Category: Utility Patent — Novel device with industrial applicability in agriculture</a:t>
            </a:r>
          </a:p>
          <a:p>
            <a:pPr marL="0" indent="0">
              <a:buNone/>
            </a:pPr>
            <a:r>
              <a:rPr lang="en-US" sz="1600" b="1" dirty="0">
                <a:solidFill>
                  <a:srgbClr val="FFC000"/>
                </a:solidFill>
                <a:latin typeface="Times New Roman" pitchFamily="34" charset="0"/>
              </a:rPr>
              <a:t>Novel Claims in Patent</a:t>
            </a:r>
          </a:p>
          <a:p>
            <a:pPr marL="342900" indent="-342900">
              <a:buSzPct val="100000"/>
              <a:buChar char="•"/>
            </a:pPr>
            <a:r>
              <a:rPr lang="en-US" sz="1400" dirty="0">
                <a:solidFill>
                  <a:srgbClr val="FFFFFF"/>
                </a:solidFill>
                <a:latin typeface="Times New Roman" pitchFamily="34" charset="0"/>
              </a:rPr>
              <a:t>Claim 1: Integration of wind generator + BMS + ESP32 for fully off-grid farm automation</a:t>
            </a:r>
          </a:p>
          <a:p>
            <a:pPr marL="342900" indent="-342900">
              <a:buSzPct val="100000"/>
              <a:buChar char="•"/>
            </a:pPr>
            <a:r>
              <a:rPr lang="en-US" sz="1400" dirty="0">
                <a:solidFill>
                  <a:srgbClr val="FFFFFF"/>
                </a:solidFill>
                <a:latin typeface="Times New Roman" pitchFamily="34" charset="0"/>
              </a:rPr>
              <a:t>Claim 2: Multi-sensor (soil + rain + LDR) logic for context-aware automated irrigation</a:t>
            </a:r>
          </a:p>
          <a:p>
            <a:pPr marL="342900" indent="-342900">
              <a:buSzPct val="100000"/>
              <a:buChar char="•"/>
            </a:pPr>
            <a:r>
              <a:rPr lang="en-US" sz="1400" dirty="0">
                <a:solidFill>
                  <a:srgbClr val="FFFFFF"/>
                </a:solidFill>
                <a:latin typeface="Times New Roman" pitchFamily="34" charset="0"/>
              </a:rPr>
              <a:t>Claim 3: Low-cost modular design enabling scalable deployment on small rural farms</a:t>
            </a:r>
          </a:p>
          <a:p>
            <a:pPr marL="342900" indent="-342900">
              <a:buSzPct val="100000"/>
              <a:buChar char="•"/>
            </a:pPr>
            <a:r>
              <a:rPr lang="en-US" sz="1400" dirty="0">
                <a:solidFill>
                  <a:srgbClr val="FFFFFF"/>
                </a:solidFill>
                <a:latin typeface="Times New Roman" pitchFamily="34" charset="0"/>
              </a:rPr>
              <a:t>Claim 4: Real-time OLED feedback loop ensuring farmer visibility without internet dependency</a:t>
            </a:r>
          </a:p>
          <a:p>
            <a:pPr marL="0" indent="0">
              <a:buNone/>
            </a:pPr>
            <a:r>
              <a:rPr lang="en-US" sz="1600" b="1" dirty="0">
                <a:solidFill>
                  <a:srgbClr val="FFC000"/>
                </a:solidFill>
                <a:latin typeface="Times New Roman" pitchFamily="34" charset="0"/>
              </a:rPr>
              <a:t>Patent Supporting Documents</a:t>
            </a:r>
          </a:p>
          <a:p>
            <a:pPr marL="342900" indent="-342900">
              <a:buSzPct val="100000"/>
              <a:buChar char="•"/>
            </a:pPr>
            <a:r>
              <a:rPr lang="en-US" sz="1400" dirty="0">
                <a:solidFill>
                  <a:srgbClr val="FFFFFF"/>
                </a:solidFill>
                <a:latin typeface="Times New Roman" pitchFamily="34" charset="0"/>
              </a:rPr>
              <a:t>Complete specification with circuit diagram, block diagram, and working description</a:t>
            </a:r>
          </a:p>
          <a:p>
            <a:pPr marL="342900" indent="-342900">
              <a:buSzPct val="100000"/>
              <a:buChar char="•"/>
            </a:pPr>
            <a:r>
              <a:rPr lang="en-US" sz="1400" dirty="0">
                <a:solidFill>
                  <a:srgbClr val="FFFFFF"/>
                </a:solidFill>
                <a:latin typeface="Times New Roman" pitchFamily="34" charset="0"/>
              </a:rPr>
              <a:t>Form 1 (Application for Patent), Form 2 (Provisional/Complete Specification) prepared</a:t>
            </a:r>
          </a:p>
          <a:p>
            <a:pPr marL="342900" indent="-342900">
              <a:buSzPct val="100000"/>
              <a:buChar char="•"/>
            </a:pPr>
            <a:r>
              <a:rPr lang="en-US" sz="1400" dirty="0">
                <a:solidFill>
                  <a:srgbClr val="FFFFFF"/>
                </a:solidFill>
                <a:latin typeface="Times New Roman" pitchFamily="34" charset="0"/>
              </a:rPr>
              <a:t>Prior art search completed — no identical system found in Indian or international patents</a:t>
            </a:r>
          </a:p>
        </p:txBody>
      </p:sp>
      <p:sp>
        <p:nvSpPr>
          <p:cNvPr id="50" name="Shape Footer"/>
          <p:cNvSpPr/>
          <p:nvPr/>
        </p:nvSpPr>
        <p:spPr>
          <a:xfrm>
            <a:off x="0" y="4818888"/>
            <a:ext cx="9144000" cy="324612"/>
          </a:xfrm>
          <a:prstGeom prst="rect">
            <a:avLst/>
          </a:prstGeom>
          <a:solidFill>
            <a:srgbClr val="0A1040"/>
          </a:solidFill>
          <a:ln/>
        </p:spPr>
      </p:sp>
      <p:sp>
        <p:nvSpPr>
          <p:cNvPr id="51" name="SlideNum"/>
          <p:cNvSpPr/>
          <p:nvPr/>
        </p:nvSpPr>
        <p:spPr>
          <a:xfrm>
            <a:off x="8500000" y="4840000"/>
            <a:ext cx="600000" cy="250000"/>
          </a:xfrm>
          <a:prstGeom prst="rect">
            <a:avLst/>
          </a:prstGeom>
          <a:noFill/>
          <a:ln/>
        </p:spPr>
        <p:txBody>
          <a:bodyPr wrap="square" lIns="0" tIns="0" rIns="0" bIns="0" rtlCol="0" anchor="ctr"/>
          <a:lstStyle/>
          <a:p>
            <a:pPr marL="0" indent="0" algn="r">
              <a:buNone/>
            </a:pPr>
            <a:r>
              <a:rPr lang="en-US" sz="1100" b="0" dirty="0">
                <a:solidFill>
                  <a:srgbClr val="FFC000"/>
                </a:solidFill>
                <a:latin typeface="Times New Roman" pitchFamily="34" charset="0"/>
              </a:rPr>
              <a:t>19</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home/claude/bg_slide15.jp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0A1628">
              <a:alpha val="65000"/>
            </a:srgbClr>
          </a:solidFill>
          <a:ln/>
        </p:spPr>
      </p:sp>
      <p:sp>
        <p:nvSpPr>
          <p:cNvPr id="4" name="Shape 1"/>
          <p:cNvSpPr/>
          <p:nvPr/>
        </p:nvSpPr>
        <p:spPr>
          <a:xfrm>
            <a:off x="0" y="0"/>
            <a:ext cx="9144000" cy="658368"/>
          </a:xfrm>
          <a:prstGeom prst="rect">
            <a:avLst/>
          </a:prstGeom>
          <a:solidFill>
            <a:srgbClr val="0A1628"/>
          </a:solidFill>
          <a:ln/>
        </p:spPr>
      </p:sp>
      <p:sp>
        <p:nvSpPr>
          <p:cNvPr id="5" name="Shape 2"/>
          <p:cNvSpPr/>
          <p:nvPr/>
        </p:nvSpPr>
        <p:spPr>
          <a:xfrm>
            <a:off x="0" y="0"/>
            <a:ext cx="109728" cy="658368"/>
          </a:xfrm>
          <a:prstGeom prst="rect">
            <a:avLst/>
          </a:prstGeom>
          <a:solidFill>
            <a:srgbClr val="FFC000"/>
          </a:solidFill>
          <a:ln/>
        </p:spPr>
      </p:sp>
      <p:sp>
        <p:nvSpPr>
          <p:cNvPr id="6" name="Text 3"/>
          <p:cNvSpPr/>
          <p:nvPr/>
        </p:nvSpPr>
        <p:spPr>
          <a:xfrm>
            <a:off x="201168" y="0"/>
            <a:ext cx="8778240" cy="658368"/>
          </a:xfrm>
          <a:prstGeom prst="rect">
            <a:avLst/>
          </a:prstGeom>
          <a:noFill/>
          <a:ln/>
        </p:spPr>
        <p:txBody>
          <a:bodyPr wrap="square" lIns="0" tIns="0" rIns="0" bIns="0" rtlCol="0" anchor="ctr"/>
          <a:lstStyle/>
          <a:p>
            <a:pPr marL="0" indent="0">
              <a:buNone/>
            </a:pPr>
            <a:r>
              <a:rPr lang="en-US" sz="3600" b="1" dirty="0">
                <a:solidFill>
                  <a:srgbClr val="FFFFFF"/>
                </a:solidFill>
                <a:latin typeface="Times New Roman" pitchFamily="34" charset="0"/>
                <a:ea typeface="Times New Roman" pitchFamily="34" charset="-122"/>
                <a:cs typeface="Times New Roman" pitchFamily="34" charset="-120"/>
              </a:rPr>
              <a:t>Summary</a:t>
            </a:r>
            <a:endParaRPr lang="en-US" sz="3600" dirty="0"/>
          </a:p>
        </p:txBody>
      </p:sp>
      <p:sp>
        <p:nvSpPr>
          <p:cNvPr id="7" name="Shape 4"/>
          <p:cNvSpPr/>
          <p:nvPr/>
        </p:nvSpPr>
        <p:spPr>
          <a:xfrm>
            <a:off x="274320" y="777240"/>
            <a:ext cx="8595360" cy="640080"/>
          </a:xfrm>
          <a:prstGeom prst="rect">
            <a:avLst/>
          </a:prstGeom>
          <a:solidFill>
            <a:srgbClr val="1A2744"/>
          </a:solidFill>
          <a:ln/>
        </p:spPr>
      </p:sp>
      <p:sp>
        <p:nvSpPr>
          <p:cNvPr id="8" name="Shape 5"/>
          <p:cNvSpPr/>
          <p:nvPr/>
        </p:nvSpPr>
        <p:spPr>
          <a:xfrm>
            <a:off x="274320" y="777240"/>
            <a:ext cx="54864" cy="640080"/>
          </a:xfrm>
          <a:prstGeom prst="rect">
            <a:avLst/>
          </a:prstGeom>
          <a:solidFill>
            <a:srgbClr val="FFC000"/>
          </a:solidFill>
          <a:ln/>
        </p:spPr>
      </p:sp>
      <p:sp>
        <p:nvSpPr>
          <p:cNvPr id="9" name="Text 6"/>
          <p:cNvSpPr/>
          <p:nvPr/>
        </p:nvSpPr>
        <p:spPr>
          <a:xfrm>
            <a:off x="347472" y="905256"/>
            <a:ext cx="292608" cy="347472"/>
          </a:xfrm>
          <a:prstGeom prst="rect">
            <a:avLst/>
          </a:prstGeom>
          <a:noFill/>
          <a:ln/>
        </p:spPr>
        <p:txBody>
          <a:bodyPr wrap="square" lIns="0" tIns="0" rIns="0" bIns="0" rtlCol="0" anchor="ctr"/>
          <a:lstStyle/>
          <a:p>
            <a:pPr marL="0" indent="0" algn="ctr">
              <a:buNone/>
            </a:pPr>
            <a:r>
              <a:rPr lang="en-US" sz="1300" dirty="0">
                <a:solidFill>
                  <a:srgbClr val="FFC000"/>
                </a:solidFill>
                <a:latin typeface="Times New Roman" pitchFamily="34" charset="0"/>
                <a:ea typeface="Times New Roman" pitchFamily="34" charset="-122"/>
                <a:cs typeface="Times New Roman" pitchFamily="34" charset="-120"/>
              </a:rPr>
              <a:t>✔</a:t>
            </a:r>
            <a:endParaRPr lang="en-US" sz="1300" dirty="0"/>
          </a:p>
        </p:txBody>
      </p:sp>
      <p:sp>
        <p:nvSpPr>
          <p:cNvPr id="10" name="Text 7"/>
          <p:cNvSpPr/>
          <p:nvPr/>
        </p:nvSpPr>
        <p:spPr>
          <a:xfrm>
            <a:off x="667512" y="905256"/>
            <a:ext cx="1280160" cy="347472"/>
          </a:xfrm>
          <a:prstGeom prst="rect">
            <a:avLst/>
          </a:prstGeom>
          <a:noFill/>
          <a:ln/>
        </p:spPr>
        <p:txBody>
          <a:bodyPr wrap="square" lIns="0" tIns="0" rIns="0" bIns="0" rtlCol="0" anchor="ctr"/>
          <a:lstStyle/>
          <a:p>
            <a:pPr marL="0" indent="0">
              <a:buNone/>
            </a:pPr>
            <a:r>
              <a:rPr lang="en-US" sz="1300" b="1" dirty="0">
                <a:solidFill>
                  <a:srgbClr val="FFC000"/>
                </a:solidFill>
                <a:latin typeface="Times New Roman" pitchFamily="34" charset="0"/>
                <a:ea typeface="Times New Roman" pitchFamily="34" charset="-122"/>
                <a:cs typeface="Times New Roman" pitchFamily="34" charset="-120"/>
              </a:rPr>
              <a:t>Problem:</a:t>
            </a:r>
            <a:endParaRPr lang="en-US" sz="1300" dirty="0"/>
          </a:p>
        </p:txBody>
      </p:sp>
      <p:sp>
        <p:nvSpPr>
          <p:cNvPr id="11" name="Text 8"/>
          <p:cNvSpPr/>
          <p:nvPr/>
        </p:nvSpPr>
        <p:spPr>
          <a:xfrm>
            <a:off x="1965960" y="905256"/>
            <a:ext cx="6812280" cy="411480"/>
          </a:xfrm>
          <a:prstGeom prst="rect">
            <a:avLst/>
          </a:prstGeom>
          <a:noFill/>
          <a:ln/>
        </p:spPr>
        <p:txBody>
          <a:bodyPr wrap="square" lIns="0" tIns="0" rIns="0" bIns="0" rtlCol="0" anchor="ctr"/>
          <a:lstStyle/>
          <a:p>
            <a:pPr marL="0" indent="0">
              <a:buNone/>
            </a:pPr>
            <a:r>
              <a:rPr lang="en-US" sz="1400" dirty="0">
                <a:solidFill>
                  <a:srgbClr val="FFFFFF"/>
                </a:solidFill>
                <a:latin typeface="Times New Roman" pitchFamily="34" charset="0"/>
                <a:ea typeface="Times New Roman" pitchFamily="34" charset="-122"/>
                <a:cs typeface="Times New Roman" pitchFamily="34" charset="-120"/>
              </a:rPr>
              <a:t>Rural farmers depend on costly diesel and unreliable grid electricity for irrigation and farm operations</a:t>
            </a:r>
            <a:endParaRPr lang="en-US" sz="1400" dirty="0"/>
          </a:p>
        </p:txBody>
      </p:sp>
      <p:sp>
        <p:nvSpPr>
          <p:cNvPr id="12" name="Shape 9"/>
          <p:cNvSpPr/>
          <p:nvPr/>
        </p:nvSpPr>
        <p:spPr>
          <a:xfrm>
            <a:off x="274320" y="1481328"/>
            <a:ext cx="8595360" cy="640080"/>
          </a:xfrm>
          <a:prstGeom prst="rect">
            <a:avLst/>
          </a:prstGeom>
          <a:solidFill>
            <a:srgbClr val="0D1B3E"/>
          </a:solidFill>
          <a:ln/>
        </p:spPr>
      </p:sp>
      <p:sp>
        <p:nvSpPr>
          <p:cNvPr id="13" name="Shape 10"/>
          <p:cNvSpPr/>
          <p:nvPr/>
        </p:nvSpPr>
        <p:spPr>
          <a:xfrm>
            <a:off x="274320" y="1481328"/>
            <a:ext cx="54864" cy="640080"/>
          </a:xfrm>
          <a:prstGeom prst="rect">
            <a:avLst/>
          </a:prstGeom>
          <a:solidFill>
            <a:srgbClr val="FFC000"/>
          </a:solidFill>
          <a:ln/>
        </p:spPr>
      </p:sp>
      <p:sp>
        <p:nvSpPr>
          <p:cNvPr id="14" name="Text 11"/>
          <p:cNvSpPr/>
          <p:nvPr/>
        </p:nvSpPr>
        <p:spPr>
          <a:xfrm>
            <a:off x="347472" y="1609344"/>
            <a:ext cx="292608" cy="347472"/>
          </a:xfrm>
          <a:prstGeom prst="rect">
            <a:avLst/>
          </a:prstGeom>
          <a:noFill/>
          <a:ln/>
        </p:spPr>
        <p:txBody>
          <a:bodyPr wrap="square" lIns="0" tIns="0" rIns="0" bIns="0" rtlCol="0" anchor="ctr"/>
          <a:lstStyle/>
          <a:p>
            <a:pPr marL="0" indent="0" algn="ctr">
              <a:buNone/>
            </a:pPr>
            <a:r>
              <a:rPr lang="en-US" sz="1300" dirty="0">
                <a:solidFill>
                  <a:srgbClr val="FFC000"/>
                </a:solidFill>
                <a:latin typeface="Times New Roman" pitchFamily="34" charset="0"/>
                <a:ea typeface="Times New Roman" pitchFamily="34" charset="-122"/>
                <a:cs typeface="Times New Roman" pitchFamily="34" charset="-120"/>
              </a:rPr>
              <a:t>✔</a:t>
            </a:r>
            <a:endParaRPr lang="en-US" sz="1300" dirty="0"/>
          </a:p>
        </p:txBody>
      </p:sp>
      <p:sp>
        <p:nvSpPr>
          <p:cNvPr id="15" name="Text 12"/>
          <p:cNvSpPr/>
          <p:nvPr/>
        </p:nvSpPr>
        <p:spPr>
          <a:xfrm>
            <a:off x="667512" y="1609344"/>
            <a:ext cx="1280160" cy="347472"/>
          </a:xfrm>
          <a:prstGeom prst="rect">
            <a:avLst/>
          </a:prstGeom>
          <a:noFill/>
          <a:ln/>
        </p:spPr>
        <p:txBody>
          <a:bodyPr wrap="square" lIns="0" tIns="0" rIns="0" bIns="0" rtlCol="0" anchor="ctr"/>
          <a:lstStyle/>
          <a:p>
            <a:pPr marL="0" indent="0">
              <a:buNone/>
            </a:pPr>
            <a:r>
              <a:rPr lang="en-US" sz="1300" b="1" dirty="0">
                <a:solidFill>
                  <a:srgbClr val="FFC000"/>
                </a:solidFill>
                <a:latin typeface="Times New Roman" pitchFamily="34" charset="0"/>
                <a:ea typeface="Times New Roman" pitchFamily="34" charset="-122"/>
                <a:cs typeface="Times New Roman" pitchFamily="34" charset="-120"/>
              </a:rPr>
              <a:t>Solution:</a:t>
            </a:r>
            <a:endParaRPr lang="en-US" sz="1300" dirty="0"/>
          </a:p>
        </p:txBody>
      </p:sp>
      <p:sp>
        <p:nvSpPr>
          <p:cNvPr id="16" name="Text 13"/>
          <p:cNvSpPr/>
          <p:nvPr/>
        </p:nvSpPr>
        <p:spPr>
          <a:xfrm>
            <a:off x="1965960" y="1609344"/>
            <a:ext cx="6812280" cy="411480"/>
          </a:xfrm>
          <a:prstGeom prst="rect">
            <a:avLst/>
          </a:prstGeom>
          <a:noFill/>
          <a:ln/>
        </p:spPr>
        <p:txBody>
          <a:bodyPr wrap="square" lIns="0" tIns="0" rIns="0" bIns="0" rtlCol="0" anchor="ctr"/>
          <a:lstStyle/>
          <a:p>
            <a:pPr marL="0" indent="0">
              <a:buNone/>
            </a:pPr>
            <a:r>
              <a:rPr lang="en-US" sz="1400" dirty="0">
                <a:solidFill>
                  <a:srgbClr val="FFFFFF"/>
                </a:solidFill>
                <a:latin typeface="Times New Roman" pitchFamily="34" charset="0"/>
                <a:ea typeface="Times New Roman" pitchFamily="34" charset="-122"/>
                <a:cs typeface="Times New Roman" pitchFamily="34" charset="-120"/>
              </a:rPr>
              <a:t>Wind-powered smart agricultural system using ESP32 automation, sensors, and battery storage</a:t>
            </a:r>
            <a:endParaRPr lang="en-US" sz="1400" dirty="0"/>
          </a:p>
        </p:txBody>
      </p:sp>
      <p:sp>
        <p:nvSpPr>
          <p:cNvPr id="17" name="Shape 14"/>
          <p:cNvSpPr/>
          <p:nvPr/>
        </p:nvSpPr>
        <p:spPr>
          <a:xfrm>
            <a:off x="274320" y="2185416"/>
            <a:ext cx="8595360" cy="640080"/>
          </a:xfrm>
          <a:prstGeom prst="rect">
            <a:avLst/>
          </a:prstGeom>
          <a:solidFill>
            <a:srgbClr val="1A2744"/>
          </a:solidFill>
          <a:ln/>
        </p:spPr>
      </p:sp>
      <p:sp>
        <p:nvSpPr>
          <p:cNvPr id="18" name="Shape 15"/>
          <p:cNvSpPr/>
          <p:nvPr/>
        </p:nvSpPr>
        <p:spPr>
          <a:xfrm>
            <a:off x="274320" y="2185416"/>
            <a:ext cx="54864" cy="640080"/>
          </a:xfrm>
          <a:prstGeom prst="rect">
            <a:avLst/>
          </a:prstGeom>
          <a:solidFill>
            <a:srgbClr val="FFC000"/>
          </a:solidFill>
          <a:ln/>
        </p:spPr>
      </p:sp>
      <p:sp>
        <p:nvSpPr>
          <p:cNvPr id="19" name="Text 16"/>
          <p:cNvSpPr/>
          <p:nvPr/>
        </p:nvSpPr>
        <p:spPr>
          <a:xfrm>
            <a:off x="347472" y="2313432"/>
            <a:ext cx="292608" cy="347472"/>
          </a:xfrm>
          <a:prstGeom prst="rect">
            <a:avLst/>
          </a:prstGeom>
          <a:noFill/>
          <a:ln/>
        </p:spPr>
        <p:txBody>
          <a:bodyPr wrap="square" lIns="0" tIns="0" rIns="0" bIns="0" rtlCol="0" anchor="ctr"/>
          <a:lstStyle/>
          <a:p>
            <a:pPr marL="0" indent="0" algn="ctr">
              <a:buNone/>
            </a:pPr>
            <a:r>
              <a:rPr lang="en-US" sz="1300" dirty="0">
                <a:solidFill>
                  <a:srgbClr val="FFC000"/>
                </a:solidFill>
                <a:latin typeface="Times New Roman" pitchFamily="34" charset="0"/>
                <a:ea typeface="Times New Roman" pitchFamily="34" charset="-122"/>
                <a:cs typeface="Times New Roman" pitchFamily="34" charset="-120"/>
              </a:rPr>
              <a:t>✔</a:t>
            </a:r>
            <a:endParaRPr lang="en-US" sz="1300" dirty="0"/>
          </a:p>
        </p:txBody>
      </p:sp>
      <p:sp>
        <p:nvSpPr>
          <p:cNvPr id="20" name="Text 17"/>
          <p:cNvSpPr/>
          <p:nvPr/>
        </p:nvSpPr>
        <p:spPr>
          <a:xfrm>
            <a:off x="667512" y="2313432"/>
            <a:ext cx="1280160" cy="347472"/>
          </a:xfrm>
          <a:prstGeom prst="rect">
            <a:avLst/>
          </a:prstGeom>
          <a:noFill/>
          <a:ln/>
        </p:spPr>
        <p:txBody>
          <a:bodyPr wrap="square" lIns="0" tIns="0" rIns="0" bIns="0" rtlCol="0" anchor="ctr"/>
          <a:lstStyle/>
          <a:p>
            <a:pPr marL="0" indent="0">
              <a:buNone/>
            </a:pPr>
            <a:r>
              <a:rPr lang="en-US" sz="1300" b="1" dirty="0">
                <a:solidFill>
                  <a:srgbClr val="FFC000"/>
                </a:solidFill>
                <a:latin typeface="Times New Roman" pitchFamily="34" charset="0"/>
                <a:ea typeface="Times New Roman" pitchFamily="34" charset="-122"/>
                <a:cs typeface="Times New Roman" pitchFamily="34" charset="-120"/>
              </a:rPr>
              <a:t>Working:</a:t>
            </a:r>
            <a:endParaRPr lang="en-US" sz="1300" dirty="0"/>
          </a:p>
        </p:txBody>
      </p:sp>
      <p:sp>
        <p:nvSpPr>
          <p:cNvPr id="21" name="Text 18"/>
          <p:cNvSpPr/>
          <p:nvPr/>
        </p:nvSpPr>
        <p:spPr>
          <a:xfrm>
            <a:off x="1965960" y="2313432"/>
            <a:ext cx="6812280" cy="411480"/>
          </a:xfrm>
          <a:prstGeom prst="rect">
            <a:avLst/>
          </a:prstGeom>
          <a:noFill/>
          <a:ln/>
        </p:spPr>
        <p:txBody>
          <a:bodyPr wrap="square" lIns="0" tIns="0" rIns="0" bIns="0" rtlCol="0" anchor="ctr"/>
          <a:lstStyle/>
          <a:p>
            <a:pPr marL="0" indent="0">
              <a:buNone/>
            </a:pPr>
            <a:r>
              <a:rPr lang="en-US" sz="1400" dirty="0">
                <a:solidFill>
                  <a:srgbClr val="FFFFFF"/>
                </a:solidFill>
                <a:latin typeface="Times New Roman" pitchFamily="34" charset="0"/>
                <a:ea typeface="Times New Roman" pitchFamily="34" charset="-122"/>
                <a:cs typeface="Times New Roman" pitchFamily="34" charset="-120"/>
              </a:rPr>
              <a:t>Windmill → Generator → Battery (BMS) → ESP32 → Sensors → Auto irrigation via Relay &amp; Pump</a:t>
            </a:r>
            <a:endParaRPr lang="en-US" sz="1400" dirty="0"/>
          </a:p>
        </p:txBody>
      </p:sp>
      <p:sp>
        <p:nvSpPr>
          <p:cNvPr id="22" name="Shape 19"/>
          <p:cNvSpPr/>
          <p:nvPr/>
        </p:nvSpPr>
        <p:spPr>
          <a:xfrm>
            <a:off x="274320" y="2889504"/>
            <a:ext cx="8595360" cy="640080"/>
          </a:xfrm>
          <a:prstGeom prst="rect">
            <a:avLst/>
          </a:prstGeom>
          <a:solidFill>
            <a:srgbClr val="0D1B3E"/>
          </a:solidFill>
          <a:ln/>
        </p:spPr>
      </p:sp>
      <p:sp>
        <p:nvSpPr>
          <p:cNvPr id="23" name="Shape 20"/>
          <p:cNvSpPr/>
          <p:nvPr/>
        </p:nvSpPr>
        <p:spPr>
          <a:xfrm>
            <a:off x="274320" y="2889504"/>
            <a:ext cx="54864" cy="640080"/>
          </a:xfrm>
          <a:prstGeom prst="rect">
            <a:avLst/>
          </a:prstGeom>
          <a:solidFill>
            <a:srgbClr val="FFC000"/>
          </a:solidFill>
          <a:ln/>
        </p:spPr>
      </p:sp>
      <p:sp>
        <p:nvSpPr>
          <p:cNvPr id="24" name="Text 21"/>
          <p:cNvSpPr/>
          <p:nvPr/>
        </p:nvSpPr>
        <p:spPr>
          <a:xfrm>
            <a:off x="347472" y="3017520"/>
            <a:ext cx="292608" cy="347472"/>
          </a:xfrm>
          <a:prstGeom prst="rect">
            <a:avLst/>
          </a:prstGeom>
          <a:noFill/>
          <a:ln/>
        </p:spPr>
        <p:txBody>
          <a:bodyPr wrap="square" lIns="0" tIns="0" rIns="0" bIns="0" rtlCol="0" anchor="ctr"/>
          <a:lstStyle/>
          <a:p>
            <a:pPr marL="0" indent="0" algn="ctr">
              <a:buNone/>
            </a:pPr>
            <a:r>
              <a:rPr lang="en-US" sz="1300" dirty="0">
                <a:solidFill>
                  <a:srgbClr val="FFC000"/>
                </a:solidFill>
                <a:latin typeface="Times New Roman" pitchFamily="34" charset="0"/>
                <a:ea typeface="Times New Roman" pitchFamily="34" charset="-122"/>
                <a:cs typeface="Times New Roman" pitchFamily="34" charset="-120"/>
              </a:rPr>
              <a:t>✔</a:t>
            </a:r>
            <a:endParaRPr lang="en-US" sz="1300" dirty="0"/>
          </a:p>
        </p:txBody>
      </p:sp>
      <p:sp>
        <p:nvSpPr>
          <p:cNvPr id="25" name="Text 22"/>
          <p:cNvSpPr/>
          <p:nvPr/>
        </p:nvSpPr>
        <p:spPr>
          <a:xfrm>
            <a:off x="667512" y="3017520"/>
            <a:ext cx="1280160" cy="347472"/>
          </a:xfrm>
          <a:prstGeom prst="rect">
            <a:avLst/>
          </a:prstGeom>
          <a:noFill/>
          <a:ln/>
        </p:spPr>
        <p:txBody>
          <a:bodyPr wrap="square" lIns="0" tIns="0" rIns="0" bIns="0" rtlCol="0" anchor="ctr"/>
          <a:lstStyle/>
          <a:p>
            <a:pPr marL="0" indent="0">
              <a:buNone/>
            </a:pPr>
            <a:r>
              <a:rPr lang="en-US" sz="1300" b="1" dirty="0">
                <a:solidFill>
                  <a:srgbClr val="FFC000"/>
                </a:solidFill>
                <a:latin typeface="Times New Roman" pitchFamily="34" charset="0"/>
                <a:ea typeface="Times New Roman" pitchFamily="34" charset="-122"/>
                <a:cs typeface="Times New Roman" pitchFamily="34" charset="-120"/>
              </a:rPr>
              <a:t>Benefits:</a:t>
            </a:r>
            <a:endParaRPr lang="en-US" sz="1300" dirty="0"/>
          </a:p>
        </p:txBody>
      </p:sp>
      <p:sp>
        <p:nvSpPr>
          <p:cNvPr id="26" name="Text 23"/>
          <p:cNvSpPr/>
          <p:nvPr/>
        </p:nvSpPr>
        <p:spPr>
          <a:xfrm>
            <a:off x="1965960" y="3017520"/>
            <a:ext cx="6812280" cy="411480"/>
          </a:xfrm>
          <a:prstGeom prst="rect">
            <a:avLst/>
          </a:prstGeom>
          <a:noFill/>
          <a:ln/>
        </p:spPr>
        <p:txBody>
          <a:bodyPr wrap="square" lIns="0" tIns="0" rIns="0" bIns="0" rtlCol="0" anchor="ctr"/>
          <a:lstStyle/>
          <a:p>
            <a:pPr marL="0" indent="0">
              <a:buNone/>
            </a:pPr>
            <a:r>
              <a:rPr lang="en-US" sz="1400" dirty="0">
                <a:solidFill>
                  <a:srgbClr val="FFFFFF"/>
                </a:solidFill>
                <a:latin typeface="Times New Roman" pitchFamily="34" charset="0"/>
                <a:ea typeface="Times New Roman" pitchFamily="34" charset="-122"/>
                <a:cs typeface="Times New Roman" pitchFamily="34" charset="-120"/>
              </a:rPr>
              <a:t>Zero fuel cost, off-grid capable, auto water saving, eco-friendly, easy maintenance, scalable design</a:t>
            </a:r>
            <a:endParaRPr lang="en-US" sz="1400" dirty="0"/>
          </a:p>
        </p:txBody>
      </p:sp>
      <p:sp>
        <p:nvSpPr>
          <p:cNvPr id="27" name="Shape 24"/>
          <p:cNvSpPr/>
          <p:nvPr/>
        </p:nvSpPr>
        <p:spPr>
          <a:xfrm>
            <a:off x="274320" y="3593592"/>
            <a:ext cx="8595360" cy="640080"/>
          </a:xfrm>
          <a:prstGeom prst="rect">
            <a:avLst/>
          </a:prstGeom>
          <a:solidFill>
            <a:srgbClr val="1A2744"/>
          </a:solidFill>
          <a:ln/>
        </p:spPr>
      </p:sp>
      <p:sp>
        <p:nvSpPr>
          <p:cNvPr id="28" name="Shape 25"/>
          <p:cNvSpPr/>
          <p:nvPr/>
        </p:nvSpPr>
        <p:spPr>
          <a:xfrm>
            <a:off x="274320" y="3593592"/>
            <a:ext cx="54864" cy="640080"/>
          </a:xfrm>
          <a:prstGeom prst="rect">
            <a:avLst/>
          </a:prstGeom>
          <a:solidFill>
            <a:srgbClr val="FFC000"/>
          </a:solidFill>
          <a:ln/>
        </p:spPr>
      </p:sp>
      <p:sp>
        <p:nvSpPr>
          <p:cNvPr id="29" name="Text 26"/>
          <p:cNvSpPr/>
          <p:nvPr/>
        </p:nvSpPr>
        <p:spPr>
          <a:xfrm>
            <a:off x="347472" y="3721608"/>
            <a:ext cx="292608" cy="347472"/>
          </a:xfrm>
          <a:prstGeom prst="rect">
            <a:avLst/>
          </a:prstGeom>
          <a:noFill/>
          <a:ln/>
        </p:spPr>
        <p:txBody>
          <a:bodyPr wrap="square" lIns="0" tIns="0" rIns="0" bIns="0" rtlCol="0" anchor="ctr"/>
          <a:lstStyle/>
          <a:p>
            <a:pPr marL="0" indent="0" algn="ctr">
              <a:buNone/>
            </a:pPr>
            <a:r>
              <a:rPr lang="en-US" sz="1300" dirty="0">
                <a:solidFill>
                  <a:srgbClr val="FFC000"/>
                </a:solidFill>
                <a:latin typeface="Times New Roman" pitchFamily="34" charset="0"/>
                <a:ea typeface="Times New Roman" pitchFamily="34" charset="-122"/>
                <a:cs typeface="Times New Roman" pitchFamily="34" charset="-120"/>
              </a:rPr>
              <a:t>✔</a:t>
            </a:r>
            <a:endParaRPr lang="en-US" sz="1300" dirty="0"/>
          </a:p>
        </p:txBody>
      </p:sp>
      <p:sp>
        <p:nvSpPr>
          <p:cNvPr id="30" name="Text 27"/>
          <p:cNvSpPr/>
          <p:nvPr/>
        </p:nvSpPr>
        <p:spPr>
          <a:xfrm>
            <a:off x="667512" y="3721608"/>
            <a:ext cx="1280160" cy="347472"/>
          </a:xfrm>
          <a:prstGeom prst="rect">
            <a:avLst/>
          </a:prstGeom>
          <a:noFill/>
          <a:ln/>
        </p:spPr>
        <p:txBody>
          <a:bodyPr wrap="square" lIns="0" tIns="0" rIns="0" bIns="0" rtlCol="0" anchor="ctr"/>
          <a:lstStyle/>
          <a:p>
            <a:pPr marL="0" indent="0">
              <a:buNone/>
            </a:pPr>
            <a:r>
              <a:rPr lang="en-US" sz="1300" b="1" dirty="0">
                <a:solidFill>
                  <a:srgbClr val="FFC000"/>
                </a:solidFill>
                <a:latin typeface="Times New Roman" pitchFamily="34" charset="0"/>
                <a:ea typeface="Times New Roman" pitchFamily="34" charset="-122"/>
                <a:cs typeface="Times New Roman" pitchFamily="34" charset="-120"/>
              </a:rPr>
              <a:t>Challenges:</a:t>
            </a:r>
            <a:endParaRPr lang="en-US" sz="1300" dirty="0"/>
          </a:p>
        </p:txBody>
      </p:sp>
      <p:sp>
        <p:nvSpPr>
          <p:cNvPr id="31" name="Text 28"/>
          <p:cNvSpPr/>
          <p:nvPr/>
        </p:nvSpPr>
        <p:spPr>
          <a:xfrm>
            <a:off x="1965960" y="3721608"/>
            <a:ext cx="6812280" cy="411480"/>
          </a:xfrm>
          <a:prstGeom prst="rect">
            <a:avLst/>
          </a:prstGeom>
          <a:noFill/>
          <a:ln/>
        </p:spPr>
        <p:txBody>
          <a:bodyPr wrap="square" lIns="0" tIns="0" rIns="0" bIns="0" rtlCol="0" anchor="ctr"/>
          <a:lstStyle/>
          <a:p>
            <a:pPr marL="0" indent="0">
              <a:buNone/>
            </a:pPr>
            <a:r>
              <a:rPr lang="en-US" sz="1400" dirty="0">
                <a:solidFill>
                  <a:srgbClr val="FFFFFF"/>
                </a:solidFill>
                <a:latin typeface="Times New Roman" pitchFamily="34" charset="0"/>
                <a:ea typeface="Times New Roman" pitchFamily="34" charset="-122"/>
                <a:cs typeface="Times New Roman" pitchFamily="34" charset="-120"/>
              </a:rPr>
              <a:t>Variable wind speed, initial installation cost, sensor calibration in outdoor conditions</a:t>
            </a:r>
            <a:endParaRPr lang="en-US" sz="1400" dirty="0"/>
          </a:p>
        </p:txBody>
      </p:sp>
      <p:sp>
        <p:nvSpPr>
          <p:cNvPr id="32" name="Shape 29"/>
          <p:cNvSpPr/>
          <p:nvPr/>
        </p:nvSpPr>
        <p:spPr>
          <a:xfrm>
            <a:off x="274320" y="4297680"/>
            <a:ext cx="8595360" cy="640080"/>
          </a:xfrm>
          <a:prstGeom prst="rect">
            <a:avLst/>
          </a:prstGeom>
          <a:solidFill>
            <a:srgbClr val="0D1B3E"/>
          </a:solidFill>
          <a:ln/>
        </p:spPr>
      </p:sp>
      <p:sp>
        <p:nvSpPr>
          <p:cNvPr id="33" name="Shape 30"/>
          <p:cNvSpPr/>
          <p:nvPr/>
        </p:nvSpPr>
        <p:spPr>
          <a:xfrm>
            <a:off x="274320" y="4297680"/>
            <a:ext cx="54864" cy="640080"/>
          </a:xfrm>
          <a:prstGeom prst="rect">
            <a:avLst/>
          </a:prstGeom>
          <a:solidFill>
            <a:srgbClr val="FFC000"/>
          </a:solidFill>
          <a:ln/>
        </p:spPr>
      </p:sp>
      <p:sp>
        <p:nvSpPr>
          <p:cNvPr id="34" name="Text 31"/>
          <p:cNvSpPr/>
          <p:nvPr/>
        </p:nvSpPr>
        <p:spPr>
          <a:xfrm>
            <a:off x="347472" y="4425696"/>
            <a:ext cx="292608" cy="347472"/>
          </a:xfrm>
          <a:prstGeom prst="rect">
            <a:avLst/>
          </a:prstGeom>
          <a:noFill/>
          <a:ln/>
        </p:spPr>
        <p:txBody>
          <a:bodyPr wrap="square" lIns="0" tIns="0" rIns="0" bIns="0" rtlCol="0" anchor="ctr"/>
          <a:lstStyle/>
          <a:p>
            <a:pPr marL="0" indent="0" algn="ctr">
              <a:buNone/>
            </a:pPr>
            <a:r>
              <a:rPr lang="en-US" sz="1300" dirty="0">
                <a:solidFill>
                  <a:srgbClr val="FFC000"/>
                </a:solidFill>
                <a:latin typeface="Times New Roman" pitchFamily="34" charset="0"/>
                <a:ea typeface="Times New Roman" pitchFamily="34" charset="-122"/>
                <a:cs typeface="Times New Roman" pitchFamily="34" charset="-120"/>
              </a:rPr>
              <a:t>✔</a:t>
            </a:r>
            <a:endParaRPr lang="en-US" sz="1300" dirty="0"/>
          </a:p>
        </p:txBody>
      </p:sp>
      <p:sp>
        <p:nvSpPr>
          <p:cNvPr id="35" name="Text 32"/>
          <p:cNvSpPr/>
          <p:nvPr/>
        </p:nvSpPr>
        <p:spPr>
          <a:xfrm>
            <a:off x="667512" y="4425696"/>
            <a:ext cx="1280160" cy="347472"/>
          </a:xfrm>
          <a:prstGeom prst="rect">
            <a:avLst/>
          </a:prstGeom>
          <a:noFill/>
          <a:ln/>
        </p:spPr>
        <p:txBody>
          <a:bodyPr wrap="square" lIns="0" tIns="0" rIns="0" bIns="0" rtlCol="0" anchor="ctr"/>
          <a:lstStyle/>
          <a:p>
            <a:pPr marL="0" indent="0">
              <a:buNone/>
            </a:pPr>
            <a:r>
              <a:rPr lang="en-US" sz="1300" b="1" dirty="0">
                <a:solidFill>
                  <a:srgbClr val="FFC000"/>
                </a:solidFill>
                <a:latin typeface="Times New Roman" pitchFamily="34" charset="0"/>
                <a:ea typeface="Times New Roman" pitchFamily="34" charset="-122"/>
                <a:cs typeface="Times New Roman" pitchFamily="34" charset="-120"/>
              </a:rPr>
              <a:t>Future Scope:</a:t>
            </a:r>
            <a:endParaRPr lang="en-US" sz="1300" dirty="0"/>
          </a:p>
        </p:txBody>
      </p:sp>
      <p:sp>
        <p:nvSpPr>
          <p:cNvPr id="36" name="Text 33"/>
          <p:cNvSpPr/>
          <p:nvPr/>
        </p:nvSpPr>
        <p:spPr>
          <a:xfrm>
            <a:off x="1965960" y="4425696"/>
            <a:ext cx="6812280" cy="411480"/>
          </a:xfrm>
          <a:prstGeom prst="rect">
            <a:avLst/>
          </a:prstGeom>
          <a:noFill/>
          <a:ln/>
        </p:spPr>
        <p:txBody>
          <a:bodyPr wrap="square" lIns="0" tIns="0" rIns="0" bIns="0" rtlCol="0" anchor="ctr"/>
          <a:lstStyle/>
          <a:p>
            <a:pPr marL="0" indent="0">
              <a:buNone/>
            </a:pPr>
            <a:r>
              <a:rPr lang="en-US" sz="1400" dirty="0">
                <a:solidFill>
                  <a:srgbClr val="FFFFFF"/>
                </a:solidFill>
                <a:latin typeface="Times New Roman" pitchFamily="34" charset="0"/>
                <a:ea typeface="Times New Roman" pitchFamily="34" charset="-122"/>
                <a:cs typeface="Times New Roman" pitchFamily="34" charset="-120"/>
              </a:rPr>
              <a:t>Hybrid solar-wind system, IoT mobile app control, AI-based irrigation scheduling, larger farm rollout</a:t>
            </a:r>
            <a:endParaRPr lang="en-US" sz="1400" dirty="0"/>
          </a:p>
        </p:txBody>
      </p:sp>
      <p:sp>
        <p:nvSpPr>
          <p:cNvPr id="37" name="Shape 34"/>
          <p:cNvSpPr/>
          <p:nvPr/>
        </p:nvSpPr>
        <p:spPr>
          <a:xfrm>
            <a:off x="0" y="4818888"/>
            <a:ext cx="9144000" cy="324612"/>
          </a:xfrm>
          <a:prstGeom prst="rect">
            <a:avLst/>
          </a:prstGeom>
          <a:solidFill>
            <a:srgbClr val="0A1040"/>
          </a:solidFill>
          <a:ln w="12700">
            <a:solidFill>
              <a:srgbClr val="0A1040"/>
            </a:solidFill>
            <a:prstDash val="solid"/>
          </a:ln>
        </p:spPr>
      </p:sp>
      <p:sp>
        <p:nvSpPr>
          <p:cNvPr id="38" name="Text 35"/>
          <p:cNvSpPr/>
          <p:nvPr/>
        </p:nvSpPr>
        <p:spPr>
          <a:xfrm>
            <a:off x="182880" y="4818888"/>
            <a:ext cx="8778240" cy="324612"/>
          </a:xfrm>
          <a:prstGeom prst="rect">
            <a:avLst/>
          </a:prstGeom>
          <a:noFill/>
          <a:ln/>
        </p:spPr>
        <p:txBody>
          <a:bodyPr wrap="square" lIns="0" tIns="0" rIns="0" bIns="0" rtlCol="0" anchor="ctr"/>
          <a:lstStyle/>
          <a:p>
            <a:pPr marL="0" indent="0" algn="ctr">
              <a:buNone/>
            </a:pPr>
            <a:endParaRPr lang="en-US" sz="900" dirty="0"/>
          </a:p>
        </p:txBody>
      </p:sp>
      <p:sp>
        <p:nvSpPr>
          <p:cNvPr id="39" name="SlideNum"/>
          <p:cNvSpPr/>
          <p:nvPr/>
        </p:nvSpPr>
        <p:spPr>
          <a:xfrm>
            <a:off x="8500000" y="4840000"/>
            <a:ext cx="600000" cy="250000"/>
          </a:xfrm>
          <a:prstGeom prst="rect">
            <a:avLst/>
          </a:prstGeom>
          <a:noFill/>
          <a:ln/>
        </p:spPr>
        <p:txBody>
          <a:bodyPr wrap="square" lIns="0" tIns="0" rIns="0" bIns="0" rtlCol="0" anchor="ctr"/>
          <a:lstStyle/>
          <a:p>
            <a:pPr marL="0" indent="0" algn="r">
              <a:buNone/>
            </a:pPr>
            <a:r>
              <a:rPr lang="en-US" sz="1100" b="0" dirty="0">
                <a:solidFill>
                  <a:srgbClr val="FFC000"/>
                </a:solidFill>
                <a:latin typeface="Times New Roman" pitchFamily="34" charset="0"/>
              </a:rPr>
              <a:t>17</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A1628"/>
          </a:solidFill>
          <a:ln/>
        </p:spPr>
      </p:sp>
      <p:sp>
        <p:nvSpPr>
          <p:cNvPr id="3" name="Shape 1"/>
          <p:cNvSpPr/>
          <p:nvPr/>
        </p:nvSpPr>
        <p:spPr>
          <a:xfrm>
            <a:off x="0" y="0"/>
            <a:ext cx="9144000" cy="658368"/>
          </a:xfrm>
          <a:prstGeom prst="rect">
            <a:avLst/>
          </a:prstGeom>
          <a:solidFill>
            <a:srgbClr val="0A1628"/>
          </a:solidFill>
          <a:ln/>
        </p:spPr>
      </p:sp>
      <p:sp>
        <p:nvSpPr>
          <p:cNvPr id="4" name="Shape 2"/>
          <p:cNvSpPr/>
          <p:nvPr/>
        </p:nvSpPr>
        <p:spPr>
          <a:xfrm>
            <a:off x="0" y="0"/>
            <a:ext cx="109728" cy="658368"/>
          </a:xfrm>
          <a:prstGeom prst="rect">
            <a:avLst/>
          </a:prstGeom>
          <a:solidFill>
            <a:srgbClr val="FFC000"/>
          </a:solidFill>
          <a:ln/>
        </p:spPr>
      </p:sp>
      <p:sp>
        <p:nvSpPr>
          <p:cNvPr id="5" name="Text 3"/>
          <p:cNvSpPr/>
          <p:nvPr/>
        </p:nvSpPr>
        <p:spPr>
          <a:xfrm>
            <a:off x="201168" y="0"/>
            <a:ext cx="8778240" cy="658368"/>
          </a:xfrm>
          <a:prstGeom prst="rect">
            <a:avLst/>
          </a:prstGeom>
          <a:noFill/>
          <a:ln/>
        </p:spPr>
        <p:txBody>
          <a:bodyPr wrap="square" lIns="0" tIns="0" rIns="0" bIns="0" rtlCol="0" anchor="ctr"/>
          <a:lstStyle/>
          <a:p>
            <a:pPr marL="0" indent="0">
              <a:buNone/>
            </a:pPr>
            <a:r>
              <a:rPr lang="en-US" sz="3600" b="1" dirty="0">
                <a:solidFill>
                  <a:srgbClr val="FFFFFF"/>
                </a:solidFill>
                <a:latin typeface="Times New Roman" pitchFamily="34" charset="0"/>
                <a:ea typeface="Times New Roman" pitchFamily="34" charset="-122"/>
                <a:cs typeface="Times New Roman" pitchFamily="34" charset="-120"/>
              </a:rPr>
              <a:t>References</a:t>
            </a:r>
            <a:endParaRPr lang="en-US" sz="3600" dirty="0"/>
          </a:p>
        </p:txBody>
      </p:sp>
      <p:sp>
        <p:nvSpPr>
          <p:cNvPr id="6" name="Shape 4"/>
          <p:cNvSpPr/>
          <p:nvPr/>
        </p:nvSpPr>
        <p:spPr>
          <a:xfrm>
            <a:off x="274320" y="777240"/>
            <a:ext cx="8595360" cy="640080"/>
          </a:xfrm>
          <a:prstGeom prst="rect">
            <a:avLst/>
          </a:prstGeom>
          <a:solidFill>
            <a:srgbClr val="1A2744"/>
          </a:solidFill>
          <a:ln/>
        </p:spPr>
      </p:sp>
      <p:sp>
        <p:nvSpPr>
          <p:cNvPr id="7" name="Text 5"/>
          <p:cNvSpPr/>
          <p:nvPr/>
        </p:nvSpPr>
        <p:spPr>
          <a:xfrm>
            <a:off x="320040" y="868680"/>
            <a:ext cx="365760" cy="457200"/>
          </a:xfrm>
          <a:prstGeom prst="rect">
            <a:avLst/>
          </a:prstGeom>
          <a:noFill/>
          <a:ln/>
        </p:spPr>
        <p:txBody>
          <a:bodyPr wrap="square" lIns="0" tIns="0" rIns="0" bIns="0" rtlCol="0" anchor="ctr"/>
          <a:lstStyle/>
          <a:p>
            <a:pPr marL="0" indent="0" algn="ctr">
              <a:buNone/>
            </a:pPr>
            <a:r>
              <a:rPr lang="en-US" sz="1100" b="1" dirty="0">
                <a:solidFill>
                  <a:srgbClr val="FFC000"/>
                </a:solidFill>
                <a:latin typeface="Times New Roman" pitchFamily="34" charset="0"/>
                <a:ea typeface="Times New Roman" pitchFamily="34" charset="-122"/>
                <a:cs typeface="Times New Roman" pitchFamily="34" charset="-120"/>
              </a:rPr>
              <a:t>1.</a:t>
            </a:r>
            <a:endParaRPr lang="en-US" sz="1100" dirty="0"/>
          </a:p>
        </p:txBody>
      </p:sp>
      <p:sp>
        <p:nvSpPr>
          <p:cNvPr id="8" name="Text 6"/>
          <p:cNvSpPr/>
          <p:nvPr/>
        </p:nvSpPr>
        <p:spPr>
          <a:xfrm>
            <a:off x="713232" y="813816"/>
            <a:ext cx="8092440" cy="576072"/>
          </a:xfrm>
          <a:prstGeom prst="rect">
            <a:avLst/>
          </a:prstGeom>
          <a:noFill/>
          <a:ln/>
        </p:spPr>
        <p:txBody>
          <a:bodyPr wrap="square" lIns="25400" tIns="25400" rIns="25400" bIns="25400" rtlCol="0" anchor="t"/>
          <a:lstStyle/>
          <a:p>
            <a:pPr marL="0" indent="0" algn="l">
              <a:buNone/>
            </a:pPr>
            <a:r>
              <a:rPr lang="en-US" sz="1100" dirty="0">
                <a:solidFill>
                  <a:srgbClr val="FFFFFF"/>
                </a:solidFill>
                <a:latin typeface="Times New Roman" pitchFamily="34" charset="0"/>
                <a:ea typeface="Times New Roman" pitchFamily="34" charset="-122"/>
                <a:cs typeface="Times New Roman" pitchFamily="34" charset="-120"/>
              </a:rPr>
              <a:t>Hashim, N., Neo, T.G., Mohammed, M.N., et al. (2023). Toward sustainable smart cities: solar and wind renewable energy in agriculture. Springer Nature Switzerland, pp. 555–563.</a:t>
            </a:r>
            <a:endParaRPr lang="en-US" sz="1100" dirty="0"/>
          </a:p>
        </p:txBody>
      </p:sp>
      <p:sp>
        <p:nvSpPr>
          <p:cNvPr id="9" name="Shape 7"/>
          <p:cNvSpPr/>
          <p:nvPr/>
        </p:nvSpPr>
        <p:spPr>
          <a:xfrm>
            <a:off x="274320" y="1481328"/>
            <a:ext cx="8595360" cy="640080"/>
          </a:xfrm>
          <a:prstGeom prst="rect">
            <a:avLst/>
          </a:prstGeom>
          <a:solidFill>
            <a:srgbClr val="0D1B3E"/>
          </a:solidFill>
          <a:ln/>
        </p:spPr>
      </p:sp>
      <p:sp>
        <p:nvSpPr>
          <p:cNvPr id="10" name="Text 8"/>
          <p:cNvSpPr/>
          <p:nvPr/>
        </p:nvSpPr>
        <p:spPr>
          <a:xfrm>
            <a:off x="320040" y="1572768"/>
            <a:ext cx="365760" cy="457200"/>
          </a:xfrm>
          <a:prstGeom prst="rect">
            <a:avLst/>
          </a:prstGeom>
          <a:noFill/>
          <a:ln/>
        </p:spPr>
        <p:txBody>
          <a:bodyPr wrap="square" lIns="0" tIns="0" rIns="0" bIns="0" rtlCol="0" anchor="ctr"/>
          <a:lstStyle/>
          <a:p>
            <a:pPr marL="0" indent="0" algn="ctr">
              <a:buNone/>
            </a:pPr>
            <a:r>
              <a:rPr lang="en-US" sz="1100" b="1" dirty="0">
                <a:solidFill>
                  <a:srgbClr val="FFC000"/>
                </a:solidFill>
                <a:latin typeface="Times New Roman" pitchFamily="34" charset="0"/>
                <a:ea typeface="Times New Roman" pitchFamily="34" charset="-122"/>
                <a:cs typeface="Times New Roman" pitchFamily="34" charset="-120"/>
              </a:rPr>
              <a:t>2.</a:t>
            </a:r>
            <a:endParaRPr lang="en-US" sz="1100" dirty="0"/>
          </a:p>
        </p:txBody>
      </p:sp>
      <p:sp>
        <p:nvSpPr>
          <p:cNvPr id="11" name="Text 9"/>
          <p:cNvSpPr/>
          <p:nvPr/>
        </p:nvSpPr>
        <p:spPr>
          <a:xfrm>
            <a:off x="713232" y="1517904"/>
            <a:ext cx="8092440" cy="576072"/>
          </a:xfrm>
          <a:prstGeom prst="rect">
            <a:avLst/>
          </a:prstGeom>
          <a:noFill/>
          <a:ln/>
        </p:spPr>
        <p:txBody>
          <a:bodyPr wrap="square" lIns="25400" tIns="25400" rIns="25400" bIns="25400" rtlCol="0" anchor="t"/>
          <a:lstStyle/>
          <a:p>
            <a:pPr marL="0" indent="0" algn="l">
              <a:buNone/>
            </a:pPr>
            <a:r>
              <a:rPr lang="en-US" sz="1100" dirty="0">
                <a:solidFill>
                  <a:srgbClr val="FFFFFF"/>
                </a:solidFill>
                <a:latin typeface="Times New Roman" pitchFamily="34" charset="0"/>
                <a:ea typeface="Times New Roman" pitchFamily="34" charset="-122"/>
                <a:cs typeface="Times New Roman" pitchFamily="34" charset="-120"/>
              </a:rPr>
              <a:t>Khan, Z.A., Imran, M., Altamimi, A., et al. (2021). Assessment of wind and solar hybrid energy for agricultural applications in Sudan. Energies, 15(1), 5.</a:t>
            </a:r>
            <a:endParaRPr lang="en-US" sz="1100" dirty="0"/>
          </a:p>
        </p:txBody>
      </p:sp>
      <p:sp>
        <p:nvSpPr>
          <p:cNvPr id="12" name="Shape 10"/>
          <p:cNvSpPr/>
          <p:nvPr/>
        </p:nvSpPr>
        <p:spPr>
          <a:xfrm>
            <a:off x="274320" y="2185416"/>
            <a:ext cx="8595360" cy="640080"/>
          </a:xfrm>
          <a:prstGeom prst="rect">
            <a:avLst/>
          </a:prstGeom>
          <a:solidFill>
            <a:srgbClr val="1A2744"/>
          </a:solidFill>
          <a:ln/>
        </p:spPr>
      </p:sp>
      <p:sp>
        <p:nvSpPr>
          <p:cNvPr id="13" name="Text 11"/>
          <p:cNvSpPr/>
          <p:nvPr/>
        </p:nvSpPr>
        <p:spPr>
          <a:xfrm>
            <a:off x="320040" y="2276856"/>
            <a:ext cx="365760" cy="457200"/>
          </a:xfrm>
          <a:prstGeom prst="rect">
            <a:avLst/>
          </a:prstGeom>
          <a:noFill/>
          <a:ln/>
        </p:spPr>
        <p:txBody>
          <a:bodyPr wrap="square" lIns="0" tIns="0" rIns="0" bIns="0" rtlCol="0" anchor="ctr"/>
          <a:lstStyle/>
          <a:p>
            <a:pPr marL="0" indent="0" algn="ctr">
              <a:buNone/>
            </a:pPr>
            <a:r>
              <a:rPr lang="en-US" sz="1100" b="1" dirty="0">
                <a:solidFill>
                  <a:srgbClr val="FFC000"/>
                </a:solidFill>
                <a:latin typeface="Times New Roman" pitchFamily="34" charset="0"/>
                <a:ea typeface="Times New Roman" pitchFamily="34" charset="-122"/>
                <a:cs typeface="Times New Roman" pitchFamily="34" charset="-120"/>
              </a:rPr>
              <a:t>3.</a:t>
            </a:r>
            <a:endParaRPr lang="en-US" sz="1100" dirty="0"/>
          </a:p>
        </p:txBody>
      </p:sp>
      <p:sp>
        <p:nvSpPr>
          <p:cNvPr id="14" name="Text 12"/>
          <p:cNvSpPr/>
          <p:nvPr/>
        </p:nvSpPr>
        <p:spPr>
          <a:xfrm>
            <a:off x="713232" y="2221992"/>
            <a:ext cx="8092440" cy="576072"/>
          </a:xfrm>
          <a:prstGeom prst="rect">
            <a:avLst/>
          </a:prstGeom>
          <a:noFill/>
          <a:ln/>
        </p:spPr>
        <p:txBody>
          <a:bodyPr wrap="square" lIns="25400" tIns="25400" rIns="25400" bIns="25400" rtlCol="0" anchor="t"/>
          <a:lstStyle/>
          <a:p>
            <a:pPr marL="0" indent="0" algn="l">
              <a:buNone/>
            </a:pPr>
            <a:r>
              <a:rPr lang="en-US" sz="1100" dirty="0">
                <a:solidFill>
                  <a:srgbClr val="FFFFFF"/>
                </a:solidFill>
                <a:latin typeface="Times New Roman" pitchFamily="34" charset="0"/>
                <a:ea typeface="Times New Roman" pitchFamily="34" charset="-122"/>
                <a:cs typeface="Times New Roman" pitchFamily="34" charset="-120"/>
              </a:rPr>
              <a:t>Usman, H.M., Mahmud, M., Yahaya, M.S., &amp; Saminu, S. (2024). Wind-powered agriculture: Enhancing crop production in arid regions. Elektrika, 16.</a:t>
            </a:r>
            <a:endParaRPr lang="en-US" sz="1100" dirty="0"/>
          </a:p>
        </p:txBody>
      </p:sp>
      <p:sp>
        <p:nvSpPr>
          <p:cNvPr id="15" name="Shape 13"/>
          <p:cNvSpPr/>
          <p:nvPr/>
        </p:nvSpPr>
        <p:spPr>
          <a:xfrm>
            <a:off x="274320" y="2889504"/>
            <a:ext cx="8595360" cy="640080"/>
          </a:xfrm>
          <a:prstGeom prst="rect">
            <a:avLst/>
          </a:prstGeom>
          <a:solidFill>
            <a:srgbClr val="0D1B3E"/>
          </a:solidFill>
          <a:ln/>
        </p:spPr>
      </p:sp>
      <p:sp>
        <p:nvSpPr>
          <p:cNvPr id="16" name="Text 14"/>
          <p:cNvSpPr/>
          <p:nvPr/>
        </p:nvSpPr>
        <p:spPr>
          <a:xfrm>
            <a:off x="320040" y="2980944"/>
            <a:ext cx="365760" cy="457200"/>
          </a:xfrm>
          <a:prstGeom prst="rect">
            <a:avLst/>
          </a:prstGeom>
          <a:noFill/>
          <a:ln/>
        </p:spPr>
        <p:txBody>
          <a:bodyPr wrap="square" lIns="0" tIns="0" rIns="0" bIns="0" rtlCol="0" anchor="ctr"/>
          <a:lstStyle/>
          <a:p>
            <a:pPr marL="0" indent="0" algn="ctr">
              <a:buNone/>
            </a:pPr>
            <a:r>
              <a:rPr lang="en-US" sz="1100" b="1" dirty="0">
                <a:solidFill>
                  <a:srgbClr val="FFC000"/>
                </a:solidFill>
                <a:latin typeface="Times New Roman" pitchFamily="34" charset="0"/>
                <a:ea typeface="Times New Roman" pitchFamily="34" charset="-122"/>
                <a:cs typeface="Times New Roman" pitchFamily="34" charset="-120"/>
              </a:rPr>
              <a:t>4.</a:t>
            </a:r>
            <a:endParaRPr lang="en-US" sz="1100" dirty="0"/>
          </a:p>
        </p:txBody>
      </p:sp>
      <p:sp>
        <p:nvSpPr>
          <p:cNvPr id="17" name="Text 15"/>
          <p:cNvSpPr/>
          <p:nvPr/>
        </p:nvSpPr>
        <p:spPr>
          <a:xfrm>
            <a:off x="713232" y="2926080"/>
            <a:ext cx="8092440" cy="576072"/>
          </a:xfrm>
          <a:prstGeom prst="rect">
            <a:avLst/>
          </a:prstGeom>
          <a:noFill/>
          <a:ln/>
        </p:spPr>
        <p:txBody>
          <a:bodyPr wrap="square" lIns="25400" tIns="25400" rIns="25400" bIns="25400" rtlCol="0" anchor="t"/>
          <a:lstStyle/>
          <a:p>
            <a:pPr marL="0" indent="0" algn="l">
              <a:buNone/>
            </a:pPr>
            <a:r>
              <a:rPr lang="en-US" sz="1100" dirty="0">
                <a:solidFill>
                  <a:srgbClr val="FFFFFF"/>
                </a:solidFill>
                <a:latin typeface="Times New Roman" pitchFamily="34" charset="0"/>
                <a:ea typeface="Times New Roman" pitchFamily="34" charset="-122"/>
                <a:cs typeface="Times New Roman" pitchFamily="34" charset="-120"/>
              </a:rPr>
              <a:t>Daoudi, M. (2025). Cleaner energy solutions using wind energy and hydrogen production in agriculture. Cleaner Energy Systems, 10, 100183.</a:t>
            </a:r>
            <a:endParaRPr lang="en-US" sz="1100" dirty="0"/>
          </a:p>
        </p:txBody>
      </p:sp>
      <p:sp>
        <p:nvSpPr>
          <p:cNvPr id="18" name="Shape 16"/>
          <p:cNvSpPr/>
          <p:nvPr/>
        </p:nvSpPr>
        <p:spPr>
          <a:xfrm>
            <a:off x="274320" y="3593592"/>
            <a:ext cx="8595360" cy="640080"/>
          </a:xfrm>
          <a:prstGeom prst="rect">
            <a:avLst/>
          </a:prstGeom>
          <a:solidFill>
            <a:srgbClr val="1A2744"/>
          </a:solidFill>
          <a:ln/>
        </p:spPr>
      </p:sp>
      <p:sp>
        <p:nvSpPr>
          <p:cNvPr id="19" name="Text 17"/>
          <p:cNvSpPr/>
          <p:nvPr/>
        </p:nvSpPr>
        <p:spPr>
          <a:xfrm>
            <a:off x="320040" y="3685032"/>
            <a:ext cx="365760" cy="457200"/>
          </a:xfrm>
          <a:prstGeom prst="rect">
            <a:avLst/>
          </a:prstGeom>
          <a:noFill/>
          <a:ln/>
        </p:spPr>
        <p:txBody>
          <a:bodyPr wrap="square" lIns="0" tIns="0" rIns="0" bIns="0" rtlCol="0" anchor="ctr"/>
          <a:lstStyle/>
          <a:p>
            <a:pPr marL="0" indent="0" algn="ctr">
              <a:buNone/>
            </a:pPr>
            <a:r>
              <a:rPr lang="en-US" sz="1100" b="1" dirty="0">
                <a:solidFill>
                  <a:srgbClr val="FFC000"/>
                </a:solidFill>
                <a:latin typeface="Times New Roman" pitchFamily="34" charset="0"/>
                <a:ea typeface="Times New Roman" pitchFamily="34" charset="-122"/>
                <a:cs typeface="Times New Roman" pitchFamily="34" charset="-120"/>
              </a:rPr>
              <a:t>5.</a:t>
            </a:r>
            <a:endParaRPr lang="en-US" sz="1100" dirty="0"/>
          </a:p>
        </p:txBody>
      </p:sp>
      <p:sp>
        <p:nvSpPr>
          <p:cNvPr id="20" name="Text 18"/>
          <p:cNvSpPr/>
          <p:nvPr/>
        </p:nvSpPr>
        <p:spPr>
          <a:xfrm>
            <a:off x="713232" y="3630168"/>
            <a:ext cx="8092440" cy="576072"/>
          </a:xfrm>
          <a:prstGeom prst="rect">
            <a:avLst/>
          </a:prstGeom>
          <a:noFill/>
          <a:ln/>
        </p:spPr>
        <p:txBody>
          <a:bodyPr wrap="square" lIns="25400" tIns="25400" rIns="25400" bIns="25400" rtlCol="0" anchor="t"/>
          <a:lstStyle/>
          <a:p>
            <a:pPr marL="0" indent="0" algn="l">
              <a:buNone/>
            </a:pPr>
            <a:r>
              <a:rPr lang="en-US" sz="1100" dirty="0">
                <a:solidFill>
                  <a:srgbClr val="FFFFFF"/>
                </a:solidFill>
                <a:latin typeface="Times New Roman" pitchFamily="34" charset="0"/>
                <a:ea typeface="Times New Roman" pitchFamily="34" charset="-122"/>
                <a:cs typeface="Times New Roman" pitchFamily="34" charset="-120"/>
              </a:rPr>
              <a:t>Alemu, T., Tesfaye, B., &amp; Abera, G. (2015). Feasibility of wind-powered water pumping systems for rural Ethiopia. Ethiopian J. Sci., 38(2), 45–56.</a:t>
            </a:r>
            <a:endParaRPr lang="en-US" sz="1100" dirty="0"/>
          </a:p>
        </p:txBody>
      </p:sp>
      <p:sp>
        <p:nvSpPr>
          <p:cNvPr id="21" name="Shape 19"/>
          <p:cNvSpPr/>
          <p:nvPr/>
        </p:nvSpPr>
        <p:spPr>
          <a:xfrm>
            <a:off x="274320" y="4297680"/>
            <a:ext cx="8595360" cy="640080"/>
          </a:xfrm>
          <a:prstGeom prst="rect">
            <a:avLst/>
          </a:prstGeom>
          <a:solidFill>
            <a:srgbClr val="0D1B3E"/>
          </a:solidFill>
          <a:ln/>
        </p:spPr>
      </p:sp>
      <p:sp>
        <p:nvSpPr>
          <p:cNvPr id="22" name="Text 20"/>
          <p:cNvSpPr/>
          <p:nvPr/>
        </p:nvSpPr>
        <p:spPr>
          <a:xfrm>
            <a:off x="320040" y="4389120"/>
            <a:ext cx="365760" cy="457200"/>
          </a:xfrm>
          <a:prstGeom prst="rect">
            <a:avLst/>
          </a:prstGeom>
          <a:noFill/>
          <a:ln/>
        </p:spPr>
        <p:txBody>
          <a:bodyPr wrap="square" lIns="0" tIns="0" rIns="0" bIns="0" rtlCol="0" anchor="ctr"/>
          <a:lstStyle/>
          <a:p>
            <a:pPr marL="0" indent="0" algn="ctr">
              <a:buNone/>
            </a:pPr>
            <a:r>
              <a:rPr lang="en-US" sz="1100" b="1" dirty="0">
                <a:solidFill>
                  <a:srgbClr val="FFC000"/>
                </a:solidFill>
                <a:latin typeface="Times New Roman" pitchFamily="34" charset="0"/>
                <a:ea typeface="Times New Roman" pitchFamily="34" charset="-122"/>
                <a:cs typeface="Times New Roman" pitchFamily="34" charset="-120"/>
              </a:rPr>
              <a:t>6.</a:t>
            </a:r>
            <a:endParaRPr lang="en-US" sz="1100" dirty="0"/>
          </a:p>
        </p:txBody>
      </p:sp>
      <p:sp>
        <p:nvSpPr>
          <p:cNvPr id="23" name="Text 21"/>
          <p:cNvSpPr/>
          <p:nvPr/>
        </p:nvSpPr>
        <p:spPr>
          <a:xfrm>
            <a:off x="713232" y="4334256"/>
            <a:ext cx="8092440" cy="576072"/>
          </a:xfrm>
          <a:prstGeom prst="rect">
            <a:avLst/>
          </a:prstGeom>
          <a:noFill/>
          <a:ln/>
        </p:spPr>
        <p:txBody>
          <a:bodyPr wrap="square" lIns="25400" tIns="25400" rIns="25400" bIns="25400" rtlCol="0" anchor="t"/>
          <a:lstStyle/>
          <a:p>
            <a:pPr marL="0" indent="0" algn="l">
              <a:buNone/>
            </a:pPr>
            <a:r>
              <a:rPr lang="en-US" sz="1100" dirty="0">
                <a:solidFill>
                  <a:srgbClr val="FFFFFF"/>
                </a:solidFill>
                <a:latin typeface="Times New Roman" pitchFamily="34" charset="0"/>
                <a:ea typeface="Times New Roman" pitchFamily="34" charset="-122"/>
                <a:cs typeface="Times New Roman" pitchFamily="34" charset="-120"/>
              </a:rPr>
              <a:t>Zhou, W., Lou, C., Li, Z., Lu, L., &amp; Yang, H. (2017). Hybrid wind-solar water pumping systems for reliable operation. Environ. Sci. Pollut. Res., 24(15), 13200–13210.</a:t>
            </a:r>
            <a:endParaRPr lang="en-US" sz="1100" dirty="0"/>
          </a:p>
        </p:txBody>
      </p:sp>
      <p:sp>
        <p:nvSpPr>
          <p:cNvPr id="24" name="Shape 22"/>
          <p:cNvSpPr/>
          <p:nvPr/>
        </p:nvSpPr>
        <p:spPr>
          <a:xfrm>
            <a:off x="0" y="4818888"/>
            <a:ext cx="9144000" cy="324612"/>
          </a:xfrm>
          <a:prstGeom prst="rect">
            <a:avLst/>
          </a:prstGeom>
          <a:solidFill>
            <a:srgbClr val="0A1040"/>
          </a:solidFill>
          <a:ln w="12700">
            <a:solidFill>
              <a:srgbClr val="0A1040"/>
            </a:solidFill>
            <a:prstDash val="solid"/>
          </a:ln>
        </p:spPr>
      </p:sp>
      <p:sp>
        <p:nvSpPr>
          <p:cNvPr id="25" name="Text 23"/>
          <p:cNvSpPr/>
          <p:nvPr/>
        </p:nvSpPr>
        <p:spPr>
          <a:xfrm>
            <a:off x="182880" y="4818888"/>
            <a:ext cx="8778240" cy="324612"/>
          </a:xfrm>
          <a:prstGeom prst="rect">
            <a:avLst/>
          </a:prstGeom>
          <a:noFill/>
          <a:ln/>
        </p:spPr>
        <p:txBody>
          <a:bodyPr wrap="square" lIns="0" tIns="0" rIns="0" bIns="0" rtlCol="0" anchor="ctr"/>
          <a:lstStyle/>
          <a:p>
            <a:pPr marL="0" indent="0" algn="ctr">
              <a:buNone/>
            </a:pPr>
            <a:endParaRPr lang="en-US" sz="900" dirty="0"/>
          </a:p>
        </p:txBody>
      </p:sp>
      <p:sp>
        <p:nvSpPr>
          <p:cNvPr id="26" name="SlideNum"/>
          <p:cNvSpPr/>
          <p:nvPr/>
        </p:nvSpPr>
        <p:spPr>
          <a:xfrm>
            <a:off x="8500000" y="4840000"/>
            <a:ext cx="600000" cy="250000"/>
          </a:xfrm>
          <a:prstGeom prst="rect">
            <a:avLst/>
          </a:prstGeom>
          <a:noFill/>
          <a:ln/>
        </p:spPr>
        <p:txBody>
          <a:bodyPr wrap="square" lIns="0" tIns="0" rIns="0" bIns="0" rtlCol="0" anchor="ctr"/>
          <a:lstStyle/>
          <a:p>
            <a:pPr marL="0" indent="0" algn="r">
              <a:buNone/>
            </a:pPr>
            <a:r>
              <a:rPr lang="en-US" sz="1100" b="0" dirty="0">
                <a:solidFill>
                  <a:srgbClr val="FFC000"/>
                </a:solidFill>
                <a:latin typeface="Times New Roman" pitchFamily="34" charset="0"/>
              </a:rPr>
              <a:t>18</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References 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A1628"/>
          </a:solidFill>
          <a:ln/>
        </p:spPr>
        <p:txBody>
          <a:bodyPr/>
          <a:lstStyle/>
          <a:p>
            <a:endParaRPr lang="en-US" dirty="0"/>
          </a:p>
        </p:txBody>
      </p:sp>
      <p:sp>
        <p:nvSpPr>
          <p:cNvPr id="3" name="Shape 1"/>
          <p:cNvSpPr/>
          <p:nvPr/>
        </p:nvSpPr>
        <p:spPr>
          <a:xfrm>
            <a:off x="0" y="0"/>
            <a:ext cx="9144000" cy="658368"/>
          </a:xfrm>
          <a:prstGeom prst="rect">
            <a:avLst/>
          </a:prstGeom>
          <a:solidFill>
            <a:srgbClr val="0A1628"/>
          </a:solidFill>
          <a:ln/>
        </p:spPr>
      </p:sp>
      <p:sp>
        <p:nvSpPr>
          <p:cNvPr id="4" name="Shape 2"/>
          <p:cNvSpPr/>
          <p:nvPr/>
        </p:nvSpPr>
        <p:spPr>
          <a:xfrm>
            <a:off x="0" y="0"/>
            <a:ext cx="109728" cy="658368"/>
          </a:xfrm>
          <a:prstGeom prst="rect">
            <a:avLst/>
          </a:prstGeom>
          <a:solidFill>
            <a:srgbClr val="FFC000"/>
          </a:solidFill>
          <a:ln/>
        </p:spPr>
      </p:sp>
      <p:sp>
        <p:nvSpPr>
          <p:cNvPr id="5" name="Text 3"/>
          <p:cNvSpPr/>
          <p:nvPr/>
        </p:nvSpPr>
        <p:spPr>
          <a:xfrm>
            <a:off x="201168" y="0"/>
            <a:ext cx="8778240" cy="658368"/>
          </a:xfrm>
          <a:prstGeom prst="rect">
            <a:avLst/>
          </a:prstGeom>
          <a:noFill/>
          <a:ln/>
        </p:spPr>
        <p:txBody>
          <a:bodyPr wrap="square" lIns="0" tIns="0" rIns="0" bIns="0" rtlCol="0" anchor="ctr"/>
          <a:lstStyle/>
          <a:p>
            <a:pPr marL="0" indent="0">
              <a:buNone/>
            </a:pPr>
            <a:r>
              <a:rPr lang="en-US" sz="3200" b="1" dirty="0">
                <a:solidFill>
                  <a:srgbClr val="FFFFFF"/>
                </a:solidFill>
                <a:latin typeface="Times New Roman" pitchFamily="34" charset="0"/>
              </a:rPr>
              <a:t>References (Contd.)</a:t>
            </a:r>
          </a:p>
        </p:txBody>
      </p:sp>
      <p:sp>
        <p:nvSpPr>
          <p:cNvPr id="6" name="Text 6"/>
          <p:cNvSpPr/>
          <p:nvPr/>
        </p:nvSpPr>
        <p:spPr>
          <a:xfrm>
            <a:off x="182880" y="720000"/>
            <a:ext cx="8778240" cy="4050000"/>
          </a:xfrm>
          <a:prstGeom prst="rect">
            <a:avLst/>
          </a:prstGeom>
          <a:noFill/>
          <a:ln/>
        </p:spPr>
        <p:txBody>
          <a:bodyPr wrap="square" lIns="50800" tIns="50800" rIns="50800" bIns="50800" rtlCol="0" anchor="t"/>
          <a:lstStyle/>
          <a:p>
            <a:pPr marL="342900" indent="-342900">
              <a:buNone/>
            </a:pPr>
            <a:r>
              <a:rPr lang="en-US" sz="1300" b="1" dirty="0">
                <a:solidFill>
                  <a:srgbClr val="FFC000"/>
                </a:solidFill>
                <a:latin typeface="Times New Roman" pitchFamily="34" charset="0"/>
              </a:rPr>
              <a:t>7. </a:t>
            </a:r>
            <a:r>
              <a:rPr lang="en-US" sz="1300" dirty="0">
                <a:solidFill>
                  <a:srgbClr val="FFFFFF"/>
                </a:solidFill>
                <a:latin typeface="Times New Roman" pitchFamily="34" charset="0"/>
              </a:rPr>
              <a:t>Mehmood, S., &amp; Khan, A. (2020). Small-scale wind energy systems for off-grid rural electrification: A review. Renewable and Sustainable Energy Reviews, 125, 109847.</a:t>
            </a:r>
          </a:p>
          <a:p>
            <a:endParaRPr lang="en-US" sz="1000" dirty="0"/>
          </a:p>
          <a:p>
            <a:pPr marL="342900" indent="-342900">
              <a:buNone/>
            </a:pPr>
            <a:r>
              <a:rPr lang="en-US" sz="1300" b="1" dirty="0">
                <a:solidFill>
                  <a:srgbClr val="FFC000"/>
                </a:solidFill>
                <a:latin typeface="Times New Roman" pitchFamily="34" charset="0"/>
              </a:rPr>
              <a:t>8. </a:t>
            </a:r>
            <a:r>
              <a:rPr lang="en-US" sz="1300" dirty="0">
                <a:solidFill>
                  <a:srgbClr val="FFFFFF"/>
                </a:solidFill>
                <a:latin typeface="Times New Roman" pitchFamily="34" charset="0"/>
              </a:rPr>
              <a:t>Brano, V.L., Ciulla, G., &amp; D’Amico, A. (2014). Artificial neural networks to predict the power output of a PV panel. International Journal of Photoenergy, 2014.</a:t>
            </a:r>
          </a:p>
          <a:p>
            <a:endParaRPr lang="en-US" sz="1000" dirty="0"/>
          </a:p>
          <a:p>
            <a:pPr marL="342900" indent="-342900">
              <a:buNone/>
            </a:pPr>
            <a:r>
              <a:rPr lang="en-US" sz="1300" b="1" dirty="0">
                <a:solidFill>
                  <a:srgbClr val="FFC000"/>
                </a:solidFill>
                <a:latin typeface="Times New Roman" pitchFamily="34" charset="0"/>
              </a:rPr>
              <a:t>9. </a:t>
            </a:r>
            <a:r>
              <a:rPr lang="en-US" sz="1300" dirty="0">
                <a:solidFill>
                  <a:srgbClr val="FFFFFF"/>
                </a:solidFill>
                <a:latin typeface="Times New Roman" pitchFamily="34" charset="0"/>
              </a:rPr>
              <a:t>Espressif Systems. (2023). ESP32 Technical Reference Manual. Version 5.1. Retrieved from https://www.espressif.com/documentation</a:t>
            </a:r>
          </a:p>
          <a:p>
            <a:endParaRPr lang="en-US" sz="1000" dirty="0"/>
          </a:p>
          <a:p>
            <a:pPr marL="342900" indent="-342900">
              <a:buNone/>
            </a:pPr>
            <a:r>
              <a:rPr lang="en-US" sz="1300" b="1" dirty="0">
                <a:solidFill>
                  <a:srgbClr val="FFC000"/>
                </a:solidFill>
                <a:latin typeface="Times New Roman" pitchFamily="34" charset="0"/>
              </a:rPr>
              <a:t>10. </a:t>
            </a:r>
            <a:r>
              <a:rPr lang="en-US" sz="1300" dirty="0">
                <a:solidFill>
                  <a:srgbClr val="FFFFFF"/>
                </a:solidFill>
                <a:latin typeface="Times New Roman" pitchFamily="34" charset="0"/>
              </a:rPr>
              <a:t>Sensirion AG. (2022). Soil Moisture Sensor Integration Guide for Microcontrollers. Application Note AN-102.</a:t>
            </a:r>
          </a:p>
          <a:p>
            <a:endParaRPr lang="en-US" sz="1000" dirty="0"/>
          </a:p>
          <a:p>
            <a:pPr marL="342900" indent="-342900">
              <a:buNone/>
            </a:pPr>
            <a:r>
              <a:rPr lang="en-US" sz="1300" b="1" dirty="0">
                <a:solidFill>
                  <a:srgbClr val="FFC000"/>
                </a:solidFill>
                <a:latin typeface="Times New Roman" pitchFamily="34" charset="0"/>
              </a:rPr>
              <a:t>11. </a:t>
            </a:r>
            <a:r>
              <a:rPr lang="en-US" sz="1300" dirty="0">
                <a:solidFill>
                  <a:srgbClr val="FFFFFF"/>
                </a:solidFill>
                <a:latin typeface="Times New Roman" pitchFamily="34" charset="0"/>
              </a:rPr>
              <a:t>Texas Instruments. (2021). BQ24040 Battery Management System Datasheet. SLUS882D.</a:t>
            </a:r>
          </a:p>
          <a:p>
            <a:endParaRPr lang="en-US" sz="1000" dirty="0"/>
          </a:p>
          <a:p>
            <a:pPr marL="342900" indent="-342900">
              <a:buNone/>
            </a:pPr>
            <a:r>
              <a:rPr lang="en-US" sz="1300" b="1" dirty="0">
                <a:solidFill>
                  <a:srgbClr val="FFC000"/>
                </a:solidFill>
                <a:latin typeface="Times New Roman" pitchFamily="34" charset="0"/>
              </a:rPr>
              <a:t>12. </a:t>
            </a:r>
            <a:r>
              <a:rPr lang="en-US" sz="1300" dirty="0">
                <a:solidFill>
                  <a:srgbClr val="FFFFFF"/>
                </a:solidFill>
                <a:latin typeface="Times New Roman" pitchFamily="34" charset="0"/>
              </a:rPr>
              <a:t>Indian Patent Office. (2023). Manual of Patent Office Practice and Procedure. Version 3.0.</a:t>
            </a:r>
          </a:p>
          <a:p>
            <a:endParaRPr lang="en-US" sz="1000" dirty="0"/>
          </a:p>
        </p:txBody>
      </p:sp>
      <p:sp>
        <p:nvSpPr>
          <p:cNvPr id="50" name="Shape Footer"/>
          <p:cNvSpPr/>
          <p:nvPr/>
        </p:nvSpPr>
        <p:spPr>
          <a:xfrm>
            <a:off x="0" y="4818888"/>
            <a:ext cx="9144000" cy="324612"/>
          </a:xfrm>
          <a:prstGeom prst="rect">
            <a:avLst/>
          </a:prstGeom>
          <a:solidFill>
            <a:srgbClr val="0A1040"/>
          </a:solidFill>
          <a:ln/>
        </p:spPr>
      </p:sp>
      <p:sp>
        <p:nvSpPr>
          <p:cNvPr id="51" name="SlideNum"/>
          <p:cNvSpPr/>
          <p:nvPr/>
        </p:nvSpPr>
        <p:spPr>
          <a:xfrm>
            <a:off x="8500000" y="4840000"/>
            <a:ext cx="600000" cy="250000"/>
          </a:xfrm>
          <a:prstGeom prst="rect">
            <a:avLst/>
          </a:prstGeom>
          <a:noFill/>
          <a:ln/>
        </p:spPr>
        <p:txBody>
          <a:bodyPr wrap="square" lIns="0" tIns="0" rIns="0" bIns="0" rtlCol="0" anchor="ctr"/>
          <a:lstStyle/>
          <a:p>
            <a:pPr marL="0" indent="0" algn="r">
              <a:buNone/>
            </a:pPr>
            <a:r>
              <a:rPr lang="en-US" sz="1100" b="0" dirty="0">
                <a:solidFill>
                  <a:srgbClr val="FFC000"/>
                </a:solidFill>
                <a:latin typeface="Times New Roman" pitchFamily="34" charset="0"/>
              </a:rPr>
              <a:t>21</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A1628"/>
          </a:solidFill>
          <a:ln/>
        </p:spPr>
      </p:sp>
      <p:sp>
        <p:nvSpPr>
          <p:cNvPr id="3" name="Shape 1"/>
          <p:cNvSpPr/>
          <p:nvPr/>
        </p:nvSpPr>
        <p:spPr>
          <a:xfrm>
            <a:off x="274320" y="274320"/>
            <a:ext cx="8595360" cy="4572000"/>
          </a:xfrm>
          <a:prstGeom prst="rect">
            <a:avLst/>
          </a:prstGeom>
          <a:solidFill>
            <a:srgbClr val="000000">
              <a:alpha val="0"/>
            </a:srgbClr>
          </a:solidFill>
          <a:ln w="25400">
            <a:solidFill>
              <a:srgbClr val="FFC000"/>
            </a:solidFill>
            <a:prstDash val="solid"/>
          </a:ln>
        </p:spPr>
      </p:sp>
      <p:sp>
        <p:nvSpPr>
          <p:cNvPr id="4" name="Shape 2"/>
          <p:cNvSpPr/>
          <p:nvPr/>
        </p:nvSpPr>
        <p:spPr>
          <a:xfrm>
            <a:off x="457200" y="457200"/>
            <a:ext cx="8229600" cy="4206240"/>
          </a:xfrm>
          <a:prstGeom prst="rect">
            <a:avLst/>
          </a:prstGeom>
          <a:solidFill>
            <a:srgbClr val="000000">
              <a:alpha val="0"/>
            </a:srgbClr>
          </a:solidFill>
          <a:ln w="6350">
            <a:solidFill>
              <a:srgbClr val="FFC000"/>
            </a:solidFill>
            <a:prstDash val="solid"/>
          </a:ln>
        </p:spPr>
      </p:sp>
      <p:sp>
        <p:nvSpPr>
          <p:cNvPr id="5" name="Text 3"/>
          <p:cNvSpPr/>
          <p:nvPr/>
        </p:nvSpPr>
        <p:spPr>
          <a:xfrm>
            <a:off x="914400" y="1097280"/>
            <a:ext cx="7315200" cy="1280160"/>
          </a:xfrm>
          <a:prstGeom prst="rect">
            <a:avLst/>
          </a:prstGeom>
          <a:noFill/>
          <a:ln/>
        </p:spPr>
        <p:txBody>
          <a:bodyPr wrap="square" lIns="0" tIns="0" rIns="0" bIns="0" rtlCol="0" anchor="ctr"/>
          <a:lstStyle/>
          <a:p>
            <a:pPr marL="0" indent="0" algn="ctr">
              <a:buNone/>
            </a:pPr>
            <a:r>
              <a:rPr lang="en-US" sz="6000" b="1" dirty="0">
                <a:solidFill>
                  <a:srgbClr val="FFC000"/>
                </a:solidFill>
                <a:latin typeface="Times New Roman" pitchFamily="34" charset="0"/>
                <a:ea typeface="Times New Roman" pitchFamily="34" charset="-122"/>
                <a:cs typeface="Times New Roman" pitchFamily="34" charset="-120"/>
              </a:rPr>
              <a:t>THANK YOU</a:t>
            </a:r>
            <a:endParaRPr lang="en-US" sz="6000" dirty="0"/>
          </a:p>
        </p:txBody>
      </p:sp>
      <p:sp>
        <p:nvSpPr>
          <p:cNvPr id="6" name="Text 4"/>
          <p:cNvSpPr/>
          <p:nvPr/>
        </p:nvSpPr>
        <p:spPr>
          <a:xfrm>
            <a:off x="914400" y="2377440"/>
            <a:ext cx="7315200" cy="548640"/>
          </a:xfrm>
          <a:prstGeom prst="rect">
            <a:avLst/>
          </a:prstGeom>
          <a:noFill/>
          <a:ln/>
        </p:spPr>
        <p:txBody>
          <a:bodyPr wrap="square" lIns="0" tIns="0" rIns="0" bIns="0" rtlCol="0" anchor="ctr"/>
          <a:lstStyle/>
          <a:p>
            <a:pPr marL="0" indent="0" algn="ctr">
              <a:buNone/>
            </a:pPr>
            <a:r>
              <a:rPr lang="en-US" sz="2600" dirty="0">
                <a:solidFill>
                  <a:srgbClr val="FFFFFF"/>
                </a:solidFill>
                <a:latin typeface="Times New Roman" pitchFamily="34" charset="0"/>
                <a:ea typeface="Times New Roman" pitchFamily="34" charset="-122"/>
                <a:cs typeface="Times New Roman" pitchFamily="34" charset="-120"/>
              </a:rPr>
              <a:t>FOR YOUR PRESENCE</a:t>
            </a:r>
            <a:endParaRPr lang="en-US" sz="2600" dirty="0"/>
          </a:p>
        </p:txBody>
      </p:sp>
      <p:sp>
        <p:nvSpPr>
          <p:cNvPr id="7" name="Shape 5"/>
          <p:cNvSpPr/>
          <p:nvPr/>
        </p:nvSpPr>
        <p:spPr>
          <a:xfrm>
            <a:off x="1828800" y="3063240"/>
            <a:ext cx="5486400" cy="0"/>
          </a:xfrm>
          <a:prstGeom prst="line">
            <a:avLst/>
          </a:prstGeom>
          <a:noFill/>
          <a:ln w="12700">
            <a:solidFill>
              <a:srgbClr val="FFC000"/>
            </a:solidFill>
            <a:prstDash val="solid"/>
          </a:ln>
        </p:spPr>
      </p:sp>
      <p:sp>
        <p:nvSpPr>
          <p:cNvPr id="8" name="Text 6"/>
          <p:cNvSpPr/>
          <p:nvPr/>
        </p:nvSpPr>
        <p:spPr>
          <a:xfrm>
            <a:off x="914400" y="3200400"/>
            <a:ext cx="7315200" cy="640080"/>
          </a:xfrm>
          <a:prstGeom prst="rect">
            <a:avLst/>
          </a:prstGeom>
          <a:noFill/>
          <a:ln/>
        </p:spPr>
        <p:txBody>
          <a:bodyPr wrap="square" lIns="0" tIns="0" rIns="0" bIns="0" rtlCol="0" anchor="ctr"/>
          <a:lstStyle/>
          <a:p>
            <a:pPr marL="0" indent="0" algn="ctr">
              <a:buNone/>
            </a:pPr>
            <a:endParaRPr lang="en-US" sz="1600" dirty="0"/>
          </a:p>
        </p:txBody>
      </p:sp>
      <p:sp>
        <p:nvSpPr>
          <p:cNvPr id="9" name="Text 7"/>
          <p:cNvSpPr/>
          <p:nvPr/>
        </p:nvSpPr>
        <p:spPr>
          <a:xfrm>
            <a:off x="914400" y="4114800"/>
            <a:ext cx="7315200" cy="320040"/>
          </a:xfrm>
          <a:prstGeom prst="rect">
            <a:avLst/>
          </a:prstGeom>
          <a:noFill/>
          <a:ln/>
        </p:spPr>
        <p:txBody>
          <a:bodyPr wrap="square" lIns="0" tIns="0" rIns="0" bIns="0" rtlCol="0" anchor="ctr"/>
          <a:lstStyle/>
          <a:p>
            <a:pPr marL="0" indent="0" algn="ctr">
              <a:buNone/>
            </a:pPr>
            <a:endParaRPr lang="en-US" sz="1100" dirty="0"/>
          </a:p>
        </p:txBody>
      </p:sp>
      <p:sp>
        <p:nvSpPr>
          <p:cNvPr id="10" name="SlideNum"/>
          <p:cNvSpPr/>
          <p:nvPr/>
        </p:nvSpPr>
        <p:spPr>
          <a:xfrm>
            <a:off x="8500000" y="4840000"/>
            <a:ext cx="600000" cy="250000"/>
          </a:xfrm>
          <a:prstGeom prst="rect">
            <a:avLst/>
          </a:prstGeom>
          <a:noFill/>
          <a:ln/>
        </p:spPr>
        <p:txBody>
          <a:bodyPr wrap="square" lIns="0" tIns="0" rIns="0" bIns="0" rtlCol="0" anchor="ctr"/>
          <a:lstStyle/>
          <a:p>
            <a:pPr marL="0" indent="0" algn="r">
              <a:buNone/>
            </a:pPr>
            <a:r>
              <a:rPr lang="en-US" sz="1100" b="0" dirty="0">
                <a:solidFill>
                  <a:srgbClr val="FFC000"/>
                </a:solidFill>
                <a:latin typeface="Times New Roman" pitchFamily="34" charset="0"/>
              </a:rPr>
              <a:t>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50</TotalTime>
  <Words>2589</Words>
  <Application>Microsoft Office PowerPoint</Application>
  <PresentationFormat>On-screen Show (16:9)</PresentationFormat>
  <Paragraphs>363</Paragraphs>
  <Slides>20</Slides>
  <Notes>11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Arial</vt:lpstr>
      <vt:lpstr>Calibri</vt:lpstr>
      <vt:lpstr>Calibri Light</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Yaswanth Gorla</cp:lastModifiedBy>
  <cp:revision>6</cp:revision>
  <dcterms:created xsi:type="dcterms:W3CDTF">2026-05-24T02:07:45Z</dcterms:created>
  <dcterms:modified xsi:type="dcterms:W3CDTF">2026-05-26T07:06:08Z</dcterms:modified>
</cp:coreProperties>
</file>